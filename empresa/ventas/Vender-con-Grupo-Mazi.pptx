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Idea central de toda la plática: no vendes páginas, vendes clientes nuevos para el negocio del otro, y te quedas con él (mantenimiento).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tres cosas que nos distinguen. Si el cliente sólo se lleva una, que sea «se quedan conmigo después».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hay que saberse todo. Hay que saber que si un cliente pide algo de esta lista, lo hacemos. Lo técnico lo resolvemos nosotros.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Empuja la Completa: el cliente siente que se lleva más (los videos) y a nosotros nos deja mejor margen. La Esencial es la puerta de entrada.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Diez clientes en mantenimiento son de $4,500 a $6,500 al mes que llegan solos. Ningún vendedor debe cerrar una página sin mencionar el mantenimiento.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Nunca digas que alguien es cliente si no lo es. Enseña sólo lo que ya está entregado.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error más común es soltar la lista de precios completa. El cliente se confunde y pospone. Un solo paquete, el que resuelve su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Casi todas las broncas con clientes salen de algo que se prometió en la venta. Estas seis reglas evitan el 90 %.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discutas: dale la razón en lo que tenga razón y regresa a su problema. Si insiste en precio, ofrece la Esencial o pagos.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hoja de servicios y precios en PDF es la que se manda al cliente; ésta es la versión corta para que la tengas en la cabeza.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PENDIENTE DE CARLOS: el porcentaje de comisión, si hay comisión también en el mantenimiento y en qué fecha se paga. No está escrito en ningún lado; no lo inventamos.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 tarea concreta. Abre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0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E1735">
              <a:alpha val="30000"/>
            </a:srgbClr>
          </a:solidFill>
          <a:ln w="12700">
            <a:solidFill>
              <a:srgbClr val="7E1735">
                <a:alpha val="0"/>
              </a:srgbClr>
            </a:solidFill>
            <a:prstDash val="solid"/>
          </a:ln>
        </p:spPr>
      </p:sp>
      <p:pic>
        <p:nvPicPr>
          <p:cNvPr id="3" name="Image 0" descr="/tmp/claude-0/venta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731520"/>
            <a:ext cx="292608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377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2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Vender con Grupo Mazi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731520" y="36118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vendemos, a quién, cómo se cierra y qué contestar cuando te digan «está caro».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Conferencia para vendedores nuevos ·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0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QUIÉNES SOMOS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2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Entregamos rápido y nos quedamos</a:t>
            </a:r>
            <a:endParaRPr lang="en-US" sz="3400" dirty="0"/>
          </a:p>
        </p:txBody>
      </p:sp>
      <p:pic>
        <p:nvPicPr>
          <p:cNvPr id="4" name="Image 0" descr="/tmp/claude-0/venta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44200" y="6263640"/>
            <a:ext cx="914400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737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«Si no existe la herramienta, se construye la herramienta.»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274320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24133A"/>
          </a:solidFill>
          <a:ln w="12700">
            <a:solidFill>
              <a:srgbClr val="3A255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971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Rápido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página Esencial queda en 3 a 5 días. La competencia tarda semanas.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43400" y="274320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24133A"/>
          </a:solidFill>
          <a:ln w="12700">
            <a:solidFill>
              <a:srgbClr val="3A255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17720" y="2971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Barato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4617720" y="361188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nuestros precios están abajo del promedio del mercado, medido en octubre de 2026.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8138160" y="274320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24133A"/>
          </a:solidFill>
          <a:ln w="12700">
            <a:solidFill>
              <a:srgbClr val="3A255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0" y="2971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quedamos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412480" y="361188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entregar damos mantenimiento: el cliente no se queda solo con su página.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0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VENDEMOS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2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cosas, una sola empresa</a:t>
            </a:r>
            <a:endParaRPr lang="en-US" sz="3400" dirty="0"/>
          </a:p>
        </p:txBody>
      </p:sp>
      <p:pic>
        <p:nvPicPr>
          <p:cNvPr id="4" name="Image 0" descr="/tmp/claude-0/venta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44200" y="6263640"/>
            <a:ext cx="914400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2880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24133A"/>
          </a:solidFill>
          <a:ln w="12700">
            <a:solidFill>
              <a:srgbClr val="3A255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21031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Páginas web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22960" y="3017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$2,000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343400" y="182880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24133A"/>
          </a:solidFill>
          <a:ln w="12700">
            <a:solidFill>
              <a:srgbClr val="3A255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17720" y="21031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a la medida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617720" y="3017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$10,000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138160" y="182880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24133A"/>
          </a:solidFill>
          <a:ln w="12700">
            <a:solidFill>
              <a:srgbClr val="3A255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0" y="21031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y foto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412480" y="3017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$1,200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48640" y="39319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24133A"/>
          </a:solidFill>
          <a:ln w="12700">
            <a:solidFill>
              <a:srgbClr val="3A255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206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y diseño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22960" y="5120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$250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4343400" y="39319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24133A"/>
          </a:solidFill>
          <a:ln w="12700">
            <a:solidFill>
              <a:srgbClr val="3A255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17720" y="4206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y publicidad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617720" y="5120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$1,500/mes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138160" y="39319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24133A"/>
          </a:solidFill>
          <a:ln w="12700">
            <a:solidFill>
              <a:srgbClr val="3A255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12480" y="4206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Tiempos y movimientos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8412480" y="5120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$3,000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0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PÁGINAS WEB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2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más se vende: las tres páginas</a:t>
            </a:r>
            <a:endParaRPr lang="en-US" sz="3400" dirty="0"/>
          </a:p>
        </p:txBody>
      </p:sp>
      <p:pic>
        <p:nvPicPr>
          <p:cNvPr id="4" name="Image 0" descr="/tmp/claude-0/venta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44200" y="6263640"/>
            <a:ext cx="914400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8308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24133A"/>
          </a:solidFill>
          <a:ln w="12700">
            <a:solidFill>
              <a:srgbClr val="3A255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2240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Esencial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22960" y="2788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$2,000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22960" y="352044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página con lo importante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con foto y precio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llamada, mapa y horarios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5349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en 3 a 5 días · 3 meses de mantenimiento incluidos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178308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7E1735"/>
          </a:solidFill>
          <a:ln w="12700">
            <a:solidFill>
              <a:srgbClr val="3A255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17720" y="1920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QUE MÁS CONVIENE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617720" y="2240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4617720" y="2788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$6,500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4617720" y="352044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 Esencial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y citas que llegan armados por WhatsApp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regalo: 2 videos para redes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617720" y="5349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en 1 a 2 semanas · 3 meses de mantenimiento incluidos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38160" y="178308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24133A"/>
          </a:solidFill>
          <a:ln w="12700">
            <a:solidFill>
              <a:srgbClr val="3A255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12480" y="2240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 medida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8412480" y="2788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$9,000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8412480" y="352044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o interactiva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Carrito, cotizador o reservas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para que el cliente cambie precios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412480" y="5349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en se dice antes · 3 meses de mantenimiento incluidos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0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MÁS PAGA A LA LARGA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2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negocio de verdad es el mantenimiento</a:t>
            </a:r>
            <a:endParaRPr lang="en-US" sz="3400" dirty="0"/>
          </a:p>
        </p:txBody>
      </p:sp>
      <p:pic>
        <p:nvPicPr>
          <p:cNvPr id="4" name="Image 0" descr="/tmp/claude-0/venta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44200" y="6263640"/>
            <a:ext cx="914400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8288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C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$450</a:t>
            </a:r>
            <a:pPr indent="0" marL="0">
              <a:buNone/>
            </a:pPr>
            <a:r>
              <a:rPr lang="en-US" sz="2600" dirty="0">
                <a:solidFill>
                  <a:srgbClr val="B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al mes</a:t>
            </a:r>
            <a:endParaRPr lang="en-US" sz="6600" dirty="0"/>
          </a:p>
        </p:txBody>
      </p:sp>
      <p:sp>
        <p:nvSpPr>
          <p:cNvPr id="6" name="Text 3"/>
          <p:cNvSpPr/>
          <p:nvPr/>
        </p:nvSpPr>
        <p:spPr>
          <a:xfrm>
            <a:off x="548640" y="2926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Esencial: hasta 4 cambios chicos al mes, respuesta en 48 h.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309360" y="18288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C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$650</a:t>
            </a:r>
            <a:pPr indent="0" marL="0">
              <a:buNone/>
            </a:pPr>
            <a:r>
              <a:rPr lang="en-US" sz="2600" dirty="0">
                <a:solidFill>
                  <a:srgbClr val="B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al mes</a:t>
            </a:r>
            <a:endParaRPr lang="en-US" sz="6600" dirty="0"/>
          </a:p>
        </p:txBody>
      </p:sp>
      <p:sp>
        <p:nvSpPr>
          <p:cNvPr id="8" name="Text 5"/>
          <p:cNvSpPr/>
          <p:nvPr/>
        </p:nvSpPr>
        <p:spPr>
          <a:xfrm>
            <a:off x="6309360" y="2926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Plus: hasta 10 cambios, una promoción al mes y atención el mismo día.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4069080"/>
            <a:ext cx="11064240" cy="1737360"/>
          </a:xfrm>
          <a:prstGeom prst="roundRect">
            <a:avLst>
              <a:gd name="adj" fmla="val 6316"/>
            </a:avLst>
          </a:prstGeom>
          <a:solidFill>
            <a:srgbClr val="24133A"/>
          </a:solidFill>
          <a:ln w="12700">
            <a:solidFill>
              <a:srgbClr val="3A255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2062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decirlo: </a:t>
            </a:r>
            <a:pPr indent="0" marL="0">
              <a:buNone/>
            </a:pPr>
            <a:r>
              <a:rPr lang="en-US" sz="1800" dirty="0">
                <a:solidFill>
                  <a:srgbClr val="F2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«Es como un seguro: tu página siempre al día y alguien que te contesta.» Los primeros 3 meses ya van incluidos, así que el cliente no paga nada hasta que ya vio que funciona. Pagando el año completo, son 12 meses por el precio de 10.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0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2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quién venderle (y ya lo hicimos)</a:t>
            </a:r>
            <a:endParaRPr lang="en-US" sz="3400" dirty="0"/>
          </a:p>
        </p:txBody>
      </p:sp>
      <p:pic>
        <p:nvPicPr>
          <p:cNvPr id="4" name="Image 0" descr="/tmp/claude-0/venta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44200" y="6263640"/>
            <a:ext cx="914400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783080"/>
            <a:ext cx="5852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Negocios con cara al público en Querétaro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2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Restaurantes, barberías, cafeterías, tiendas de ropa, consultorios, escuelas, talleres.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2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2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señal de que te van a comprar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2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Contestan pedidos a mano por WhatsApp, tienen el menú en una foto borrosa o te dicen «sí, tengo Facebook».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2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2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puedes enseñarles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2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Smiley's (pizzería), District Roll (menú con pedido por WhatsApp) y Fadori (pedidos sin filas en una cafetería escolar).</a:t>
            </a:r>
            <a:endParaRPr lang="en-US" sz="1700" dirty="0"/>
          </a:p>
        </p:txBody>
      </p:sp>
      <p:pic>
        <p:nvPicPr>
          <p:cNvPr id="6" name="Image 1" descr="/tmp/claude-0/ventas/smiley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66560" y="1737360"/>
            <a:ext cx="1554480" cy="3364992"/>
          </a:xfrm>
          <a:prstGeom prst="rect">
            <a:avLst/>
          </a:prstGeom>
        </p:spPr>
      </p:pic>
      <p:pic>
        <p:nvPicPr>
          <p:cNvPr id="7" name="Image 2" descr="/tmp/claude-0/ventas/district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58200" y="1737360"/>
            <a:ext cx="1554480" cy="3364992"/>
          </a:xfrm>
          <a:prstGeom prst="rect">
            <a:avLst/>
          </a:prstGeom>
        </p:spPr>
      </p:pic>
      <p:pic>
        <p:nvPicPr>
          <p:cNvPr id="8" name="Image 3" descr="/tmp/claude-0/ventas/fadori-00700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149840" y="1737360"/>
            <a:ext cx="1554480" cy="3364992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766560" y="5257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Ábrelas en tu celular frente al cliente: verla funcionando vende más que cualquier explicación.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0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MÉTODO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2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cierra una venta, en cinco pasos</a:t>
            </a:r>
            <a:endParaRPr lang="en-US" sz="3400" dirty="0"/>
          </a:p>
        </p:txBody>
      </p:sp>
      <p:pic>
        <p:nvPicPr>
          <p:cNvPr id="4" name="Image 0" descr="/tmp/claude-0/venta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44200" y="6263640"/>
            <a:ext cx="914400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28800"/>
            <a:ext cx="2103120" cy="3931920"/>
          </a:xfrm>
          <a:prstGeom prst="roundRect">
            <a:avLst>
              <a:gd name="adj" fmla="val 5217"/>
            </a:avLst>
          </a:prstGeom>
          <a:solidFill>
            <a:srgbClr val="24133A"/>
          </a:solidFill>
          <a:ln w="12700">
            <a:solidFill>
              <a:srgbClr val="3A255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9659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7724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77240" y="338328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te llegan los clientes hoy? ¿Qué te quita más tiempo?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816352" y="1828800"/>
            <a:ext cx="2103120" cy="3931920"/>
          </a:xfrm>
          <a:prstGeom prst="roundRect">
            <a:avLst>
              <a:gd name="adj" fmla="val 5217"/>
            </a:avLst>
          </a:prstGeom>
          <a:solidFill>
            <a:srgbClr val="24133A"/>
          </a:solidFill>
          <a:ln w="12700">
            <a:solidFill>
              <a:srgbClr val="3A255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44952" y="19659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3044952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Enseña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044952" y="338328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un trabajo nuestro en tu celular. Que lo toquen.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84064" y="1828800"/>
            <a:ext cx="2103120" cy="3931920"/>
          </a:xfrm>
          <a:prstGeom prst="roundRect">
            <a:avLst>
              <a:gd name="adj" fmla="val 5217"/>
            </a:avLst>
          </a:prstGeom>
          <a:solidFill>
            <a:srgbClr val="24133A"/>
          </a:solidFill>
          <a:ln w="12700">
            <a:solidFill>
              <a:srgbClr val="3A255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12664" y="19659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5312664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Propón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312664" y="338328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paquete, no tres. El que resuelve lo que te dijeron.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351776" y="1828800"/>
            <a:ext cx="2103120" cy="3931920"/>
          </a:xfrm>
          <a:prstGeom prst="roundRect">
            <a:avLst>
              <a:gd name="adj" fmla="val 5217"/>
            </a:avLst>
          </a:prstGeom>
          <a:solidFill>
            <a:srgbClr val="24133A"/>
          </a:solidFill>
          <a:ln w="12700">
            <a:solidFill>
              <a:srgbClr val="3A255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80376" y="19659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19" name="Text 16"/>
          <p:cNvSpPr/>
          <p:nvPr/>
        </p:nvSpPr>
        <p:spPr>
          <a:xfrm>
            <a:off x="7580376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Cierra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580376" y="338328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50 % para empezar y 50 % al entregar. Pide su material ese día.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9619488" y="1828800"/>
            <a:ext cx="2103120" cy="3931920"/>
          </a:xfrm>
          <a:prstGeom prst="roundRect">
            <a:avLst>
              <a:gd name="adj" fmla="val 5217"/>
            </a:avLst>
          </a:prstGeom>
          <a:solidFill>
            <a:srgbClr val="24133A"/>
          </a:solidFill>
          <a:ln w="12700">
            <a:solidFill>
              <a:srgbClr val="3A255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848088" y="19659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000" dirty="0"/>
          </a:p>
        </p:txBody>
      </p:sp>
      <p:sp>
        <p:nvSpPr>
          <p:cNvPr id="23" name="Text 20"/>
          <p:cNvSpPr/>
          <p:nvPr/>
        </p:nvSpPr>
        <p:spPr>
          <a:xfrm>
            <a:off x="9848088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Acompaña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9848088" y="338328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Avísales cada avance y a los 3 meses ofrece el mantenimiento.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0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NO METERNOS EN BRONCAS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2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nunca se promete</a:t>
            </a:r>
            <a:endParaRPr lang="en-US" sz="3400" dirty="0"/>
          </a:p>
        </p:txBody>
      </p:sp>
      <p:pic>
        <p:nvPicPr>
          <p:cNvPr id="4" name="Image 0" descr="/tmp/claude-0/venta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44200" y="6263640"/>
            <a:ext cx="914400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8308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24133A"/>
          </a:solidFill>
          <a:ln w="12700">
            <a:solidFill>
              <a:srgbClr val="3A255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920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Fechas sin material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23774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fecha corre desde que el cliente nos da fotos y textos. Dilo antes.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126480" y="178308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24133A"/>
          </a:solidFill>
          <a:ln w="12700">
            <a:solidFill>
              <a:srgbClr val="3A255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1920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Cambios infinitos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0" y="23774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2 rondas de ajustes. Después, $450 la hora. Se dice ANTES de empezar.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324612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24133A"/>
          </a:solidFill>
          <a:ln w="12700">
            <a:solidFill>
              <a:srgbClr val="3A255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3832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Descuentos por tu cuenta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22960" y="38404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que mover un precio, pregúntale a Carlos primero.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126480" y="324612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24133A"/>
          </a:solidFill>
          <a:ln w="12700">
            <a:solidFill>
              <a:srgbClr val="3A255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0" y="33832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que no son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400800" y="38404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Sólo se enseña lo entregado. Presumir clientes falsos nos quema rápido.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470916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24133A"/>
          </a:solidFill>
          <a:ln w="12700">
            <a:solidFill>
              <a:srgbClr val="3A255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846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Visitas fuera de Querétaro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22960" y="53035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Sólo casos especiales, y el cliente paga los viáticos.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126480" y="470916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24133A"/>
          </a:solidFill>
          <a:ln w="12700">
            <a:solidFill>
              <a:srgbClr val="3A255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0" y="4846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Cosas que no sabes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400800" y="53035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«Lo checo con el equipo y te confirmo hoy» siempre es mejor que inventar.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0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OBJECIONES FRECUENTES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2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te digan…</a:t>
            </a:r>
            <a:endParaRPr lang="en-US" sz="3400" dirty="0"/>
          </a:p>
        </p:txBody>
      </p:sp>
      <p:pic>
        <p:nvPicPr>
          <p:cNvPr id="4" name="Image 0" descr="/tmp/claude-0/venta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44200" y="6263640"/>
            <a:ext cx="914400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3736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24133A"/>
          </a:solidFill>
          <a:ln w="12700">
            <a:solidFill>
              <a:srgbClr val="3A255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8288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«Está caro»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114800" y="18288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abajo del promedio: una página sencilla en el mercado va de $6,500 a $25,000. Y hay pagos o etapas.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633472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24133A"/>
          </a:solidFill>
          <a:ln w="12700">
            <a:solidFill>
              <a:srgbClr val="3A255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72491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«Ya tengo Facebook»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114800" y="272491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Facebook no te encuentra quien busca en Google, y no te llegan pedidos armados. Se complementan.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3529584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24133A"/>
          </a:solidFill>
          <a:ln w="12700">
            <a:solidFill>
              <a:srgbClr val="3A255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362102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«Mi sobrino me la hace»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114800" y="3621024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Perfecto si te la mantiene. Nosotros sí contestamos a los 6 meses, y la página queda a tu nombre.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4425696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24133A"/>
          </a:solidFill>
          <a:ln w="12700">
            <a:solidFill>
              <a:srgbClr val="3A255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451713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«Hay páginas gratis»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114800" y="4517136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 hasta que quieres tu dominio, quitar anuncios o que alguien te la arregle. La tuya es tuya.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5321808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24133A"/>
          </a:solidFill>
          <a:ln w="12700">
            <a:solidFill>
              <a:srgbClr val="3A255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541324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«No tengo tiempo»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114800" y="541324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Sólo necesitamos tus fotos, tus precios y 20 minutos. Lo demás lo hacemos nosotros.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0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LETRA GRANDE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2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condiciones, para que no te agarren en curva</a:t>
            </a:r>
            <a:endParaRPr lang="en-US" sz="3400" dirty="0"/>
          </a:p>
        </p:txBody>
      </p:sp>
      <p:pic>
        <p:nvPicPr>
          <p:cNvPr id="4" name="Image 0" descr="/tmp/claude-0/venta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44200" y="6263640"/>
            <a:ext cx="914400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2880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24133A"/>
          </a:solidFill>
          <a:ln w="12700">
            <a:solidFill>
              <a:srgbClr val="3A255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2960" y="26060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50 % para empezar, 50 % al entregar.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43400" y="182880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24133A"/>
          </a:solidFill>
          <a:ln w="12700">
            <a:solidFill>
              <a:srgbClr val="3A255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17720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 corto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617720" y="26060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etapas o en pagos (cada caso lo ve Carlos).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138160" y="182880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24133A"/>
          </a:solidFill>
          <a:ln w="12700">
            <a:solidFill>
              <a:srgbClr val="3A255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0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412480" y="26060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rondas incluidas; después $450 la hora.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388620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24133A"/>
          </a:solidFill>
          <a:ln w="12700">
            <a:solidFill>
              <a:srgbClr val="3A255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114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22960" y="46634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a nombre del cliente; lo paga directo.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343400" y="388620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24133A"/>
          </a:solidFill>
          <a:ln w="12700">
            <a:solidFill>
              <a:srgbClr val="3A255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17720" y="4114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4617720" y="46634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necesita, se agrega el IVA.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138160" y="388620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24133A"/>
          </a:solidFill>
          <a:ln w="12700">
            <a:solidFill>
              <a:srgbClr val="3A255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12480" y="4114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Mantenimiento extra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412480" y="46634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entra en el plan, con 15 % de descuento.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0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2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ganas tú</a:t>
            </a:r>
            <a:endParaRPr lang="en-US" sz="3400" dirty="0"/>
          </a:p>
        </p:txBody>
      </p:sp>
      <p:pic>
        <p:nvPicPr>
          <p:cNvPr id="4" name="Image 0" descr="/tmp/claude-0/venta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44200" y="6263640"/>
            <a:ext cx="914400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83080"/>
            <a:ext cx="11064240" cy="4023360"/>
          </a:xfrm>
          <a:prstGeom prst="roundRect">
            <a:avLst>
              <a:gd name="adj" fmla="val 2727"/>
            </a:avLst>
          </a:prstGeom>
          <a:solidFill>
            <a:srgbClr val="24133A"/>
          </a:solidFill>
          <a:ln w="12700">
            <a:solidFill>
              <a:srgbClr val="3A255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2011680"/>
            <a:ext cx="10332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Cobras comisión por cada proyecto que cierres.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2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porcentaje y cuándo se paga lo explica Carlos en esta plática.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2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2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comisión cuenta desde que el cliente paga el primer 50 %, no desde que dice «sí, va». Un «sí» no es una venta.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2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clientes que entran a mantenimiento siguen pagando cada mes: cuida a los tuyos.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0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venta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731520"/>
            <a:ext cx="292608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194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primera tarea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31520" y="30175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semana, platica con tres negocios de tu colonia. Pregunta cómo les llegan los clientes y enséñales un trabajo nuestro en tu celular.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31520" y="5120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</a:t>
            </a:r>
            <a:pPr indent="0" marL="0">
              <a:buNone/>
            </a:pPr>
            <a:r>
              <a:rPr lang="en-US" sz="22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442 883 3786</a:t>
            </a:r>
            <a:pPr indent="0" marL="0">
              <a:buNone/>
            </a:pPr>
            <a:r>
              <a:rPr lang="en-US" sz="2200" dirty="0">
                <a:solidFill>
                  <a:srgbClr val="B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</a:t>
            </a:r>
            <a:pPr indent="0" marL="0">
              <a:buNone/>
            </a:pPr>
            <a:r>
              <a:rPr lang="en-US" sz="22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grupomazi.oficial@gmail.com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Vender con Grupo Mazi</dc:title>
  <dc:subject>PptxGenJS Presentation</dc:subject>
  <dc:creator>PptxGenJS</dc:creator>
  <cp:lastModifiedBy>PptxGenJS</cp:lastModifiedBy>
  <cp:revision>1</cp:revision>
  <dcterms:created xsi:type="dcterms:W3CDTF">2026-10-30T07:05:34Z</dcterms:created>
  <dcterms:modified xsi:type="dcterms:W3CDTF">2026-10-30T07:05:34Z</dcterms:modified>
</cp:coreProperties>
</file>