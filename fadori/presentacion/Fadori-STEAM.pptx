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25"/>
    <p:sldId id="261" r:id="rId10"/>
    <p:sldId id="262" r:id="rId26"/>
    <p:sldId id="263" r:id="rId11"/>
    <p:sldId id="264" r:id="rId12"/>
    <p:sldId id="265" r:id="rId13"/>
    <p:sldId id="266" r:id="rId14"/>
    <p:sldId id="267" r:id="rId15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</p:sldIdLst>
  <p:sldSz cx="18288000" cy="10287000"/>
  <p:notesSz cx="6858000" cy="9144000"/>
  <p:embeddedFontLst>
    <p:embeddedFont>
      <p:font typeface="Montaser Arabic Bold" charset="1" panose="00000800000000000000"/>
      <p:regular r:id="rId16"/>
    </p:embeddedFont>
    <p:embeddedFont>
      <p:font typeface="Montaser Arabic" charset="1" panose="00000500000000000000"/>
      <p:regular r:id="rId17"/>
    </p:embeddedFont>
    <p:embeddedFont>
      <p:font typeface="Montaser Arabic Heavy" charset="1" panose="00000A00000000000000"/>
      <p:regular r:id="rId18"/>
    </p:embeddedFont>
    <p:embeddedFont>
      <p:font typeface="League Spartan" charset="1" panose="00000800000000000000"/>
      <p:regular r:id="rId19"/>
    </p:embeddedFont>
    <p:embeddedFont>
      <p:font typeface="Nourd Bold" charset="1" panose="00000800000000000000"/>
      <p:regular r:id="rId20"/>
    </p:embeddedFont>
    <p:embeddedFont>
      <p:font typeface="Open Sans" charset="1" panose="020B0606030504020204"/>
      <p:regular r:id="rId21"/>
    </p:embeddedFont>
    <p:embeddedFont>
      <p:font typeface="Open Sans Bold" charset="1" panose="020B0806030504020204"/>
      <p:regular r:id="rId22"/>
    </p:embeddedFont>
    <p:embeddedFont>
      <p:font typeface="Open Sans Bold Italics" charset="1" panose="020B0806030504020204"/>
      <p:regular r:id="rId23"/>
    </p:embeddedFont>
    <p:embeddedFont>
      <p:font typeface="Montaser Arabic Medium" charset="1" panose="000006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25" Type="http://schemas.openxmlformats.org/officeDocument/2006/relationships/slide" Target="slides/slide11.xml"/>
  <Relationship Id="rId26" Type="http://schemas.openxmlformats.org/officeDocument/2006/relationships/slide" Target="slides/slide12.xml"/>
  <Relationship Id="rId27" Type="http://schemas.openxmlformats.org/officeDocument/2006/relationships/slide" Target="slides/slide13.xml"/>
  <Relationship Id="rId28" Type="http://schemas.openxmlformats.org/officeDocument/2006/relationships/slide" Target="slides/slide14.xml"/>
  <Relationship Id="rId29" Type="http://schemas.openxmlformats.org/officeDocument/2006/relationships/slide" Target="slides/slide15.xml"/>
  <Relationship Id="rId30" Type="http://schemas.openxmlformats.org/officeDocument/2006/relationships/slide" Target="slides/slide16.xml"/>
  <Relationship Id="rId31" Type="http://schemas.openxmlformats.org/officeDocument/2006/relationships/slide" Target="slides/slide17.xml"/>
  <Relationship Id="rId32" Type="http://schemas.openxmlformats.org/officeDocument/2006/relationships/slide" Target="slides/slide18.xml"/>
  <Relationship Id="rId33" Type="http://schemas.openxmlformats.org/officeDocument/2006/relationships/slide" Target="slides/slide19.xml"/>
  <Relationship Id="rId34" Type="http://schemas.openxmlformats.org/officeDocument/2006/relationships/slide" Target="slides/slide20.xml"/>
  <Relationship Id="rId35" Type="http://schemas.openxmlformats.org/officeDocument/2006/relationships/slide" Target="slides/slide21.xml"/>
  <Relationship Id="rId36" Type="http://schemas.openxmlformats.org/officeDocument/2006/relationships/slide" Target="slides/slide22.xml"/>
  <Relationship Id="rId37" Type="http://schemas.openxmlformats.org/officeDocument/2006/relationships/slide" Target="slides/slide23.xml"/>
  <Relationship Id="rId38" Type="http://schemas.openxmlformats.org/officeDocument/2006/relationships/slide" Target="slides/slide24.xml"/>
  <Relationship Id="rId39" Type="http://schemas.openxmlformats.org/officeDocument/2006/relationships/slide" Target="slides/slide25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0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.png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2.png"/><Relationship Id="rId9" Type="http://schemas.openxmlformats.org/officeDocument/2006/relationships/image" Target="../media/image_fadori_3.png"/><Relationship Id="rId10" Type="http://schemas.openxmlformats.org/officeDocument/2006/relationships/image" Target="../media/image_fadori_4.png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5.png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6.png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7.png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8.png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9.png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0.png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1.png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2.png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3.png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4.png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5.png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6.png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7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68200" y="2992803"/>
            <a:ext cx="6019800" cy="7549658"/>
          </a:xfrm>
          <a:custGeom>
            <a:avLst/>
            <a:gdLst/>
            <a:ahLst/>
            <a:cxnLst/>
            <a:rect r="r" b="b" t="t" l="l"/>
            <a:pathLst>
              <a:path h="7549658" w="6019800">
                <a:moveTo>
                  <a:pt x="0" y="0"/>
                </a:moveTo>
                <a:lnTo>
                  <a:pt x="6019800" y="0"/>
                </a:lnTo>
                <a:lnTo>
                  <a:pt x="6019800" y="7549657"/>
                </a:lnTo>
                <a:lnTo>
                  <a:pt x="0" y="754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795" t="0" r="-187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145191" y="-1520742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0"/>
                </a:moveTo>
                <a:lnTo>
                  <a:pt x="2794159" y="5846530"/>
                </a:lnTo>
                <a:lnTo>
                  <a:pt x="2794159" y="0"/>
                </a:lnTo>
                <a:lnTo>
                  <a:pt x="0" y="0"/>
                </a:lnTo>
                <a:lnTo>
                  <a:pt x="0" y="58465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2400" y="8752742"/>
            <a:ext cx="3012034" cy="1011107"/>
          </a:xfrm>
          <a:custGeom>
            <a:avLst/>
            <a:gdLst/>
            <a:ahLst/>
            <a:cxnLst/>
            <a:rect r="r" b="b" t="t" l="l"/>
            <a:pathLst>
              <a:path h="1011107" w="3012034">
                <a:moveTo>
                  <a:pt x="0" y="0"/>
                </a:moveTo>
                <a:lnTo>
                  <a:pt x="3012034" y="0"/>
                </a:lnTo>
                <a:lnTo>
                  <a:pt x="3012034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667" t="0" r="-246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0000" y="891521"/>
            <a:ext cx="2819400" cy="1011107"/>
          </a:xfrm>
          <a:custGeom>
            <a:avLst/>
            <a:gdLst/>
            <a:ahLst/>
            <a:cxnLst/>
            <a:rect r="r" b="b" t="t" l="l"/>
            <a:pathLst>
              <a:path h="1011107" w="2819400">
                <a:moveTo>
                  <a:pt x="0" y="0"/>
                </a:moveTo>
                <a:lnTo>
                  <a:pt x="2819400" y="0"/>
                </a:lnTo>
                <a:lnTo>
                  <a:pt x="281940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9769" t="0" r="-29769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351968" y="874119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77800" y="141218"/>
            <a:ext cx="2202599" cy="1985734"/>
            <a:chOff x="0" y="0"/>
            <a:chExt cx="2936799" cy="26476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36748" cy="2647696"/>
            </a:xfrm>
            <a:custGeom>
              <a:avLst/>
              <a:gdLst/>
              <a:ahLst/>
              <a:cxnLst/>
              <a:rect r="r" b="b" t="t" l="l"/>
              <a:pathLst>
                <a:path h="2647696" w="2936748">
                  <a:moveTo>
                    <a:pt x="0" y="0"/>
                  </a:moveTo>
                  <a:lnTo>
                    <a:pt x="2936748" y="0"/>
                  </a:lnTo>
                  <a:lnTo>
                    <a:pt x="2936748" y="2647696"/>
                  </a:lnTo>
                  <a:lnTo>
                    <a:pt x="0" y="26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460" r="-1" b="-54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16152" y="4526280"/>
            <a:ext cx="14712696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</a:t>
            </a: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iclo Académico </a:t>
            </a:r>
          </a:p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- Diciembre 2026.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06240" y="7223760"/>
            <a:ext cx="109728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2908">
                <a:solidFill>
                  <a:srgbClr val="AC747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Integrantes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Renata Zoe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Brenda Natalia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Christopher Yuudai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Marco Olvera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Carlos Gutiérrez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6152" y="3310128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B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achillerato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4400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16152" y="2286000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I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nstituto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ecnológico en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rogramación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6152" y="6355080"/>
            <a:ext cx="14712696" cy="82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65"/>
              </a:lnSpc>
              <a:spcBef>
                <a:spcPct val="0"/>
              </a:spcBef>
            </a:pPr>
            <a:r>
              <a:rPr lang="en-US" b="true" sz="4500">
                <a:solidFill>
                  <a:srgbClr val="C89E9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3.1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96973" y="6042650"/>
            <a:ext cx="4791027" cy="4235282"/>
          </a:xfrm>
          <a:custGeom>
            <a:avLst/>
            <a:gdLst/>
            <a:ahLst/>
            <a:cxnLst/>
            <a:rect r="r" b="b" t="t" l="l"/>
            <a:pathLst>
              <a:path h="4235282" w="4791027">
                <a:moveTo>
                  <a:pt x="0" y="0"/>
                </a:moveTo>
                <a:lnTo>
                  <a:pt x="4791027" y="0"/>
                </a:lnTo>
                <a:lnTo>
                  <a:pt x="4791027" y="4235282"/>
                </a:lnTo>
                <a:lnTo>
                  <a:pt x="0" y="4235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71245" y="-1278503"/>
            <a:ext cx="2400300" cy="4957305"/>
          </a:xfrm>
          <a:custGeom>
            <a:avLst/>
            <a:gdLst/>
            <a:ahLst/>
            <a:cxnLst/>
            <a:rect r="r" b="b" t="t" l="l"/>
            <a:pathLst>
              <a:path h="4957305" w="2400300">
                <a:moveTo>
                  <a:pt x="0" y="4957306"/>
                </a:moveTo>
                <a:lnTo>
                  <a:pt x="2400300" y="4957306"/>
                </a:lnTo>
                <a:lnTo>
                  <a:pt x="2400300" y="0"/>
                </a:lnTo>
                <a:lnTo>
                  <a:pt x="0" y="0"/>
                </a:lnTo>
                <a:lnTo>
                  <a:pt x="0" y="49573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429" r="0" b="-42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52742"/>
            <a:ext cx="2651360" cy="1011107"/>
          </a:xfrm>
          <a:custGeom>
            <a:avLst/>
            <a:gdLst/>
            <a:ahLst/>
            <a:cxnLst/>
            <a:rect r="r" b="b" t="t" l="l"/>
            <a:pathLst>
              <a:path h="1011107" w="2651360">
                <a:moveTo>
                  <a:pt x="0" y="0"/>
                </a:moveTo>
                <a:lnTo>
                  <a:pt x="2651360" y="0"/>
                </a:lnTo>
                <a:lnTo>
                  <a:pt x="265136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4824" t="0" r="-34824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86977" y="891521"/>
            <a:ext cx="2701023" cy="1011107"/>
          </a:xfrm>
          <a:custGeom>
            <a:avLst/>
            <a:gdLst/>
            <a:ahLst/>
            <a:cxnLst/>
            <a:rect r="r" b="b" t="t" l="l"/>
            <a:pathLst>
              <a:path h="1011107" w="2701023">
                <a:moveTo>
                  <a:pt x="0" y="0"/>
                </a:moveTo>
                <a:lnTo>
                  <a:pt x="2701023" y="0"/>
                </a:lnTo>
                <a:lnTo>
                  <a:pt x="2701023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3265" t="0" r="-33265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14293" y="6406753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189067" y="198120"/>
            <a:ext cx="2397909" cy="2397909"/>
            <a:chOff x="0" y="0"/>
            <a:chExt cx="3197212" cy="31972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97225" cy="3197225"/>
            </a:xfrm>
            <a:custGeom>
              <a:avLst/>
              <a:gdLst/>
              <a:ahLst/>
              <a:cxnLst/>
              <a:rect r="r" b="b" t="t" l="l"/>
              <a:pathLst>
                <a:path h="3197225" w="3197225">
                  <a:moveTo>
                    <a:pt x="0" y="0"/>
                  </a:moveTo>
                  <a:lnTo>
                    <a:pt x="3197225" y="0"/>
                  </a:lnTo>
                  <a:lnTo>
                    <a:pt x="3197225" y="3197225"/>
                  </a:lnTo>
                  <a:lnTo>
                    <a:pt x="0" y="319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754880" y="457200"/>
            <a:ext cx="877824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6419" y="2286000"/>
            <a:ext cx="16499720" cy="7230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 </a:t>
            </a:r>
          </a:p>
          <a:p>
            <a:pPr algn="ctr">
              <a:lnSpc>
                <a:spcPts val="5694"/>
              </a:lnSpc>
              <a:spcBef>
                <a:spcPct val="0"/>
              </a:spcBef>
            </a:pPr>
          </a:p>
          <a:p>
            <a:pPr algn="l">
              <a:lnSpc>
                <a:spcPts val="10710"/>
              </a:lnSpc>
            </a:pPr>
            <a:r>
              <a:rPr lang="en-US" b="true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</a:t>
            </a:r>
            <a:r>
              <a:rPr lang="en-US" sz="11900" spc="-1059">
                <a:solidFill>
                  <a:srgbClr val="07416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10710"/>
              </a:lnSpc>
            </a:pP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               </a:t>
            </a:r>
            <a:r>
              <a:rPr lang="en-US" sz="11900" spc="-1059">
                <a:solidFill>
                  <a:srgbClr val="FF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sz="11900" spc="-1059">
                <a:solidFill>
                  <a:srgbClr val="82007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Filas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– Diciembre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07206" y="6197203"/>
            <a:ext cx="12985280" cy="215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fila.</a:t>
            </a: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Comer con calma.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7112918"/>
            <a:ext cx="3341942" cy="3174082"/>
          </a:xfrm>
          <a:custGeom>
            <a:avLst/>
            <a:gdLst/>
            <a:ahLst/>
            <a:cxnLst/>
            <a:rect r="r" b="b" t="t" l="l"/>
            <a:pathLst>
              <a:path h="3174082" w="3341942">
                <a:moveTo>
                  <a:pt x="3341942" y="0"/>
                </a:moveTo>
                <a:lnTo>
                  <a:pt x="0" y="0"/>
                </a:lnTo>
                <a:lnTo>
                  <a:pt x="0" y="3174082"/>
                </a:lnTo>
                <a:lnTo>
                  <a:pt x="3341942" y="3174082"/>
                </a:lnTo>
                <a:lnTo>
                  <a:pt x="3341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5092" r="0" b="-15092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93188" y="70723"/>
            <a:ext cx="3012948" cy="4138574"/>
          </a:xfrm>
          <a:custGeom>
            <a:avLst/>
            <a:gdLst/>
            <a:ahLst/>
            <a:cxnLst/>
            <a:rect r="r" b="b" t="t" l="l"/>
            <a:pathLst>
              <a:path h="4138574" w="3012948">
                <a:moveTo>
                  <a:pt x="3012948" y="0"/>
                </a:moveTo>
                <a:lnTo>
                  <a:pt x="0" y="0"/>
                </a:lnTo>
                <a:lnTo>
                  <a:pt x="0" y="4138575"/>
                </a:lnTo>
                <a:lnTo>
                  <a:pt x="3012948" y="4138575"/>
                </a:lnTo>
                <a:lnTo>
                  <a:pt x="3012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732" t="0" r="-11733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4766541" y="9233087"/>
            <a:ext cx="3539604" cy="1011107"/>
          </a:xfrm>
          <a:custGeom>
            <a:avLst/>
            <a:gdLst/>
            <a:ahLst/>
            <a:cxnLst/>
            <a:rect r="r" b="b" t="t" l="l"/>
            <a:pathLst>
              <a:path h="1011107" w="3539604">
                <a:moveTo>
                  <a:pt x="0" y="0"/>
                </a:moveTo>
                <a:lnTo>
                  <a:pt x="3539604" y="0"/>
                </a:lnTo>
                <a:lnTo>
                  <a:pt x="3539604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538" t="0" r="-13538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5428" y="383524"/>
            <a:ext cx="2087451" cy="2087451"/>
            <a:chOff x="0" y="0"/>
            <a:chExt cx="2783268" cy="27832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83205" cy="2783205"/>
            </a:xfrm>
            <a:custGeom>
              <a:avLst/>
              <a:gdLst/>
              <a:ahLst/>
              <a:cxnLst/>
              <a:rect r="r" b="b" t="t" l="l"/>
              <a:pathLst>
                <a:path h="2783205" w="2783205">
                  <a:moveTo>
                    <a:pt x="0" y="0"/>
                  </a:moveTo>
                  <a:lnTo>
                    <a:pt x="2783205" y="0"/>
                  </a:lnTo>
                  <a:lnTo>
                    <a:pt x="2783205" y="2783205"/>
                  </a:lnTo>
                  <a:lnTo>
                    <a:pt x="0" y="278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2" b="-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115535" y="2716797"/>
            <a:ext cx="893169" cy="645319"/>
          </a:xfrm>
          <a:custGeom>
            <a:avLst/>
            <a:gdLst/>
            <a:ahLst/>
            <a:cxnLst/>
            <a:rect r="r" b="b" t="t" l="l"/>
            <a:pathLst>
              <a:path h="645319" w="893169">
                <a:moveTo>
                  <a:pt x="0" y="0"/>
                </a:moveTo>
                <a:lnTo>
                  <a:pt x="893168" y="0"/>
                </a:lnTo>
                <a:lnTo>
                  <a:pt x="893168" y="645318"/>
                </a:lnTo>
                <a:lnTo>
                  <a:pt x="0" y="645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89331" y="2762031"/>
            <a:ext cx="425965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8"/>
              </a:lnSpc>
            </a:pPr>
            <a:r>
              <a:rPr lang="en-US" sz="3999" b="true">
                <a:solidFill>
                  <a:srgbClr val="055C9D"/>
                </a:solidFill>
                <a:latin typeface="Nourd Bold"/>
                <a:ea typeface="Nourd Bold"/>
                <a:cs typeface="Nourd Bold"/>
                <a:sym typeface="Nourd Bold"/>
              </a:rPr>
              <a:t>Contenido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99337" y="1123950"/>
            <a:ext cx="9167108" cy="68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6"/>
              </a:lnSpc>
            </a:pP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B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achillerato</a:t>
            </a: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 R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embrandt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30530" y="3362106"/>
            <a:ext cx="772001" cy="772001"/>
            <a:chOff x="0" y="0"/>
            <a:chExt cx="1029335" cy="10293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643926" y="330405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2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30530" y="5110925"/>
            <a:ext cx="772001" cy="772001"/>
            <a:chOff x="0" y="0"/>
            <a:chExt cx="1029335" cy="10293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43926" y="505287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4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30530" y="4234148"/>
            <a:ext cx="772001" cy="772001"/>
            <a:chOff x="0" y="0"/>
            <a:chExt cx="1029335" cy="10293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643926" y="4176093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9219" y="2528687"/>
            <a:ext cx="772001" cy="772001"/>
            <a:chOff x="0" y="0"/>
            <a:chExt cx="1029335" cy="10293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92614" y="252056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30530" y="5987691"/>
            <a:ext cx="772001" cy="772001"/>
            <a:chOff x="0" y="0"/>
            <a:chExt cx="1029335" cy="102933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643926" y="594960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530530" y="7741244"/>
            <a:ext cx="772001" cy="772001"/>
            <a:chOff x="0" y="0"/>
            <a:chExt cx="1029335" cy="102933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30530" y="6864467"/>
            <a:ext cx="772001" cy="772001"/>
            <a:chOff x="0" y="0"/>
            <a:chExt cx="1029335" cy="10293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43926" y="679222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643926" y="7760294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7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530530" y="8665635"/>
            <a:ext cx="772001" cy="772001"/>
            <a:chOff x="0" y="0"/>
            <a:chExt cx="1029335" cy="102933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6643926" y="8637070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8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7264" y="245973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Portada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27264" y="344728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Proyecto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27264" y="432511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Problema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7264" y="519379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Descripción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827264" y="606247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Objetivo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7264" y="694029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Misión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827264" y="7808975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Visión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827264" y="879652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Propósitos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369913" y="3430662"/>
            <a:ext cx="772001" cy="772001"/>
            <a:chOff x="0" y="0"/>
            <a:chExt cx="1029335" cy="10293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0483308" y="3429305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10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608639" y="3518170"/>
            <a:ext cx="361921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Lo nuevo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369913" y="2577998"/>
            <a:ext cx="772001" cy="772001"/>
            <a:chOff x="0" y="0"/>
            <a:chExt cx="1029335" cy="102933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483308" y="259614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9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608639" y="2621547"/>
            <a:ext cx="30925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Enfoque · STEAM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0" y="523142"/>
            <a:ext cx="4155310" cy="1011107"/>
          </a:xfrm>
          <a:custGeom>
            <a:avLst/>
            <a:gdLst/>
            <a:ahLst/>
            <a:cxnLst/>
            <a:rect r="r" b="b" t="t" l="l"/>
            <a:pathLst>
              <a:path h="1011107" w="4155310">
                <a:moveTo>
                  <a:pt x="0" y="0"/>
                </a:moveTo>
                <a:lnTo>
                  <a:pt x="4155310" y="0"/>
                </a:lnTo>
                <a:lnTo>
                  <a:pt x="415531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123" t="0" r="-412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604970" y="729820"/>
            <a:ext cx="8683030" cy="3086100"/>
            <a:chOff x="0" y="0"/>
            <a:chExt cx="2286889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86889" cy="812800"/>
            </a:xfrm>
            <a:custGeom>
              <a:avLst/>
              <a:gdLst/>
              <a:ahLst/>
              <a:cxnLst/>
              <a:rect r="r" b="b" t="t" l="l"/>
              <a:pathLst>
                <a:path h="812800" w="2286889">
                  <a:moveTo>
                    <a:pt x="45472" y="0"/>
                  </a:moveTo>
                  <a:lnTo>
                    <a:pt x="2241416" y="0"/>
                  </a:lnTo>
                  <a:cubicBezTo>
                    <a:pt x="2266530" y="0"/>
                    <a:pt x="2286889" y="20359"/>
                    <a:pt x="2286889" y="45472"/>
                  </a:cubicBezTo>
                  <a:lnTo>
                    <a:pt x="2286889" y="767328"/>
                  </a:lnTo>
                  <a:cubicBezTo>
                    <a:pt x="2286889" y="792441"/>
                    <a:pt x="2266530" y="812800"/>
                    <a:pt x="2241416" y="812800"/>
                  </a:cubicBezTo>
                  <a:lnTo>
                    <a:pt x="45472" y="812800"/>
                  </a:lnTo>
                  <a:cubicBezTo>
                    <a:pt x="20359" y="812800"/>
                    <a:pt x="0" y="792441"/>
                    <a:pt x="0" y="767328"/>
                  </a:cubicBezTo>
                  <a:lnTo>
                    <a:pt x="0" y="45472"/>
                  </a:lnTo>
                  <a:cubicBezTo>
                    <a:pt x="0" y="20359"/>
                    <a:pt x="20359" y="0"/>
                    <a:pt x="45472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2286889" cy="793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3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604970" y="866775"/>
            <a:ext cx="8683030" cy="2679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⏰ Tiempo perdido</a:t>
            </a:r>
          </a:p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1417320"/>
            <a:ext cx="4754880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7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37360" y="237744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está pasando?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37360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88"/>
              </a:lnSpc>
              <a:spcBef>
                <a:spcPct val="0"/>
              </a:spcBef>
            </a:pP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⏳ Fi</a:t>
            </a: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las enormes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37360" y="6583680"/>
            <a:ext cx="73152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H</a:t>
            </a: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asta 20 minutos formado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54312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📋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Pedidos manuales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30679" y="5901401"/>
            <a:ext cx="5562366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411200" y="6436945"/>
            <a:ext cx="4876800" cy="4000500"/>
          </a:xfrm>
          <a:custGeom>
            <a:avLst/>
            <a:gdLst/>
            <a:ahLst/>
            <a:cxnLst/>
            <a:rect r="r" b="b" t="t" l="l"/>
            <a:pathLst>
              <a:path h="4000500" w="4876800">
                <a:moveTo>
                  <a:pt x="0" y="0"/>
                </a:moveTo>
                <a:lnTo>
                  <a:pt x="4876800" y="0"/>
                </a:lnTo>
                <a:lnTo>
                  <a:pt x="4876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595" r="0" b="-5595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760634" y="9275893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4" y="139255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88"/>
            <a:ext cx="2280771" cy="5218147"/>
          </a:xfrm>
          <a:custGeom>
            <a:avLst/>
            <a:gdLst/>
            <a:ahLst/>
            <a:cxnLst/>
            <a:rect r="r" b="b" t="t" l="l"/>
            <a:pathLst>
              <a:path h="5218147" w="2280771">
                <a:moveTo>
                  <a:pt x="0" y="0"/>
                </a:moveTo>
                <a:lnTo>
                  <a:pt x="2280771" y="0"/>
                </a:lnTo>
                <a:lnTo>
                  <a:pt x="2280771" y="5218147"/>
                </a:lnTo>
                <a:lnTo>
                  <a:pt x="0" y="5218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9" t="0" r="-9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7302075"/>
            <a:ext cx="3564093" cy="2984925"/>
          </a:xfrm>
          <a:custGeom>
            <a:avLst/>
            <a:gdLst/>
            <a:ahLst/>
            <a:cxnLst/>
            <a:rect r="r" b="b" t="t" l="l"/>
            <a:pathLst>
              <a:path h="2984925" w="3564093">
                <a:moveTo>
                  <a:pt x="0" y="2984925"/>
                </a:moveTo>
                <a:lnTo>
                  <a:pt x="3564093" y="2984925"/>
                </a:lnTo>
                <a:lnTo>
                  <a:pt x="3564093" y="0"/>
                </a:lnTo>
                <a:lnTo>
                  <a:pt x="0" y="0"/>
                </a:lnTo>
                <a:lnTo>
                  <a:pt x="0" y="298492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" t="0" r="-1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66160" y="2651760"/>
            <a:ext cx="111556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7"/>
              </a:lnSpc>
            </a:pPr>
          </a:p>
          <a:p>
            <a:pPr algn="ctr">
              <a:lnSpc>
                <a:spcPts val="3547"/>
              </a:lnSpc>
            </a:pPr>
            <a:r>
              <a:rPr lang="en-US" sz="3315" spc="-4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Descripción</a:t>
            </a:r>
          </a:p>
          <a:p>
            <a:pPr algn="ctr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hacer fila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Cocina eficiente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Entrega rápida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41972" y="968935"/>
            <a:ext cx="13418236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¿Para qué sirve Fadori?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50592" y="3291840"/>
            <a:ext cx="1335024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 queremos lograr?</a:t>
            </a: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Digitalizar los pedidos y bajar la espera 60%.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14800" y="585216"/>
            <a:ext cx="10058400" cy="232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Objetivo</a:t>
            </a:r>
          </a:p>
          <a:p>
            <a:pPr algn="ctr">
              <a:lnSpc>
                <a:spcPts val="5459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Justificación</a:t>
            </a: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37360" y="3108960"/>
            <a:ext cx="13057632" cy="457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los pedidos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Reducir las filas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la supervisión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Misión STEAM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Visión STEAM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3291840"/>
            <a:ext cx="14164056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Que ninguna cafetería escolar vuelva a necesitar filas.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676776" y="1086040"/>
            <a:ext cx="3679681" cy="821792"/>
          </a:xfrm>
          <a:custGeom>
            <a:avLst/>
            <a:gdLst/>
            <a:ahLst/>
            <a:cxnLst/>
            <a:rect r="r" b="b" t="t" l="l"/>
            <a:pathLst>
              <a:path h="821792" w="3679681">
                <a:moveTo>
                  <a:pt x="0" y="0"/>
                </a:moveTo>
                <a:lnTo>
                  <a:pt x="3679681" y="0"/>
                </a:lnTo>
                <a:lnTo>
                  <a:pt x="3679681" y="821792"/>
                </a:lnTo>
                <a:lnTo>
                  <a:pt x="0" y="8217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3152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Propósito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91840" y="8046720"/>
            <a:ext cx="1188720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Menos espera, más eficiencia, mejor experiencia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120640" y="489204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🎯 Pedidos automatizados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76782" y="5662925"/>
            <a:ext cx="689411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5120640" y="630936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📱 Web y móvil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0640" y="347472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✨ Solución digital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15184" y="3840480"/>
            <a:ext cx="1280160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Menos tiempo de espera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Bajar la fila a la mitad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40480" y="914400"/>
            <a:ext cx="11338560" cy="2203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Esperado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Propósito específico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¿Qué es Fadori?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que ordena la cafetería sin filas.</a:t>
            </a:r>
          </a:p>
        </p:txBody>
      </p:sp>
      <p:pic>
        <p:nvPicPr>
          <p:cNvPr id="901" name="Fadori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52749" y="3154680"/>
            <a:ext cx="3943620" cy="64008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¿Cómo funciona?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2286000"/>
            <a:ext cx="14164056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Dejas tu pedido, recibes turno, vas cuando esté listo.</a:t>
            </a:r>
          </a:p>
        </p:txBody>
      </p:sp>
      <p:pic>
        <p:nvPicPr>
          <p:cNvPr id="902" name="Fadori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4560" y="4590991"/>
            <a:ext cx="3108960" cy="5046081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3" name="Fadori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7403" y="4480560"/>
            <a:ext cx="3761673" cy="439826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4" name="Fadori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04320" y="448056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Enfoque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Cuantitativo y deductivo: medimos tiempos y comprobamos la hipótesis.</a:t>
            </a:r>
          </a:p>
        </p:txBody>
      </p:sp>
      <p:pic>
        <p:nvPicPr>
          <p:cNvPr id="905" name="Fadori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041858"/>
            <a:ext cx="7315200" cy="371204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· Ciencia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Medimos la fila antes y después.</a:t>
            </a:r>
          </a:p>
        </p:txBody>
      </p:sp>
      <p:pic>
        <p:nvPicPr>
          <p:cNvPr id="906" name="Fadori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3471" y="4023360"/>
            <a:ext cx="7313537" cy="37947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 · Tecnología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web, servidor propio, funciona sin internet.</a:t>
            </a:r>
          </a:p>
        </p:txBody>
      </p:sp>
      <p:pic>
        <p:nvPicPr>
          <p:cNvPr id="907" name="Fadori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44350" y="3291840"/>
            <a:ext cx="4457700" cy="521208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 · Ingeniería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 fila se ordena sola, con tope justo.</a:t>
            </a:r>
          </a:p>
        </p:txBody>
      </p:sp>
      <p:pic>
        <p:nvPicPr>
          <p:cNvPr id="908" name="Fadori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40795" y="4114800"/>
            <a:ext cx="4018889" cy="3182112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· Arte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Identidad propia: logo, color y tipografía.</a:t>
            </a:r>
          </a:p>
        </p:txBody>
      </p:sp>
      <p:pic>
        <p:nvPicPr>
          <p:cNvPr id="909" name="Fadori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6002" y="3291840"/>
            <a:ext cx="5108634" cy="50292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 · Matemáticas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Turnos, promedios y porcentajes calculados solos.</a:t>
            </a:r>
          </a:p>
        </p:txBody>
      </p:sp>
      <p:pic>
        <p:nvPicPr>
          <p:cNvPr id="910" name="Fadori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221181"/>
            <a:ext cx="7315200" cy="2713317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Cuenta con credencial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Cada alumno entra con su correo y su credencial escolar.</a:t>
            </a:r>
          </a:p>
        </p:txBody>
      </p:sp>
      <p:pic>
        <p:nvPicPr>
          <p:cNvPr id="911" name="Fadori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91986" y="3108960"/>
            <a:ext cx="4979546" cy="60350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Pantalla del recreo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Turnos en grande, voz que te llama y anuncios de la escuela.</a:t>
            </a:r>
          </a:p>
        </p:txBody>
      </p:sp>
      <p:pic>
        <p:nvPicPr>
          <p:cNvPr id="912" name="Fadori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3386709"/>
            <a:ext cx="7498079" cy="421767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Modo tablet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Quien no trae celular pide tocando la pantalla.</a:t>
            </a:r>
          </a:p>
        </p:txBody>
      </p:sp>
      <p:pic>
        <p:nvPicPr>
          <p:cNvPr id="913" name="Fadori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3386709"/>
            <a:ext cx="7498079" cy="421767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Cobro rápido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Calculadora grande: los billetes se suman con un toque.</a:t>
            </a:r>
          </a:p>
        </p:txBody>
      </p:sp>
      <p:pic>
        <p:nvPicPr>
          <p:cNvPr id="914" name="Fadori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1610" y="3017520"/>
            <a:ext cx="4903019" cy="621792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Fiados en orden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Cada deuda queda apuntada, aunque cobren dos mostradores.</a:t>
            </a:r>
          </a:p>
        </p:txBody>
      </p:sp>
      <p:pic>
        <p:nvPicPr>
          <p:cNvPr id="915" name="Fadori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104767"/>
            <a:ext cx="7498079" cy="2397505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de cuenta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Los papás reciben qué se compró, qué se pagó y cuánto falta.</a:t>
            </a:r>
          </a:p>
        </p:txBody>
      </p:sp>
      <p:pic>
        <p:nvPicPr>
          <p:cNvPr id="916" name="Fadori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3058668"/>
            <a:ext cx="6035040" cy="613562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Publicada y en uso: alumno, mostrador, pantalla, tablet y medidor.</a:t>
            </a:r>
          </a:p>
        </p:txBody>
      </p:sp>
      <p:pic>
        <p:nvPicPr>
          <p:cNvPr id="917" name="Fadori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3386709"/>
            <a:ext cx="7498079" cy="421767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DAHSLYJ7KzI</dc:identifier>
  <dcterms:modified xsi:type="dcterms:W3CDTF">2011-08-01T06:04:30Z</dcterms:modified>
  <cp:revision>1</cp:revision>
  <dc:title>Formato_Presentaciones Ago-Dic2025.pptx</dc:title>
</cp:coreProperties>
</file>