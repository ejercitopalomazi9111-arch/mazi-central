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Montaser Arabic Bold" charset="1" panose="00000800000000000000"/>
      <p:regular r:id="rId16"/>
    </p:embeddedFont>
    <p:embeddedFont>
      <p:font typeface="Montaser Arabic" charset="1" panose="00000500000000000000"/>
      <p:regular r:id="rId17"/>
    </p:embeddedFont>
    <p:embeddedFont>
      <p:font typeface="Montaser Arabic Heavy" charset="1" panose="00000A00000000000000"/>
      <p:regular r:id="rId18"/>
    </p:embeddedFont>
    <p:embeddedFont>
      <p:font typeface="League Spartan" charset="1" panose="00000800000000000000"/>
      <p:regular r:id="rId19"/>
    </p:embeddedFont>
    <p:embeddedFont>
      <p:font typeface="Nourd Bold" charset="1" panose="00000800000000000000"/>
      <p:regular r:id="rId20"/>
    </p:embeddedFont>
    <p:embeddedFont>
      <p:font typeface="Open Sans" charset="1" panose="020B0606030504020204"/>
      <p:regular r:id="rId21"/>
    </p:embeddedFont>
    <p:embeddedFont>
      <p:font typeface="Open Sans Bold" charset="1" panose="020B0806030504020204"/>
      <p:regular r:id="rId22"/>
    </p:embeddedFont>
    <p:embeddedFont>
      <p:font typeface="Open Sans Bold Italics" charset="1" panose="020B0806030504020204"/>
      <p:regular r:id="rId23"/>
    </p:embeddedFont>
    <p:embeddedFont>
      <p:font typeface="Montaser Arabic Medium" charset="1" panose="000006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svg" Type="http://schemas.openxmlformats.org/officeDocument/2006/relationships/image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10.png" Type="http://schemas.openxmlformats.org/officeDocument/2006/relationships/image"/><Relationship Id="rId9" Target="../media/image1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sv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svg" Type="http://schemas.openxmlformats.org/officeDocument/2006/relationships/image"/><Relationship Id="rId4" Target="../media/image31.png" Type="http://schemas.openxmlformats.org/officeDocument/2006/relationships/image"/><Relationship Id="rId5" Target="../media/image32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svg" Type="http://schemas.openxmlformats.org/officeDocument/2006/relationships/image"/><Relationship Id="rId4" Target="../media/image31.png" Type="http://schemas.openxmlformats.org/officeDocument/2006/relationships/image"/><Relationship Id="rId5" Target="../media/image32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svg" Type="http://schemas.openxmlformats.org/officeDocument/2006/relationships/image"/><Relationship Id="rId4" Target="../media/image31.png" Type="http://schemas.openxmlformats.org/officeDocument/2006/relationships/image"/><Relationship Id="rId5" Target="../media/image32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svg" Type="http://schemas.openxmlformats.org/officeDocument/2006/relationships/image"/><Relationship Id="rId4" Target="../media/image31.png" Type="http://schemas.openxmlformats.org/officeDocument/2006/relationships/image"/><Relationship Id="rId5" Target="../media/image32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svg" Type="http://schemas.openxmlformats.org/officeDocument/2006/relationships/image"/><Relationship Id="rId4" Target="../media/image31.png" Type="http://schemas.openxmlformats.org/officeDocument/2006/relationships/image"/><Relationship Id="rId5" Target="../media/image32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268200" y="2992803"/>
            <a:ext cx="6019800" cy="7549658"/>
          </a:xfrm>
          <a:custGeom>
            <a:avLst/>
            <a:gdLst/>
            <a:ahLst/>
            <a:cxnLst/>
            <a:rect r="r" b="b" t="t" l="l"/>
            <a:pathLst>
              <a:path h="7549658" w="6019800">
                <a:moveTo>
                  <a:pt x="0" y="0"/>
                </a:moveTo>
                <a:lnTo>
                  <a:pt x="6019800" y="0"/>
                </a:lnTo>
                <a:lnTo>
                  <a:pt x="6019800" y="7549657"/>
                </a:lnTo>
                <a:lnTo>
                  <a:pt x="0" y="75496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8795" t="0" r="-18795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5400000">
            <a:off x="1145191" y="-1520742"/>
            <a:ext cx="2794159" cy="5846531"/>
          </a:xfrm>
          <a:custGeom>
            <a:avLst/>
            <a:gdLst/>
            <a:ahLst/>
            <a:cxnLst/>
            <a:rect r="r" b="b" t="t" l="l"/>
            <a:pathLst>
              <a:path h="5846531" w="2794159">
                <a:moveTo>
                  <a:pt x="0" y="5846530"/>
                </a:moveTo>
                <a:lnTo>
                  <a:pt x="2794159" y="5846530"/>
                </a:lnTo>
                <a:lnTo>
                  <a:pt x="2794159" y="0"/>
                </a:lnTo>
                <a:lnTo>
                  <a:pt x="0" y="0"/>
                </a:lnTo>
                <a:lnTo>
                  <a:pt x="0" y="584653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95" t="0" r="-95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2400" y="8752742"/>
            <a:ext cx="3012034" cy="1011107"/>
          </a:xfrm>
          <a:custGeom>
            <a:avLst/>
            <a:gdLst/>
            <a:ahLst/>
            <a:cxnLst/>
            <a:rect r="r" b="b" t="t" l="l"/>
            <a:pathLst>
              <a:path h="1011107" w="3012034">
                <a:moveTo>
                  <a:pt x="0" y="0"/>
                </a:moveTo>
                <a:lnTo>
                  <a:pt x="3012034" y="0"/>
                </a:lnTo>
                <a:lnTo>
                  <a:pt x="3012034" y="1011107"/>
                </a:lnTo>
                <a:lnTo>
                  <a:pt x="0" y="10111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24667" t="0" r="-24667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240000" y="891521"/>
            <a:ext cx="2819400" cy="1011107"/>
          </a:xfrm>
          <a:custGeom>
            <a:avLst/>
            <a:gdLst/>
            <a:ahLst/>
            <a:cxnLst/>
            <a:rect r="r" b="b" t="t" l="l"/>
            <a:pathLst>
              <a:path h="1011107" w="2819400">
                <a:moveTo>
                  <a:pt x="0" y="0"/>
                </a:moveTo>
                <a:lnTo>
                  <a:pt x="2819400" y="0"/>
                </a:lnTo>
                <a:lnTo>
                  <a:pt x="2819400" y="1011107"/>
                </a:lnTo>
                <a:lnTo>
                  <a:pt x="0" y="101110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29769" t="0" r="-29769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351968" y="874119"/>
            <a:ext cx="2074640" cy="2074640"/>
            <a:chOff x="0" y="0"/>
            <a:chExt cx="2766187" cy="276618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66187" cy="2766187"/>
            </a:xfrm>
            <a:custGeom>
              <a:avLst/>
              <a:gdLst/>
              <a:ahLst/>
              <a:cxnLst/>
              <a:rect r="r" b="b" t="t" l="l"/>
              <a:pathLst>
                <a:path h="2766187" w="2766187">
                  <a:moveTo>
                    <a:pt x="0" y="0"/>
                  </a:moveTo>
                  <a:lnTo>
                    <a:pt x="2766187" y="0"/>
                  </a:lnTo>
                  <a:lnTo>
                    <a:pt x="2766187" y="2766187"/>
                  </a:lnTo>
                  <a:lnTo>
                    <a:pt x="0" y="27661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877800" y="141218"/>
            <a:ext cx="2202599" cy="1985734"/>
            <a:chOff x="0" y="0"/>
            <a:chExt cx="2936799" cy="264764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936748" cy="2647696"/>
            </a:xfrm>
            <a:custGeom>
              <a:avLst/>
              <a:gdLst/>
              <a:ahLst/>
              <a:cxnLst/>
              <a:rect r="r" b="b" t="t" l="l"/>
              <a:pathLst>
                <a:path h="2647696" w="2936748">
                  <a:moveTo>
                    <a:pt x="0" y="0"/>
                  </a:moveTo>
                  <a:lnTo>
                    <a:pt x="2936748" y="0"/>
                  </a:lnTo>
                  <a:lnTo>
                    <a:pt x="2936748" y="2647696"/>
                  </a:lnTo>
                  <a:lnTo>
                    <a:pt x="0" y="26476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5460" r="-1" b="-5458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3768300" y="5528567"/>
            <a:ext cx="10210800" cy="1407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11"/>
              </a:lnSpc>
            </a:pPr>
            <a:r>
              <a:rPr lang="en-US" sz="5010" b="true">
                <a:solidFill>
                  <a:srgbClr val="AD0F0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</a:t>
            </a:r>
            <a:r>
              <a:rPr lang="en-US" sz="5010" b="true">
                <a:solidFill>
                  <a:srgbClr val="00306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iclo Académico </a:t>
            </a:r>
          </a:p>
          <a:p>
            <a:pPr algn="ctr">
              <a:lnSpc>
                <a:spcPts val="5511"/>
              </a:lnSpc>
            </a:pPr>
            <a:r>
              <a:rPr lang="en-US" sz="5010" b="true">
                <a:solidFill>
                  <a:srgbClr val="00306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Agosto  - Diciembre 2025.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768300" y="8127553"/>
            <a:ext cx="2811214" cy="1918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9"/>
              </a:lnSpc>
            </a:pPr>
            <a:r>
              <a:rPr lang="en-US" sz="2908">
                <a:solidFill>
                  <a:srgbClr val="AC7474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Integrantes</a:t>
            </a:r>
          </a:p>
          <a:p>
            <a:pPr algn="l">
              <a:lnSpc>
                <a:spcPts val="2438"/>
              </a:lnSpc>
            </a:pPr>
            <a:r>
              <a:rPr lang="en-US" b="true" sz="2216" u="sng">
                <a:solidFill>
                  <a:srgbClr val="AC7474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Renata Zoe</a:t>
            </a:r>
          </a:p>
          <a:p>
            <a:pPr algn="l">
              <a:lnSpc>
                <a:spcPts val="2438"/>
              </a:lnSpc>
            </a:pPr>
            <a:r>
              <a:rPr lang="en-US" b="true" sz="2216" u="sng">
                <a:solidFill>
                  <a:srgbClr val="AC7474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Brenda Natalia</a:t>
            </a:r>
          </a:p>
          <a:p>
            <a:pPr algn="l">
              <a:lnSpc>
                <a:spcPts val="2438"/>
              </a:lnSpc>
            </a:pPr>
            <a:r>
              <a:rPr lang="en-US" b="true" sz="2216" u="sng">
                <a:solidFill>
                  <a:srgbClr val="AC7474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Christopher Yuudai</a:t>
            </a:r>
          </a:p>
          <a:p>
            <a:pPr algn="l">
              <a:lnSpc>
                <a:spcPts val="2438"/>
              </a:lnSpc>
            </a:pPr>
            <a:r>
              <a:rPr lang="en-US" b="true" sz="2216" u="sng">
                <a:solidFill>
                  <a:srgbClr val="AC7474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Marco Olvera</a:t>
            </a:r>
          </a:p>
          <a:p>
            <a:pPr algn="l">
              <a:lnSpc>
                <a:spcPts val="2438"/>
              </a:lnSpc>
            </a:pPr>
            <a:r>
              <a:rPr lang="en-US" b="true" sz="2216" u="sng">
                <a:solidFill>
                  <a:srgbClr val="AC7474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Carlos Gutierrez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215265" y="3785128"/>
            <a:ext cx="9050685" cy="815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6"/>
              </a:lnSpc>
            </a:pPr>
            <a:r>
              <a:rPr lang="en-US" sz="5678" b="true">
                <a:solidFill>
                  <a:srgbClr val="AD0F0F"/>
                </a:solidFill>
                <a:latin typeface="Montaser Arabic Heavy"/>
                <a:ea typeface="Montaser Arabic Heavy"/>
                <a:cs typeface="Montaser Arabic Heavy"/>
                <a:sym typeface="Montaser Arabic Heavy"/>
              </a:rPr>
              <a:t>B</a:t>
            </a:r>
            <a:r>
              <a:rPr lang="en-US" sz="5678" b="true">
                <a:solidFill>
                  <a:srgbClr val="07416B"/>
                </a:solidFill>
                <a:latin typeface="Montaser Arabic Heavy"/>
                <a:ea typeface="Montaser Arabic Heavy"/>
                <a:cs typeface="Montaser Arabic Heavy"/>
                <a:sym typeface="Montaser Arabic Heavy"/>
              </a:rPr>
              <a:t>achillerato</a:t>
            </a:r>
            <a:r>
              <a:rPr lang="en-US" sz="5678" b="true">
                <a:solidFill>
                  <a:srgbClr val="AD0F0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R</a:t>
            </a:r>
            <a:r>
              <a:rPr lang="en-US" sz="5678" b="true">
                <a:solidFill>
                  <a:srgbClr val="07416B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embrandt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19200" y="2817914"/>
            <a:ext cx="14708535" cy="815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6"/>
              </a:lnSpc>
            </a:pPr>
            <a:r>
              <a:rPr lang="en-US" sz="5678" b="true">
                <a:solidFill>
                  <a:srgbClr val="AD0F0F"/>
                </a:solidFill>
                <a:latin typeface="Montaser Arabic Heavy"/>
                <a:ea typeface="Montaser Arabic Heavy"/>
                <a:cs typeface="Montaser Arabic Heavy"/>
                <a:sym typeface="Montaser Arabic Heavy"/>
              </a:rPr>
              <a:t>I</a:t>
            </a:r>
            <a:r>
              <a:rPr lang="en-US" sz="5678" b="true">
                <a:solidFill>
                  <a:srgbClr val="07416B"/>
                </a:solidFill>
                <a:latin typeface="Montaser Arabic Heavy"/>
                <a:ea typeface="Montaser Arabic Heavy"/>
                <a:cs typeface="Montaser Arabic Heavy"/>
                <a:sym typeface="Montaser Arabic Heavy"/>
              </a:rPr>
              <a:t>nstituto </a:t>
            </a:r>
            <a:r>
              <a:rPr lang="en-US" sz="5678" b="true">
                <a:solidFill>
                  <a:srgbClr val="AD0F0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T</a:t>
            </a:r>
            <a:r>
              <a:rPr lang="en-US" sz="5678" b="true">
                <a:solidFill>
                  <a:srgbClr val="07416B"/>
                </a:solidFill>
                <a:latin typeface="Montaser Arabic Heavy"/>
                <a:ea typeface="Montaser Arabic Heavy"/>
                <a:cs typeface="Montaser Arabic Heavy"/>
                <a:sym typeface="Montaser Arabic Heavy"/>
              </a:rPr>
              <a:t>ecnológico en </a:t>
            </a:r>
            <a:r>
              <a:rPr lang="en-US" sz="5678" b="true">
                <a:solidFill>
                  <a:srgbClr val="AD0F0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</a:t>
            </a:r>
            <a:r>
              <a:rPr lang="en-US" sz="5678" b="true">
                <a:solidFill>
                  <a:srgbClr val="07416B"/>
                </a:solidFill>
                <a:latin typeface="Montaser Arabic Heavy"/>
                <a:ea typeface="Montaser Arabic Heavy"/>
                <a:cs typeface="Montaser Arabic Heavy"/>
                <a:sym typeface="Montaser Arabic Heavy"/>
              </a:rPr>
              <a:t>rogramación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857482" y="7253158"/>
            <a:ext cx="715566" cy="836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65"/>
              </a:lnSpc>
              <a:spcBef>
                <a:spcPct val="0"/>
              </a:spcBef>
            </a:pPr>
            <a:r>
              <a:rPr lang="en-US" b="true" sz="4500">
                <a:solidFill>
                  <a:srgbClr val="C89E9E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3.1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496973" y="6042650"/>
            <a:ext cx="4791027" cy="4235282"/>
          </a:xfrm>
          <a:custGeom>
            <a:avLst/>
            <a:gdLst/>
            <a:ahLst/>
            <a:cxnLst/>
            <a:rect r="r" b="b" t="t" l="l"/>
            <a:pathLst>
              <a:path h="4235282" w="4791027">
                <a:moveTo>
                  <a:pt x="0" y="0"/>
                </a:moveTo>
                <a:lnTo>
                  <a:pt x="4791027" y="0"/>
                </a:lnTo>
                <a:lnTo>
                  <a:pt x="4791027" y="4235282"/>
                </a:lnTo>
                <a:lnTo>
                  <a:pt x="0" y="42352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613" r="0" b="-16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5400000">
            <a:off x="1271245" y="-1278503"/>
            <a:ext cx="2400300" cy="4957305"/>
          </a:xfrm>
          <a:custGeom>
            <a:avLst/>
            <a:gdLst/>
            <a:ahLst/>
            <a:cxnLst/>
            <a:rect r="r" b="b" t="t" l="l"/>
            <a:pathLst>
              <a:path h="4957305" w="2400300">
                <a:moveTo>
                  <a:pt x="0" y="4957306"/>
                </a:moveTo>
                <a:lnTo>
                  <a:pt x="2400300" y="4957306"/>
                </a:lnTo>
                <a:lnTo>
                  <a:pt x="2400300" y="0"/>
                </a:lnTo>
                <a:lnTo>
                  <a:pt x="0" y="0"/>
                </a:lnTo>
                <a:lnTo>
                  <a:pt x="0" y="495730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429" r="0" b="-428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8752742"/>
            <a:ext cx="2651360" cy="1011107"/>
          </a:xfrm>
          <a:custGeom>
            <a:avLst/>
            <a:gdLst/>
            <a:ahLst/>
            <a:cxnLst/>
            <a:rect r="r" b="b" t="t" l="l"/>
            <a:pathLst>
              <a:path h="1011107" w="2651360">
                <a:moveTo>
                  <a:pt x="0" y="0"/>
                </a:moveTo>
                <a:lnTo>
                  <a:pt x="2651360" y="0"/>
                </a:lnTo>
                <a:lnTo>
                  <a:pt x="2651360" y="1011107"/>
                </a:lnTo>
                <a:lnTo>
                  <a:pt x="0" y="10111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34824" t="0" r="-34824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586977" y="891521"/>
            <a:ext cx="2701023" cy="1011107"/>
          </a:xfrm>
          <a:custGeom>
            <a:avLst/>
            <a:gdLst/>
            <a:ahLst/>
            <a:cxnLst/>
            <a:rect r="r" b="b" t="t" l="l"/>
            <a:pathLst>
              <a:path h="1011107" w="2701023">
                <a:moveTo>
                  <a:pt x="0" y="0"/>
                </a:moveTo>
                <a:lnTo>
                  <a:pt x="2701023" y="0"/>
                </a:lnTo>
                <a:lnTo>
                  <a:pt x="2701023" y="1011107"/>
                </a:lnTo>
                <a:lnTo>
                  <a:pt x="0" y="101110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33265" t="0" r="-33265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14293" y="6406753"/>
            <a:ext cx="2074640" cy="2074640"/>
            <a:chOff x="0" y="0"/>
            <a:chExt cx="2766187" cy="276618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66187" cy="2766187"/>
            </a:xfrm>
            <a:custGeom>
              <a:avLst/>
              <a:gdLst/>
              <a:ahLst/>
              <a:cxnLst/>
              <a:rect r="r" b="b" t="t" l="l"/>
              <a:pathLst>
                <a:path h="2766187" w="2766187">
                  <a:moveTo>
                    <a:pt x="0" y="0"/>
                  </a:moveTo>
                  <a:lnTo>
                    <a:pt x="2766187" y="0"/>
                  </a:lnTo>
                  <a:lnTo>
                    <a:pt x="2766187" y="2766187"/>
                  </a:lnTo>
                  <a:lnTo>
                    <a:pt x="0" y="27661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189067" y="198120"/>
            <a:ext cx="2397909" cy="2397909"/>
            <a:chOff x="0" y="0"/>
            <a:chExt cx="3197212" cy="319721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197225" cy="3197225"/>
            </a:xfrm>
            <a:custGeom>
              <a:avLst/>
              <a:gdLst/>
              <a:ahLst/>
              <a:cxnLst/>
              <a:rect r="r" b="b" t="t" l="l"/>
              <a:pathLst>
                <a:path h="3197225" w="3197225">
                  <a:moveTo>
                    <a:pt x="0" y="0"/>
                  </a:moveTo>
                  <a:lnTo>
                    <a:pt x="3197225" y="0"/>
                  </a:lnTo>
                  <a:lnTo>
                    <a:pt x="3197225" y="3197225"/>
                  </a:lnTo>
                  <a:lnTo>
                    <a:pt x="0" y="31972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3164434" y="923658"/>
            <a:ext cx="8925223" cy="815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6"/>
              </a:lnSpc>
            </a:pPr>
            <a:r>
              <a:rPr lang="en-US" sz="5678" b="true">
                <a:solidFill>
                  <a:srgbClr val="AD0F0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B</a:t>
            </a:r>
            <a:r>
              <a:rPr lang="en-US" sz="5678" b="true">
                <a:solidFill>
                  <a:srgbClr val="07416B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achillerato</a:t>
            </a:r>
            <a:r>
              <a:rPr lang="en-US" sz="5678" b="true">
                <a:solidFill>
                  <a:srgbClr val="AD0F0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R</a:t>
            </a:r>
            <a:r>
              <a:rPr lang="en-US" sz="5678" b="true">
                <a:solidFill>
                  <a:srgbClr val="07416B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embrandt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6419" y="2286000"/>
            <a:ext cx="16499720" cy="7230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94"/>
              </a:lnSpc>
              <a:spcBef>
                <a:spcPct val="0"/>
              </a:spcBef>
            </a:pPr>
            <a:r>
              <a:rPr lang="en-US" b="true" sz="3627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STEAM </a:t>
            </a:r>
          </a:p>
          <a:p>
            <a:pPr algn="ctr">
              <a:lnSpc>
                <a:spcPts val="5694"/>
              </a:lnSpc>
              <a:spcBef>
                <a:spcPct val="0"/>
              </a:spcBef>
            </a:pPr>
          </a:p>
          <a:p>
            <a:pPr algn="l">
              <a:lnSpc>
                <a:spcPts val="10710"/>
              </a:lnSpc>
            </a:pPr>
            <a:r>
              <a:rPr lang="en-US" b="true" sz="11900" spc="-105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      </a:t>
            </a:r>
            <a:r>
              <a:rPr lang="en-US" sz="11900" spc="-105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  </a:t>
            </a:r>
            <a:r>
              <a:rPr lang="en-US" sz="11900" spc="-1059">
                <a:solidFill>
                  <a:srgbClr val="07416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Proyecto</a:t>
            </a:r>
            <a:r>
              <a:rPr lang="en-US" sz="11900" spc="-105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</a:t>
            </a:r>
          </a:p>
          <a:p>
            <a:pPr algn="l">
              <a:lnSpc>
                <a:spcPts val="10710"/>
              </a:lnSpc>
            </a:pPr>
            <a:r>
              <a:rPr lang="en-US" sz="11900" spc="-105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                     </a:t>
            </a:r>
            <a:r>
              <a:rPr lang="en-US" sz="11900" spc="-1059">
                <a:solidFill>
                  <a:srgbClr val="FF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Sin</a:t>
            </a:r>
            <a:r>
              <a:rPr lang="en-US" sz="11900" spc="-1059">
                <a:solidFill>
                  <a:srgbClr val="82007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Filas</a:t>
            </a:r>
            <a:r>
              <a:rPr lang="en-US" sz="11900" spc="-105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</a:t>
            </a:r>
          </a:p>
          <a:p>
            <a:pPr algn="l">
              <a:lnSpc>
                <a:spcPts val="9649"/>
              </a:lnSpc>
              <a:spcBef>
                <a:spcPct val="0"/>
              </a:spcBef>
            </a:pPr>
          </a:p>
          <a:p>
            <a:pPr algn="l">
              <a:lnSpc>
                <a:spcPts val="9649"/>
              </a:lnSpc>
              <a:spcBef>
                <a:spcPct val="0"/>
              </a:spcBef>
            </a:pPr>
          </a:p>
          <a:p>
            <a:pPr algn="ctr">
              <a:lnSpc>
                <a:spcPts val="5694"/>
              </a:lnSpc>
              <a:spcBef>
                <a:spcPct val="0"/>
              </a:spcBef>
            </a:pPr>
            <a:r>
              <a:rPr lang="en-US" b="true" sz="3627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Agosto – Diciembre 2025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907206" y="6197203"/>
            <a:ext cx="12985280" cy="2157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03"/>
              </a:lnSpc>
              <a:spcBef>
                <a:spcPct val="0"/>
              </a:spcBef>
            </a:pPr>
            <a:r>
              <a:rPr lang="en-US" b="true" sz="5543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Menú digital para </a:t>
            </a:r>
            <a:r>
              <a:rPr lang="en-US" b="true" sz="5543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la cafetería escolar — sin filas, sin esperas.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7112918"/>
            <a:ext cx="3341942" cy="3174082"/>
          </a:xfrm>
          <a:custGeom>
            <a:avLst/>
            <a:gdLst/>
            <a:ahLst/>
            <a:cxnLst/>
            <a:rect r="r" b="b" t="t" l="l"/>
            <a:pathLst>
              <a:path h="3174082" w="3341942">
                <a:moveTo>
                  <a:pt x="3341942" y="0"/>
                </a:moveTo>
                <a:lnTo>
                  <a:pt x="0" y="0"/>
                </a:lnTo>
                <a:lnTo>
                  <a:pt x="0" y="3174082"/>
                </a:lnTo>
                <a:lnTo>
                  <a:pt x="3341942" y="3174082"/>
                </a:lnTo>
                <a:lnTo>
                  <a:pt x="334194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5092" r="0" b="-15092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5293188" y="70723"/>
            <a:ext cx="3012948" cy="4138574"/>
          </a:xfrm>
          <a:custGeom>
            <a:avLst/>
            <a:gdLst/>
            <a:ahLst/>
            <a:cxnLst/>
            <a:rect r="r" b="b" t="t" l="l"/>
            <a:pathLst>
              <a:path h="4138574" w="3012948">
                <a:moveTo>
                  <a:pt x="3012948" y="0"/>
                </a:moveTo>
                <a:lnTo>
                  <a:pt x="0" y="0"/>
                </a:lnTo>
                <a:lnTo>
                  <a:pt x="0" y="4138575"/>
                </a:lnTo>
                <a:lnTo>
                  <a:pt x="3012948" y="4138575"/>
                </a:lnTo>
                <a:lnTo>
                  <a:pt x="301294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1732" t="0" r="-11733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14766541" y="9233087"/>
            <a:ext cx="3539604" cy="1011107"/>
          </a:xfrm>
          <a:custGeom>
            <a:avLst/>
            <a:gdLst/>
            <a:ahLst/>
            <a:cxnLst/>
            <a:rect r="r" b="b" t="t" l="l"/>
            <a:pathLst>
              <a:path h="1011107" w="3539604">
                <a:moveTo>
                  <a:pt x="0" y="0"/>
                </a:moveTo>
                <a:lnTo>
                  <a:pt x="3539604" y="0"/>
                </a:lnTo>
                <a:lnTo>
                  <a:pt x="3539604" y="1011108"/>
                </a:lnTo>
                <a:lnTo>
                  <a:pt x="0" y="10111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3538" t="0" r="-13538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675428" y="383524"/>
            <a:ext cx="2087451" cy="2087451"/>
            <a:chOff x="0" y="0"/>
            <a:chExt cx="2783268" cy="278326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83205" cy="2783205"/>
            </a:xfrm>
            <a:custGeom>
              <a:avLst/>
              <a:gdLst/>
              <a:ahLst/>
              <a:cxnLst/>
              <a:rect r="r" b="b" t="t" l="l"/>
              <a:pathLst>
                <a:path h="2783205" w="2783205">
                  <a:moveTo>
                    <a:pt x="0" y="0"/>
                  </a:moveTo>
                  <a:lnTo>
                    <a:pt x="2783205" y="0"/>
                  </a:lnTo>
                  <a:lnTo>
                    <a:pt x="2783205" y="2783205"/>
                  </a:lnTo>
                  <a:lnTo>
                    <a:pt x="0" y="27832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2" b="-2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5115535" y="2716797"/>
            <a:ext cx="893169" cy="645319"/>
          </a:xfrm>
          <a:custGeom>
            <a:avLst/>
            <a:gdLst/>
            <a:ahLst/>
            <a:cxnLst/>
            <a:rect r="r" b="b" t="t" l="l"/>
            <a:pathLst>
              <a:path h="645319" w="893169">
                <a:moveTo>
                  <a:pt x="0" y="0"/>
                </a:moveTo>
                <a:lnTo>
                  <a:pt x="893168" y="0"/>
                </a:lnTo>
                <a:lnTo>
                  <a:pt x="893168" y="645318"/>
                </a:lnTo>
                <a:lnTo>
                  <a:pt x="0" y="64531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89331" y="2762031"/>
            <a:ext cx="4259656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8"/>
              </a:lnSpc>
            </a:pPr>
            <a:r>
              <a:rPr lang="en-US" sz="3999" b="true">
                <a:solidFill>
                  <a:srgbClr val="055C9D"/>
                </a:solidFill>
                <a:latin typeface="Nourd Bold"/>
                <a:ea typeface="Nourd Bold"/>
                <a:cs typeface="Nourd Bold"/>
                <a:sym typeface="Nourd Bold"/>
              </a:rPr>
              <a:t>Contenido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299337" y="1123950"/>
            <a:ext cx="9167108" cy="684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5178" b="true">
                <a:solidFill>
                  <a:srgbClr val="AD0F0F"/>
                </a:solidFill>
                <a:latin typeface="Nourd Bold"/>
                <a:ea typeface="Nourd Bold"/>
                <a:cs typeface="Nourd Bold"/>
                <a:sym typeface="Nourd Bold"/>
              </a:rPr>
              <a:t>B</a:t>
            </a:r>
            <a:r>
              <a:rPr lang="en-US" sz="5178" b="true">
                <a:solidFill>
                  <a:srgbClr val="003060"/>
                </a:solidFill>
                <a:latin typeface="Nourd Bold"/>
                <a:ea typeface="Nourd Bold"/>
                <a:cs typeface="Nourd Bold"/>
                <a:sym typeface="Nourd Bold"/>
              </a:rPr>
              <a:t>achillerato</a:t>
            </a:r>
            <a:r>
              <a:rPr lang="en-US" sz="5178" b="true">
                <a:solidFill>
                  <a:srgbClr val="AD0F0F"/>
                </a:solidFill>
                <a:latin typeface="Nourd Bold"/>
                <a:ea typeface="Nourd Bold"/>
                <a:cs typeface="Nourd Bold"/>
                <a:sym typeface="Nourd Bold"/>
              </a:rPr>
              <a:t> R</a:t>
            </a:r>
            <a:r>
              <a:rPr lang="en-US" sz="5178" b="true">
                <a:solidFill>
                  <a:srgbClr val="003060"/>
                </a:solidFill>
                <a:latin typeface="Nourd Bold"/>
                <a:ea typeface="Nourd Bold"/>
                <a:cs typeface="Nourd Bold"/>
                <a:sym typeface="Nourd Bold"/>
              </a:rPr>
              <a:t>embrandt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530530" y="3362106"/>
            <a:ext cx="772001" cy="772001"/>
            <a:chOff x="0" y="0"/>
            <a:chExt cx="1029335" cy="102933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29335" cy="1029335"/>
            </a:xfrm>
            <a:custGeom>
              <a:avLst/>
              <a:gdLst/>
              <a:ahLst/>
              <a:cxnLst/>
              <a:rect r="r" b="b" t="t" l="l"/>
              <a:pathLst>
                <a:path h="1029335" w="1029335">
                  <a:moveTo>
                    <a:pt x="514604" y="0"/>
                  </a:moveTo>
                  <a:cubicBezTo>
                    <a:pt x="230378" y="0"/>
                    <a:pt x="0" y="230378"/>
                    <a:pt x="0" y="514604"/>
                  </a:cubicBezTo>
                  <a:cubicBezTo>
                    <a:pt x="0" y="798830"/>
                    <a:pt x="230378" y="1029335"/>
                    <a:pt x="514604" y="1029335"/>
                  </a:cubicBezTo>
                  <a:cubicBezTo>
                    <a:pt x="798830" y="1029335"/>
                    <a:pt x="1029335" y="798957"/>
                    <a:pt x="1029335" y="514604"/>
                  </a:cubicBezTo>
                  <a:cubicBezTo>
                    <a:pt x="1029335" y="230251"/>
                    <a:pt x="798957" y="0"/>
                    <a:pt x="514604" y="0"/>
                  </a:cubicBezTo>
                  <a:close/>
                </a:path>
              </a:pathLst>
            </a:custGeom>
            <a:solidFill>
              <a:srgbClr val="117CC2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6643926" y="3304051"/>
            <a:ext cx="545211" cy="773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52"/>
              </a:lnSpc>
            </a:pPr>
            <a:r>
              <a:rPr lang="en-US" sz="3600" b="true">
                <a:solidFill>
                  <a:srgbClr val="FFFFFF"/>
                </a:solidFill>
                <a:latin typeface="Nourd Bold"/>
                <a:ea typeface="Nourd Bold"/>
                <a:cs typeface="Nourd Bold"/>
                <a:sym typeface="Nourd Bold"/>
              </a:rPr>
              <a:t>2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530530" y="5110925"/>
            <a:ext cx="772001" cy="772001"/>
            <a:chOff x="0" y="0"/>
            <a:chExt cx="1029335" cy="102933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29335" cy="1029335"/>
            </a:xfrm>
            <a:custGeom>
              <a:avLst/>
              <a:gdLst/>
              <a:ahLst/>
              <a:cxnLst/>
              <a:rect r="r" b="b" t="t" l="l"/>
              <a:pathLst>
                <a:path h="1029335" w="1029335">
                  <a:moveTo>
                    <a:pt x="514604" y="0"/>
                  </a:moveTo>
                  <a:cubicBezTo>
                    <a:pt x="230378" y="0"/>
                    <a:pt x="0" y="230378"/>
                    <a:pt x="0" y="514604"/>
                  </a:cubicBezTo>
                  <a:cubicBezTo>
                    <a:pt x="0" y="798830"/>
                    <a:pt x="230378" y="1029335"/>
                    <a:pt x="514604" y="1029335"/>
                  </a:cubicBezTo>
                  <a:cubicBezTo>
                    <a:pt x="798830" y="1029335"/>
                    <a:pt x="1029335" y="798957"/>
                    <a:pt x="1029335" y="514604"/>
                  </a:cubicBezTo>
                  <a:cubicBezTo>
                    <a:pt x="1029335" y="230251"/>
                    <a:pt x="798957" y="0"/>
                    <a:pt x="514604" y="0"/>
                  </a:cubicBezTo>
                  <a:close/>
                </a:path>
              </a:pathLst>
            </a:custGeom>
            <a:solidFill>
              <a:srgbClr val="117CC2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6643926" y="5052870"/>
            <a:ext cx="545211" cy="773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52"/>
              </a:lnSpc>
            </a:pPr>
            <a:r>
              <a:rPr lang="en-US" sz="3600" b="true">
                <a:solidFill>
                  <a:srgbClr val="FFFFFF"/>
                </a:solidFill>
                <a:latin typeface="Nourd Bold"/>
                <a:ea typeface="Nourd Bold"/>
                <a:cs typeface="Nourd Bold"/>
                <a:sym typeface="Nourd Bold"/>
              </a:rPr>
              <a:t>4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530530" y="4234148"/>
            <a:ext cx="772001" cy="772001"/>
            <a:chOff x="0" y="0"/>
            <a:chExt cx="1029335" cy="102933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29335" cy="1029335"/>
            </a:xfrm>
            <a:custGeom>
              <a:avLst/>
              <a:gdLst/>
              <a:ahLst/>
              <a:cxnLst/>
              <a:rect r="r" b="b" t="t" l="l"/>
              <a:pathLst>
                <a:path h="1029335" w="1029335">
                  <a:moveTo>
                    <a:pt x="514604" y="0"/>
                  </a:moveTo>
                  <a:cubicBezTo>
                    <a:pt x="230378" y="0"/>
                    <a:pt x="0" y="230378"/>
                    <a:pt x="0" y="514604"/>
                  </a:cubicBezTo>
                  <a:cubicBezTo>
                    <a:pt x="0" y="798830"/>
                    <a:pt x="230378" y="1029335"/>
                    <a:pt x="514604" y="1029335"/>
                  </a:cubicBezTo>
                  <a:cubicBezTo>
                    <a:pt x="798830" y="1029335"/>
                    <a:pt x="1029335" y="798957"/>
                    <a:pt x="1029335" y="514604"/>
                  </a:cubicBezTo>
                  <a:cubicBezTo>
                    <a:pt x="1029335" y="230251"/>
                    <a:pt x="798957" y="0"/>
                    <a:pt x="514604" y="0"/>
                  </a:cubicBezTo>
                  <a:close/>
                </a:path>
              </a:pathLst>
            </a:custGeom>
            <a:solidFill>
              <a:srgbClr val="117CC2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6643926" y="4176093"/>
            <a:ext cx="545211" cy="773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52"/>
              </a:lnSpc>
            </a:pPr>
            <a:r>
              <a:rPr lang="en-US" sz="3600" b="true">
                <a:solidFill>
                  <a:srgbClr val="FFFFFF"/>
                </a:solidFill>
                <a:latin typeface="Nourd Bold"/>
                <a:ea typeface="Nourd Bold"/>
                <a:cs typeface="Nourd Bold"/>
                <a:sym typeface="Nourd Bold"/>
              </a:rPr>
              <a:t>3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6479219" y="2528687"/>
            <a:ext cx="772001" cy="772001"/>
            <a:chOff x="0" y="0"/>
            <a:chExt cx="1029335" cy="102933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29335" cy="1029335"/>
            </a:xfrm>
            <a:custGeom>
              <a:avLst/>
              <a:gdLst/>
              <a:ahLst/>
              <a:cxnLst/>
              <a:rect r="r" b="b" t="t" l="l"/>
              <a:pathLst>
                <a:path h="1029335" w="1029335">
                  <a:moveTo>
                    <a:pt x="514604" y="0"/>
                  </a:moveTo>
                  <a:cubicBezTo>
                    <a:pt x="230378" y="0"/>
                    <a:pt x="0" y="230378"/>
                    <a:pt x="0" y="514604"/>
                  </a:cubicBezTo>
                  <a:cubicBezTo>
                    <a:pt x="0" y="798830"/>
                    <a:pt x="230378" y="1029335"/>
                    <a:pt x="514604" y="1029335"/>
                  </a:cubicBezTo>
                  <a:cubicBezTo>
                    <a:pt x="798830" y="1029335"/>
                    <a:pt x="1029335" y="798957"/>
                    <a:pt x="1029335" y="514604"/>
                  </a:cubicBezTo>
                  <a:cubicBezTo>
                    <a:pt x="1029335" y="230251"/>
                    <a:pt x="798957" y="0"/>
                    <a:pt x="514604" y="0"/>
                  </a:cubicBezTo>
                  <a:close/>
                </a:path>
              </a:pathLst>
            </a:custGeom>
            <a:solidFill>
              <a:srgbClr val="117CC2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6592614" y="2520563"/>
            <a:ext cx="545211" cy="659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52"/>
              </a:lnSpc>
            </a:pPr>
            <a:r>
              <a:rPr lang="en-US" sz="3600" b="true">
                <a:solidFill>
                  <a:srgbClr val="FFFFFF"/>
                </a:solidFill>
                <a:latin typeface="Nourd Bold"/>
                <a:ea typeface="Nourd Bold"/>
                <a:cs typeface="Nourd Bold"/>
                <a:sym typeface="Nourd Bold"/>
              </a:rPr>
              <a:t>1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6530530" y="5987691"/>
            <a:ext cx="772001" cy="772001"/>
            <a:chOff x="0" y="0"/>
            <a:chExt cx="1029335" cy="102933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29335" cy="1029335"/>
            </a:xfrm>
            <a:custGeom>
              <a:avLst/>
              <a:gdLst/>
              <a:ahLst/>
              <a:cxnLst/>
              <a:rect r="r" b="b" t="t" l="l"/>
              <a:pathLst>
                <a:path h="1029335" w="1029335">
                  <a:moveTo>
                    <a:pt x="514604" y="0"/>
                  </a:moveTo>
                  <a:cubicBezTo>
                    <a:pt x="230378" y="0"/>
                    <a:pt x="0" y="230378"/>
                    <a:pt x="0" y="514604"/>
                  </a:cubicBezTo>
                  <a:cubicBezTo>
                    <a:pt x="0" y="798830"/>
                    <a:pt x="230378" y="1029335"/>
                    <a:pt x="514604" y="1029335"/>
                  </a:cubicBezTo>
                  <a:cubicBezTo>
                    <a:pt x="798830" y="1029335"/>
                    <a:pt x="1029335" y="798957"/>
                    <a:pt x="1029335" y="514604"/>
                  </a:cubicBezTo>
                  <a:cubicBezTo>
                    <a:pt x="1029335" y="230251"/>
                    <a:pt x="798957" y="0"/>
                    <a:pt x="514604" y="0"/>
                  </a:cubicBezTo>
                  <a:close/>
                </a:path>
              </a:pathLst>
            </a:custGeom>
            <a:solidFill>
              <a:srgbClr val="117CC2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6643926" y="5949601"/>
            <a:ext cx="545211" cy="773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52"/>
              </a:lnSpc>
            </a:pPr>
            <a:r>
              <a:rPr lang="en-US" sz="3600" b="true">
                <a:solidFill>
                  <a:srgbClr val="FFFFFF"/>
                </a:solidFill>
                <a:latin typeface="Nourd Bold"/>
                <a:ea typeface="Nourd Bold"/>
                <a:cs typeface="Nourd Bold"/>
                <a:sym typeface="Nourd Bold"/>
              </a:rPr>
              <a:t>5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6530530" y="7741244"/>
            <a:ext cx="772001" cy="772001"/>
            <a:chOff x="0" y="0"/>
            <a:chExt cx="1029335" cy="102933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29335" cy="1029335"/>
            </a:xfrm>
            <a:custGeom>
              <a:avLst/>
              <a:gdLst/>
              <a:ahLst/>
              <a:cxnLst/>
              <a:rect r="r" b="b" t="t" l="l"/>
              <a:pathLst>
                <a:path h="1029335" w="1029335">
                  <a:moveTo>
                    <a:pt x="514604" y="0"/>
                  </a:moveTo>
                  <a:cubicBezTo>
                    <a:pt x="230378" y="0"/>
                    <a:pt x="0" y="230378"/>
                    <a:pt x="0" y="514604"/>
                  </a:cubicBezTo>
                  <a:cubicBezTo>
                    <a:pt x="0" y="798830"/>
                    <a:pt x="230378" y="1029335"/>
                    <a:pt x="514604" y="1029335"/>
                  </a:cubicBezTo>
                  <a:cubicBezTo>
                    <a:pt x="798830" y="1029335"/>
                    <a:pt x="1029335" y="798957"/>
                    <a:pt x="1029335" y="514604"/>
                  </a:cubicBezTo>
                  <a:cubicBezTo>
                    <a:pt x="1029335" y="230251"/>
                    <a:pt x="798957" y="0"/>
                    <a:pt x="514604" y="0"/>
                  </a:cubicBezTo>
                  <a:close/>
                </a:path>
              </a:pathLst>
            </a:custGeom>
            <a:solidFill>
              <a:srgbClr val="117CC2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6530530" y="6864467"/>
            <a:ext cx="772001" cy="772001"/>
            <a:chOff x="0" y="0"/>
            <a:chExt cx="1029335" cy="102933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29335" cy="1029335"/>
            </a:xfrm>
            <a:custGeom>
              <a:avLst/>
              <a:gdLst/>
              <a:ahLst/>
              <a:cxnLst/>
              <a:rect r="r" b="b" t="t" l="l"/>
              <a:pathLst>
                <a:path h="1029335" w="1029335">
                  <a:moveTo>
                    <a:pt x="514604" y="0"/>
                  </a:moveTo>
                  <a:cubicBezTo>
                    <a:pt x="230378" y="0"/>
                    <a:pt x="0" y="230378"/>
                    <a:pt x="0" y="514604"/>
                  </a:cubicBezTo>
                  <a:cubicBezTo>
                    <a:pt x="0" y="798830"/>
                    <a:pt x="230378" y="1029335"/>
                    <a:pt x="514604" y="1029335"/>
                  </a:cubicBezTo>
                  <a:cubicBezTo>
                    <a:pt x="798830" y="1029335"/>
                    <a:pt x="1029335" y="798957"/>
                    <a:pt x="1029335" y="514604"/>
                  </a:cubicBezTo>
                  <a:cubicBezTo>
                    <a:pt x="1029335" y="230251"/>
                    <a:pt x="798957" y="0"/>
                    <a:pt x="514604" y="0"/>
                  </a:cubicBezTo>
                  <a:close/>
                </a:path>
              </a:pathLst>
            </a:custGeom>
            <a:solidFill>
              <a:srgbClr val="117CC2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6643926" y="6792220"/>
            <a:ext cx="545211" cy="773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52"/>
              </a:lnSpc>
            </a:pPr>
            <a:r>
              <a:rPr lang="en-US" sz="3600" b="true">
                <a:solidFill>
                  <a:srgbClr val="FFFFFF"/>
                </a:solidFill>
                <a:latin typeface="Nourd Bold"/>
                <a:ea typeface="Nourd Bold"/>
                <a:cs typeface="Nourd Bold"/>
                <a:sym typeface="Nourd Bold"/>
              </a:rPr>
              <a:t>6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643926" y="7760294"/>
            <a:ext cx="545211" cy="773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52"/>
              </a:lnSpc>
            </a:pPr>
            <a:r>
              <a:rPr lang="en-US" sz="3600" b="true">
                <a:solidFill>
                  <a:srgbClr val="FFFFFF"/>
                </a:solidFill>
                <a:latin typeface="Nourd Bold"/>
                <a:ea typeface="Nourd Bold"/>
                <a:cs typeface="Nourd Bold"/>
                <a:sym typeface="Nourd Bold"/>
              </a:rPr>
              <a:t>7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6530530" y="8665635"/>
            <a:ext cx="772001" cy="772001"/>
            <a:chOff x="0" y="0"/>
            <a:chExt cx="1029335" cy="102933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29335" cy="1029335"/>
            </a:xfrm>
            <a:custGeom>
              <a:avLst/>
              <a:gdLst/>
              <a:ahLst/>
              <a:cxnLst/>
              <a:rect r="r" b="b" t="t" l="l"/>
              <a:pathLst>
                <a:path h="1029335" w="1029335">
                  <a:moveTo>
                    <a:pt x="514604" y="0"/>
                  </a:moveTo>
                  <a:cubicBezTo>
                    <a:pt x="230378" y="0"/>
                    <a:pt x="0" y="230378"/>
                    <a:pt x="0" y="514604"/>
                  </a:cubicBezTo>
                  <a:cubicBezTo>
                    <a:pt x="0" y="798830"/>
                    <a:pt x="230378" y="1029335"/>
                    <a:pt x="514604" y="1029335"/>
                  </a:cubicBezTo>
                  <a:cubicBezTo>
                    <a:pt x="798830" y="1029335"/>
                    <a:pt x="1029335" y="798957"/>
                    <a:pt x="1029335" y="514604"/>
                  </a:cubicBezTo>
                  <a:cubicBezTo>
                    <a:pt x="1029335" y="230251"/>
                    <a:pt x="798957" y="0"/>
                    <a:pt x="514604" y="0"/>
                  </a:cubicBezTo>
                  <a:close/>
                </a:path>
              </a:pathLst>
            </a:custGeom>
            <a:solidFill>
              <a:srgbClr val="117CC2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6643926" y="8637070"/>
            <a:ext cx="545211" cy="659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52"/>
              </a:lnSpc>
            </a:pPr>
            <a:r>
              <a:rPr lang="en-US" sz="3600" b="true">
                <a:solidFill>
                  <a:srgbClr val="FFFFFF"/>
                </a:solidFill>
                <a:latin typeface="Nourd Bold"/>
                <a:ea typeface="Nourd Bold"/>
                <a:cs typeface="Nourd Bold"/>
                <a:sym typeface="Nourd Bold"/>
              </a:rPr>
              <a:t>8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828749" y="2463991"/>
            <a:ext cx="1470496" cy="500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84"/>
              </a:lnSpc>
              <a:spcBef>
                <a:spcPct val="0"/>
              </a:spcBef>
            </a:pPr>
            <a:r>
              <a:rPr lang="en-US" b="true" sz="2665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Portada 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828749" y="3450066"/>
            <a:ext cx="2228327" cy="500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84"/>
              </a:lnSpc>
              <a:spcBef>
                <a:spcPct val="0"/>
              </a:spcBef>
            </a:pPr>
            <a:r>
              <a:rPr lang="en-US" b="true" sz="2665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Introducción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828749" y="4321845"/>
            <a:ext cx="1063903" cy="500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84"/>
              </a:lnSpc>
              <a:spcBef>
                <a:spcPct val="0"/>
              </a:spcBef>
            </a:pPr>
            <a:r>
              <a:rPr lang="en-US" b="true" sz="2665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Indice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828749" y="5194151"/>
            <a:ext cx="1692183" cy="500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84"/>
              </a:lnSpc>
              <a:spcBef>
                <a:spcPct val="0"/>
              </a:spcBef>
            </a:pPr>
            <a:r>
              <a:rPr lang="en-US" b="true" sz="2665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Problema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828749" y="6066457"/>
            <a:ext cx="2144123" cy="500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84"/>
              </a:lnSpc>
              <a:spcBef>
                <a:spcPct val="0"/>
              </a:spcBef>
            </a:pPr>
            <a:r>
              <a:rPr lang="en-US" b="true" sz="2665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Descripción 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7827577" y="6938236"/>
            <a:ext cx="1472840" cy="500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84"/>
              </a:lnSpc>
              <a:spcBef>
                <a:spcPct val="0"/>
              </a:spcBef>
            </a:pPr>
            <a:r>
              <a:rPr lang="en-US" b="true" sz="2665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Objetivo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7828749" y="7810541"/>
            <a:ext cx="1240333" cy="500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84"/>
              </a:lnSpc>
              <a:spcBef>
                <a:spcPct val="0"/>
              </a:spcBef>
            </a:pPr>
            <a:r>
              <a:rPr lang="en-US" b="true" sz="2665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Misión 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7772718" y="8795750"/>
            <a:ext cx="1170194" cy="500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84"/>
              </a:lnSpc>
              <a:spcBef>
                <a:spcPct val="0"/>
              </a:spcBef>
            </a:pPr>
            <a:r>
              <a:rPr lang="en-US" b="true" sz="2665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Visión 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10369913" y="3430662"/>
            <a:ext cx="772001" cy="772001"/>
            <a:chOff x="0" y="0"/>
            <a:chExt cx="1029335" cy="1029335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29335" cy="1029335"/>
            </a:xfrm>
            <a:custGeom>
              <a:avLst/>
              <a:gdLst/>
              <a:ahLst/>
              <a:cxnLst/>
              <a:rect r="r" b="b" t="t" l="l"/>
              <a:pathLst>
                <a:path h="1029335" w="1029335">
                  <a:moveTo>
                    <a:pt x="514604" y="0"/>
                  </a:moveTo>
                  <a:cubicBezTo>
                    <a:pt x="230378" y="0"/>
                    <a:pt x="0" y="230378"/>
                    <a:pt x="0" y="514604"/>
                  </a:cubicBezTo>
                  <a:cubicBezTo>
                    <a:pt x="0" y="798830"/>
                    <a:pt x="230378" y="1029335"/>
                    <a:pt x="514604" y="1029335"/>
                  </a:cubicBezTo>
                  <a:cubicBezTo>
                    <a:pt x="798830" y="1029335"/>
                    <a:pt x="1029335" y="798957"/>
                    <a:pt x="1029335" y="514604"/>
                  </a:cubicBezTo>
                  <a:cubicBezTo>
                    <a:pt x="1029335" y="230251"/>
                    <a:pt x="798957" y="0"/>
                    <a:pt x="514604" y="0"/>
                  </a:cubicBezTo>
                  <a:close/>
                </a:path>
              </a:pathLst>
            </a:custGeom>
            <a:solidFill>
              <a:srgbClr val="117CC2"/>
            </a:solid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10483308" y="3429305"/>
            <a:ext cx="545211" cy="659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52"/>
              </a:lnSpc>
            </a:pPr>
            <a:r>
              <a:rPr lang="en-US" sz="3600" b="true">
                <a:solidFill>
                  <a:srgbClr val="FFFFFF"/>
                </a:solidFill>
                <a:latin typeface="Nourd Bold"/>
                <a:ea typeface="Nourd Bold"/>
                <a:cs typeface="Nourd Bold"/>
                <a:sym typeface="Nourd Bold"/>
              </a:rPr>
              <a:t>10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1608639" y="3518170"/>
            <a:ext cx="3619217" cy="500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84"/>
              </a:lnSpc>
              <a:spcBef>
                <a:spcPct val="0"/>
              </a:spcBef>
            </a:pPr>
            <a:r>
              <a:rPr lang="en-US" b="true" sz="2665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Proposito específico 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10369913" y="2577998"/>
            <a:ext cx="772001" cy="772001"/>
            <a:chOff x="0" y="0"/>
            <a:chExt cx="1029335" cy="1029335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29335" cy="1029335"/>
            </a:xfrm>
            <a:custGeom>
              <a:avLst/>
              <a:gdLst/>
              <a:ahLst/>
              <a:cxnLst/>
              <a:rect r="r" b="b" t="t" l="l"/>
              <a:pathLst>
                <a:path h="1029335" w="1029335">
                  <a:moveTo>
                    <a:pt x="514604" y="0"/>
                  </a:moveTo>
                  <a:cubicBezTo>
                    <a:pt x="230378" y="0"/>
                    <a:pt x="0" y="230378"/>
                    <a:pt x="0" y="514604"/>
                  </a:cubicBezTo>
                  <a:cubicBezTo>
                    <a:pt x="0" y="798830"/>
                    <a:pt x="230378" y="1029335"/>
                    <a:pt x="514604" y="1029335"/>
                  </a:cubicBezTo>
                  <a:cubicBezTo>
                    <a:pt x="798830" y="1029335"/>
                    <a:pt x="1029335" y="798957"/>
                    <a:pt x="1029335" y="514604"/>
                  </a:cubicBezTo>
                  <a:cubicBezTo>
                    <a:pt x="1029335" y="230251"/>
                    <a:pt x="798957" y="0"/>
                    <a:pt x="514604" y="0"/>
                  </a:cubicBezTo>
                  <a:close/>
                </a:path>
              </a:pathLst>
            </a:custGeom>
            <a:solidFill>
              <a:srgbClr val="117CC2"/>
            </a:solidFill>
          </p:spPr>
        </p:sp>
      </p:grpSp>
      <p:sp>
        <p:nvSpPr>
          <p:cNvPr name="TextBox 48" id="48"/>
          <p:cNvSpPr txBox="true"/>
          <p:nvPr/>
        </p:nvSpPr>
        <p:spPr>
          <a:xfrm rot="0">
            <a:off x="10483308" y="2596143"/>
            <a:ext cx="545211" cy="659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52"/>
              </a:lnSpc>
            </a:pPr>
            <a:r>
              <a:rPr lang="en-US" sz="3600" b="true">
                <a:solidFill>
                  <a:srgbClr val="FFFFFF"/>
                </a:solidFill>
                <a:latin typeface="Nourd Bold"/>
                <a:ea typeface="Nourd Bold"/>
                <a:cs typeface="Nourd Bold"/>
                <a:sym typeface="Nourd Bold"/>
              </a:rPr>
              <a:t>9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1608639" y="2621547"/>
            <a:ext cx="3092540" cy="500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84"/>
              </a:lnSpc>
              <a:spcBef>
                <a:spcPct val="0"/>
              </a:spcBef>
            </a:pPr>
            <a:r>
              <a:rPr lang="en-US" b="true" sz="2665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proposito general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41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0" y="523142"/>
            <a:ext cx="4155310" cy="1011107"/>
          </a:xfrm>
          <a:custGeom>
            <a:avLst/>
            <a:gdLst/>
            <a:ahLst/>
            <a:cxnLst/>
            <a:rect r="r" b="b" t="t" l="l"/>
            <a:pathLst>
              <a:path h="1011107" w="4155310">
                <a:moveTo>
                  <a:pt x="0" y="0"/>
                </a:moveTo>
                <a:lnTo>
                  <a:pt x="4155310" y="0"/>
                </a:lnTo>
                <a:lnTo>
                  <a:pt x="4155310" y="1011107"/>
                </a:lnTo>
                <a:lnTo>
                  <a:pt x="0" y="10111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4123" t="0" r="-4123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604970" y="729820"/>
            <a:ext cx="8683030" cy="3086100"/>
            <a:chOff x="0" y="0"/>
            <a:chExt cx="2286889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86889" cy="812800"/>
            </a:xfrm>
            <a:custGeom>
              <a:avLst/>
              <a:gdLst/>
              <a:ahLst/>
              <a:cxnLst/>
              <a:rect r="r" b="b" t="t" l="l"/>
              <a:pathLst>
                <a:path h="812800" w="2286889">
                  <a:moveTo>
                    <a:pt x="45472" y="0"/>
                  </a:moveTo>
                  <a:lnTo>
                    <a:pt x="2241416" y="0"/>
                  </a:lnTo>
                  <a:cubicBezTo>
                    <a:pt x="2266530" y="0"/>
                    <a:pt x="2286889" y="20359"/>
                    <a:pt x="2286889" y="45472"/>
                  </a:cubicBezTo>
                  <a:lnTo>
                    <a:pt x="2286889" y="767328"/>
                  </a:lnTo>
                  <a:cubicBezTo>
                    <a:pt x="2286889" y="792441"/>
                    <a:pt x="2266530" y="812800"/>
                    <a:pt x="2241416" y="812800"/>
                  </a:cubicBezTo>
                  <a:lnTo>
                    <a:pt x="45472" y="812800"/>
                  </a:lnTo>
                  <a:cubicBezTo>
                    <a:pt x="20359" y="812800"/>
                    <a:pt x="0" y="792441"/>
                    <a:pt x="0" y="767328"/>
                  </a:cubicBezTo>
                  <a:lnTo>
                    <a:pt x="0" y="45472"/>
                  </a:lnTo>
                  <a:cubicBezTo>
                    <a:pt x="0" y="20359"/>
                    <a:pt x="20359" y="0"/>
                    <a:pt x="45472" y="0"/>
                  </a:cubicBezTo>
                  <a:close/>
                </a:path>
              </a:pathLst>
            </a:custGeom>
            <a:solidFill>
              <a:srgbClr val="117CC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19050"/>
              <a:ext cx="2286889" cy="793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38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9604970" y="866775"/>
            <a:ext cx="8683030" cy="2679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26"/>
              </a:lnSpc>
              <a:spcBef>
                <a:spcPct val="0"/>
              </a:spcBef>
            </a:pPr>
            <a:r>
              <a:rPr lang="en-US" b="true" sz="4603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⏰ Tiempo perdido</a:t>
            </a:r>
          </a:p>
          <a:p>
            <a:pPr algn="ctr">
              <a:lnSpc>
                <a:spcPts val="7226"/>
              </a:lnSpc>
              <a:spcBef>
                <a:spcPct val="0"/>
              </a:spcBef>
            </a:pPr>
            <a:r>
              <a:rPr lang="en-US" b="true" sz="4603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Recreos interrumpidos por largos tiempos de espera.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38788" y="1632536"/>
            <a:ext cx="2416522" cy="640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37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El Problema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19601" y="2404710"/>
            <a:ext cx="6557962" cy="950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07"/>
              </a:lnSpc>
              <a:spcBef>
                <a:spcPct val="0"/>
              </a:spcBef>
            </a:pPr>
            <a:r>
              <a:rPr lang="en-US" b="true" sz="5100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¿Qué</a:t>
            </a:r>
            <a:r>
              <a:rPr lang="en-US" b="true" sz="5100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está pasando?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70316" y="5475732"/>
            <a:ext cx="5498825" cy="961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88"/>
              </a:lnSpc>
              <a:spcBef>
                <a:spcPct val="0"/>
              </a:spcBef>
            </a:pPr>
            <a:r>
              <a:rPr lang="en-US" b="true" sz="5151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⏳ Fi</a:t>
            </a:r>
            <a:r>
              <a:rPr lang="en-US" b="true" sz="5151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las enormes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55487" y="6903339"/>
            <a:ext cx="6728483" cy="1383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52"/>
              </a:lnSpc>
              <a:spcBef>
                <a:spcPct val="0"/>
              </a:spcBef>
            </a:pPr>
            <a:r>
              <a:rPr lang="en-US" b="true" sz="3600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A</a:t>
            </a:r>
            <a:r>
              <a:rPr lang="en-US" b="true" sz="3600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lumnos esperando hasta 20 minutos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351162" y="4577525"/>
            <a:ext cx="6921401" cy="950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07"/>
              </a:lnSpc>
              <a:spcBef>
                <a:spcPct val="0"/>
              </a:spcBef>
            </a:pPr>
            <a:r>
              <a:rPr lang="en-US" b="true" sz="5100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📋</a:t>
            </a:r>
            <a:r>
              <a:rPr lang="en-US" b="true" sz="5100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Pedidos manuales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030679" y="5901401"/>
            <a:ext cx="5562366" cy="1383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52"/>
              </a:lnSpc>
              <a:spcBef>
                <a:spcPct val="0"/>
              </a:spcBef>
            </a:pPr>
            <a:r>
              <a:rPr lang="en-US" b="true" sz="3600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Errores y confusiones constantes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3411200" y="6436945"/>
            <a:ext cx="4876800" cy="4000500"/>
          </a:xfrm>
          <a:custGeom>
            <a:avLst/>
            <a:gdLst/>
            <a:ahLst/>
            <a:cxnLst/>
            <a:rect r="r" b="b" t="t" l="l"/>
            <a:pathLst>
              <a:path h="4000500" w="4876800">
                <a:moveTo>
                  <a:pt x="0" y="0"/>
                </a:moveTo>
                <a:lnTo>
                  <a:pt x="4876800" y="0"/>
                </a:lnTo>
                <a:lnTo>
                  <a:pt x="4876800" y="4000500"/>
                </a:lnTo>
                <a:lnTo>
                  <a:pt x="0" y="40005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595" r="0" b="-5595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41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3760634" y="9275893"/>
            <a:ext cx="4527366" cy="1011107"/>
          </a:xfrm>
          <a:custGeom>
            <a:avLst/>
            <a:gdLst/>
            <a:ahLst/>
            <a:cxnLst/>
            <a:rect r="r" b="b" t="t" l="l"/>
            <a:pathLst>
              <a:path h="1011107" w="4527366">
                <a:moveTo>
                  <a:pt x="0" y="0"/>
                </a:moveTo>
                <a:lnTo>
                  <a:pt x="4527366" y="0"/>
                </a:lnTo>
                <a:lnTo>
                  <a:pt x="4527366" y="1011107"/>
                </a:lnTo>
                <a:lnTo>
                  <a:pt x="0" y="10111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325" r="0" b="-32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-1427264" y="1392555"/>
            <a:ext cx="4527366" cy="1011107"/>
          </a:xfrm>
          <a:custGeom>
            <a:avLst/>
            <a:gdLst/>
            <a:ahLst/>
            <a:cxnLst/>
            <a:rect r="r" b="b" t="t" l="l"/>
            <a:pathLst>
              <a:path h="1011107" w="4527366">
                <a:moveTo>
                  <a:pt x="0" y="0"/>
                </a:moveTo>
                <a:lnTo>
                  <a:pt x="4527366" y="0"/>
                </a:lnTo>
                <a:lnTo>
                  <a:pt x="4527366" y="1011107"/>
                </a:lnTo>
                <a:lnTo>
                  <a:pt x="0" y="10111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325" r="0" b="-326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14538541" y="-1468688"/>
            <a:ext cx="2280771" cy="5218147"/>
          </a:xfrm>
          <a:custGeom>
            <a:avLst/>
            <a:gdLst/>
            <a:ahLst/>
            <a:cxnLst/>
            <a:rect r="r" b="b" t="t" l="l"/>
            <a:pathLst>
              <a:path h="5218147" w="2280771">
                <a:moveTo>
                  <a:pt x="0" y="0"/>
                </a:moveTo>
                <a:lnTo>
                  <a:pt x="2280771" y="0"/>
                </a:lnTo>
                <a:lnTo>
                  <a:pt x="2280771" y="5218147"/>
                </a:lnTo>
                <a:lnTo>
                  <a:pt x="0" y="52181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99" t="0" r="-99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0" y="7302075"/>
            <a:ext cx="3564093" cy="2984925"/>
          </a:xfrm>
          <a:custGeom>
            <a:avLst/>
            <a:gdLst/>
            <a:ahLst/>
            <a:cxnLst/>
            <a:rect r="r" b="b" t="t" l="l"/>
            <a:pathLst>
              <a:path h="2984925" w="3564093">
                <a:moveTo>
                  <a:pt x="0" y="2984925"/>
                </a:moveTo>
                <a:lnTo>
                  <a:pt x="3564093" y="2984925"/>
                </a:lnTo>
                <a:lnTo>
                  <a:pt x="3564093" y="0"/>
                </a:lnTo>
                <a:lnTo>
                  <a:pt x="0" y="0"/>
                </a:lnTo>
                <a:lnTo>
                  <a:pt x="0" y="2984925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9" t="0" r="-1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564674" y="2328396"/>
            <a:ext cx="10581144" cy="6189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47"/>
              </a:lnSpc>
            </a:pPr>
          </a:p>
          <a:p>
            <a:pPr algn="ctr">
              <a:lnSpc>
                <a:spcPts val="3547"/>
              </a:lnSpc>
            </a:pPr>
            <a:r>
              <a:rPr lang="en-US" sz="3315" spc="-43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Descripcion</a:t>
            </a:r>
          </a:p>
          <a:p>
            <a:pPr algn="ctr">
              <a:lnSpc>
                <a:spcPts val="3547"/>
              </a:lnSpc>
            </a:pPr>
          </a:p>
          <a:p>
            <a:pPr algn="l">
              <a:lnSpc>
                <a:spcPts val="3547"/>
              </a:lnSpc>
            </a:pPr>
            <a:r>
              <a:rPr lang="en-US" b="true" sz="3315" spc="-43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Pedir sin hacer fila</a:t>
            </a:r>
          </a:p>
          <a:p>
            <a:pPr algn="l">
              <a:lnSpc>
                <a:spcPts val="3547"/>
              </a:lnSpc>
            </a:pPr>
          </a:p>
          <a:p>
            <a:pPr algn="l">
              <a:lnSpc>
                <a:spcPts val="3547"/>
              </a:lnSpc>
            </a:pPr>
            <a:r>
              <a:rPr lang="en-US" b="true" sz="3315" spc="-43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Cocina eficiente</a:t>
            </a:r>
          </a:p>
          <a:p>
            <a:pPr algn="l">
              <a:lnSpc>
                <a:spcPts val="3547"/>
              </a:lnSpc>
            </a:pPr>
          </a:p>
          <a:p>
            <a:pPr algn="l">
              <a:lnSpc>
                <a:spcPts val="3547"/>
              </a:lnSpc>
            </a:pPr>
            <a:r>
              <a:rPr lang="en-US" b="true" sz="3315" spc="-43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El personal recibe los pedidos organizados y listos</a:t>
            </a:r>
          </a:p>
          <a:p>
            <a:pPr algn="l">
              <a:lnSpc>
                <a:spcPts val="3547"/>
              </a:lnSpc>
            </a:pPr>
          </a:p>
          <a:p>
            <a:pPr algn="l">
              <a:lnSpc>
                <a:spcPts val="3547"/>
              </a:lnSpc>
            </a:pPr>
            <a:r>
              <a:rPr lang="en-US" b="true" sz="3315" spc="-43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Entrega rápida</a:t>
            </a:r>
          </a:p>
          <a:p>
            <a:pPr algn="l">
              <a:lnSpc>
                <a:spcPts val="3547"/>
              </a:lnSpc>
            </a:pPr>
          </a:p>
          <a:p>
            <a:pPr algn="l">
              <a:lnSpc>
                <a:spcPts val="3547"/>
              </a:lnSpc>
            </a:pPr>
            <a:r>
              <a:rPr lang="en-US" b="true" sz="3315" spc="-43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Control total</a:t>
            </a:r>
          </a:p>
          <a:p>
            <a:pPr algn="l">
              <a:lnSpc>
                <a:spcPts val="3547"/>
              </a:lnSpc>
            </a:pPr>
          </a:p>
          <a:p>
            <a:pPr algn="l">
              <a:lnSpc>
                <a:spcPts val="3547"/>
              </a:lnSpc>
            </a:pPr>
            <a:r>
              <a:rPr lang="en-US" b="true" sz="3315" spc="-43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Reportes de ventas y productos más populares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41972" y="968935"/>
            <a:ext cx="13418236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¿Para qué sirve Fadori?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41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629093" y="5143500"/>
            <a:ext cx="5658907" cy="5143500"/>
          </a:xfrm>
          <a:custGeom>
            <a:avLst/>
            <a:gdLst/>
            <a:ahLst/>
            <a:cxnLst/>
            <a:rect r="r" b="b" t="t" l="l"/>
            <a:pathLst>
              <a:path h="5143500" w="5658907">
                <a:moveTo>
                  <a:pt x="0" y="0"/>
                </a:moveTo>
                <a:lnTo>
                  <a:pt x="5658907" y="0"/>
                </a:lnTo>
                <a:lnTo>
                  <a:pt x="5658907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10" r="0" b="-11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5400000">
            <a:off x="1526191" y="-1466126"/>
            <a:ext cx="2794159" cy="5846531"/>
          </a:xfrm>
          <a:custGeom>
            <a:avLst/>
            <a:gdLst/>
            <a:ahLst/>
            <a:cxnLst/>
            <a:rect r="r" b="b" t="t" l="l"/>
            <a:pathLst>
              <a:path h="5846531" w="2794159">
                <a:moveTo>
                  <a:pt x="0" y="5846531"/>
                </a:moveTo>
                <a:lnTo>
                  <a:pt x="2794159" y="5846531"/>
                </a:lnTo>
                <a:lnTo>
                  <a:pt x="2794159" y="0"/>
                </a:lnTo>
                <a:lnTo>
                  <a:pt x="0" y="0"/>
                </a:lnTo>
                <a:lnTo>
                  <a:pt x="0" y="584653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95" t="0" r="-95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-1453324" y="8044625"/>
            <a:ext cx="4527366" cy="1011107"/>
          </a:xfrm>
          <a:custGeom>
            <a:avLst/>
            <a:gdLst/>
            <a:ahLst/>
            <a:cxnLst/>
            <a:rect r="r" b="b" t="t" l="l"/>
            <a:pathLst>
              <a:path h="1011107" w="4527366">
                <a:moveTo>
                  <a:pt x="0" y="0"/>
                </a:moveTo>
                <a:lnTo>
                  <a:pt x="4527365" y="0"/>
                </a:lnTo>
                <a:lnTo>
                  <a:pt x="4527365" y="1011107"/>
                </a:lnTo>
                <a:lnTo>
                  <a:pt x="0" y="10111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325" r="0" b="-326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15158276" y="1415224"/>
            <a:ext cx="4527366" cy="1011107"/>
          </a:xfrm>
          <a:custGeom>
            <a:avLst/>
            <a:gdLst/>
            <a:ahLst/>
            <a:cxnLst/>
            <a:rect r="r" b="b" t="t" l="l"/>
            <a:pathLst>
              <a:path h="1011107" w="4527366">
                <a:moveTo>
                  <a:pt x="0" y="0"/>
                </a:moveTo>
                <a:lnTo>
                  <a:pt x="4527365" y="0"/>
                </a:lnTo>
                <a:lnTo>
                  <a:pt x="4527365" y="1011108"/>
                </a:lnTo>
                <a:lnTo>
                  <a:pt x="0" y="10111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325" r="0" b="-326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448088" y="3192048"/>
            <a:ext cx="12629093" cy="4240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52"/>
              </a:lnSpc>
              <a:spcBef>
                <a:spcPct val="0"/>
              </a:spcBef>
            </a:pPr>
          </a:p>
          <a:p>
            <a:pPr algn="l">
              <a:lnSpc>
                <a:spcPts val="5652"/>
              </a:lnSpc>
              <a:spcBef>
                <a:spcPct val="0"/>
              </a:spcBef>
            </a:pPr>
            <a:r>
              <a:rPr lang="en-US" b="true" sz="3600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¿Qué queremos lograr?</a:t>
            </a:r>
          </a:p>
          <a:p>
            <a:pPr algn="l">
              <a:lnSpc>
                <a:spcPts val="5652"/>
              </a:lnSpc>
              <a:spcBef>
                <a:spcPct val="0"/>
              </a:spcBef>
            </a:pPr>
            <a:r>
              <a:rPr lang="en-US" b="true" sz="3600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Una aplicación web y móvil que digitalice el proceso de pedidos de la cafetería del Bachillerato Rembrandt, reduciendo tiempos de espera en al menos 60% durante el ciclo escolar 2025.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246666" y="588142"/>
            <a:ext cx="4968032" cy="2319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Objetivo</a:t>
            </a:r>
          </a:p>
          <a:p>
            <a:pPr algn="ctr">
              <a:lnSpc>
                <a:spcPts val="5459"/>
              </a:lnSpc>
            </a:pPr>
            <a:r>
              <a:rPr lang="en-US" sz="39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3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Justificación</a:t>
            </a:r>
            <a:r>
              <a:rPr lang="en-US" sz="39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41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123720"/>
            <a:ext cx="13060189" cy="6134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85"/>
              </a:lnSpc>
              <a:spcBef>
                <a:spcPct val="0"/>
              </a:spcBef>
            </a:pPr>
          </a:p>
          <a:p>
            <a:pPr algn="l">
              <a:lnSpc>
                <a:spcPts val="6985"/>
              </a:lnSpc>
              <a:spcBef>
                <a:spcPct val="0"/>
              </a:spcBef>
            </a:pPr>
            <a:r>
              <a:rPr lang="en-US" b="true" sz="4449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Facilitar pedidos</a:t>
            </a:r>
          </a:p>
          <a:p>
            <a:pPr algn="l">
              <a:lnSpc>
                <a:spcPts val="6985"/>
              </a:lnSpc>
              <a:spcBef>
                <a:spcPct val="0"/>
              </a:spcBef>
            </a:pPr>
          </a:p>
          <a:p>
            <a:pPr algn="l">
              <a:lnSpc>
                <a:spcPts val="6985"/>
              </a:lnSpc>
              <a:spcBef>
                <a:spcPct val="0"/>
              </a:spcBef>
            </a:pPr>
            <a:r>
              <a:rPr lang="en-US" b="true" sz="4449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Queremos Reducir Filas</a:t>
            </a:r>
          </a:p>
          <a:p>
            <a:pPr algn="l">
              <a:lnSpc>
                <a:spcPts val="6985"/>
              </a:lnSpc>
              <a:spcBef>
                <a:spcPct val="0"/>
              </a:spcBef>
            </a:pPr>
          </a:p>
          <a:p>
            <a:pPr algn="l">
              <a:lnSpc>
                <a:spcPts val="6985"/>
              </a:lnSpc>
              <a:spcBef>
                <a:spcPct val="0"/>
              </a:spcBef>
            </a:pPr>
            <a:r>
              <a:rPr lang="en-US" b="true" sz="4449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Facilitar supervisión </a:t>
            </a:r>
          </a:p>
          <a:p>
            <a:pPr algn="l">
              <a:lnSpc>
                <a:spcPts val="6985"/>
              </a:lnSpc>
              <a:spcBef>
                <a:spcPct val="0"/>
              </a:spcBef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5747660" y="1700051"/>
            <a:ext cx="8072735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Misión STEAM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2629093" y="5143500"/>
            <a:ext cx="5658907" cy="5143500"/>
          </a:xfrm>
          <a:custGeom>
            <a:avLst/>
            <a:gdLst/>
            <a:ahLst/>
            <a:cxnLst/>
            <a:rect r="r" b="b" t="t" l="l"/>
            <a:pathLst>
              <a:path h="5143500" w="5658907">
                <a:moveTo>
                  <a:pt x="0" y="0"/>
                </a:moveTo>
                <a:lnTo>
                  <a:pt x="5658907" y="0"/>
                </a:lnTo>
                <a:lnTo>
                  <a:pt x="5658907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10" r="0" b="-11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-5400000">
            <a:off x="1526191" y="-1466126"/>
            <a:ext cx="2794159" cy="5846531"/>
          </a:xfrm>
          <a:custGeom>
            <a:avLst/>
            <a:gdLst/>
            <a:ahLst/>
            <a:cxnLst/>
            <a:rect r="r" b="b" t="t" l="l"/>
            <a:pathLst>
              <a:path h="5846531" w="2794159">
                <a:moveTo>
                  <a:pt x="0" y="5846531"/>
                </a:moveTo>
                <a:lnTo>
                  <a:pt x="2794159" y="5846531"/>
                </a:lnTo>
                <a:lnTo>
                  <a:pt x="2794159" y="0"/>
                </a:lnTo>
                <a:lnTo>
                  <a:pt x="0" y="0"/>
                </a:lnTo>
                <a:lnTo>
                  <a:pt x="0" y="584653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95" t="0" r="-95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400000">
            <a:off x="15158276" y="1415224"/>
            <a:ext cx="4527366" cy="1011107"/>
          </a:xfrm>
          <a:custGeom>
            <a:avLst/>
            <a:gdLst/>
            <a:ahLst/>
            <a:cxnLst/>
            <a:rect r="r" b="b" t="t" l="l"/>
            <a:pathLst>
              <a:path h="1011107" w="4527366">
                <a:moveTo>
                  <a:pt x="0" y="0"/>
                </a:moveTo>
                <a:lnTo>
                  <a:pt x="4527365" y="0"/>
                </a:lnTo>
                <a:lnTo>
                  <a:pt x="4527365" y="1011108"/>
                </a:lnTo>
                <a:lnTo>
                  <a:pt x="0" y="10111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325" r="0" b="-326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41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629093" y="5143500"/>
            <a:ext cx="5658907" cy="5143500"/>
          </a:xfrm>
          <a:custGeom>
            <a:avLst/>
            <a:gdLst/>
            <a:ahLst/>
            <a:cxnLst/>
            <a:rect r="r" b="b" t="t" l="l"/>
            <a:pathLst>
              <a:path h="5143500" w="5658907">
                <a:moveTo>
                  <a:pt x="0" y="0"/>
                </a:moveTo>
                <a:lnTo>
                  <a:pt x="5658907" y="0"/>
                </a:lnTo>
                <a:lnTo>
                  <a:pt x="5658907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10" r="0" b="-11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5400000">
            <a:off x="1526191" y="-1466126"/>
            <a:ext cx="2794159" cy="5846531"/>
          </a:xfrm>
          <a:custGeom>
            <a:avLst/>
            <a:gdLst/>
            <a:ahLst/>
            <a:cxnLst/>
            <a:rect r="r" b="b" t="t" l="l"/>
            <a:pathLst>
              <a:path h="5846531" w="2794159">
                <a:moveTo>
                  <a:pt x="0" y="5846531"/>
                </a:moveTo>
                <a:lnTo>
                  <a:pt x="2794159" y="5846531"/>
                </a:lnTo>
                <a:lnTo>
                  <a:pt x="2794159" y="0"/>
                </a:lnTo>
                <a:lnTo>
                  <a:pt x="0" y="0"/>
                </a:lnTo>
                <a:lnTo>
                  <a:pt x="0" y="584653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95" t="0" r="-95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-1453324" y="8044625"/>
            <a:ext cx="4527366" cy="1011107"/>
          </a:xfrm>
          <a:custGeom>
            <a:avLst/>
            <a:gdLst/>
            <a:ahLst/>
            <a:cxnLst/>
            <a:rect r="r" b="b" t="t" l="l"/>
            <a:pathLst>
              <a:path h="1011107" w="4527366">
                <a:moveTo>
                  <a:pt x="0" y="0"/>
                </a:moveTo>
                <a:lnTo>
                  <a:pt x="4527365" y="0"/>
                </a:lnTo>
                <a:lnTo>
                  <a:pt x="4527365" y="1011107"/>
                </a:lnTo>
                <a:lnTo>
                  <a:pt x="0" y="10111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325" r="0" b="-326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15158276" y="1415224"/>
            <a:ext cx="4527366" cy="1011107"/>
          </a:xfrm>
          <a:custGeom>
            <a:avLst/>
            <a:gdLst/>
            <a:ahLst/>
            <a:cxnLst/>
            <a:rect r="r" b="b" t="t" l="l"/>
            <a:pathLst>
              <a:path h="1011107" w="4527366">
                <a:moveTo>
                  <a:pt x="0" y="0"/>
                </a:moveTo>
                <a:lnTo>
                  <a:pt x="4527365" y="0"/>
                </a:lnTo>
                <a:lnTo>
                  <a:pt x="4527365" y="1011108"/>
                </a:lnTo>
                <a:lnTo>
                  <a:pt x="0" y="10111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325" r="0" b="-326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693639" y="588142"/>
            <a:ext cx="7730430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Visión STEAM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432178" y="3595448"/>
            <a:ext cx="14167240" cy="3249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54"/>
              </a:lnSpc>
            </a:pPr>
            <a:r>
              <a:rPr lang="en-US" b="true" sz="4449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Un sitio web/app donde tienes el menú y realizas tu pedido Después te avisara cuando este echo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41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629093" y="5143500"/>
            <a:ext cx="5658907" cy="5143500"/>
          </a:xfrm>
          <a:custGeom>
            <a:avLst/>
            <a:gdLst/>
            <a:ahLst/>
            <a:cxnLst/>
            <a:rect r="r" b="b" t="t" l="l"/>
            <a:pathLst>
              <a:path h="5143500" w="5658907">
                <a:moveTo>
                  <a:pt x="0" y="0"/>
                </a:moveTo>
                <a:lnTo>
                  <a:pt x="5658907" y="0"/>
                </a:lnTo>
                <a:lnTo>
                  <a:pt x="5658907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10" r="0" b="-11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5400000">
            <a:off x="1526191" y="-1466126"/>
            <a:ext cx="2794159" cy="5846531"/>
          </a:xfrm>
          <a:custGeom>
            <a:avLst/>
            <a:gdLst/>
            <a:ahLst/>
            <a:cxnLst/>
            <a:rect r="r" b="b" t="t" l="l"/>
            <a:pathLst>
              <a:path h="5846531" w="2794159">
                <a:moveTo>
                  <a:pt x="0" y="5846531"/>
                </a:moveTo>
                <a:lnTo>
                  <a:pt x="2794159" y="5846531"/>
                </a:lnTo>
                <a:lnTo>
                  <a:pt x="2794159" y="0"/>
                </a:lnTo>
                <a:lnTo>
                  <a:pt x="0" y="0"/>
                </a:lnTo>
                <a:lnTo>
                  <a:pt x="0" y="584653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95" t="0" r="-95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-1453324" y="8044625"/>
            <a:ext cx="4527366" cy="1011107"/>
          </a:xfrm>
          <a:custGeom>
            <a:avLst/>
            <a:gdLst/>
            <a:ahLst/>
            <a:cxnLst/>
            <a:rect r="r" b="b" t="t" l="l"/>
            <a:pathLst>
              <a:path h="1011107" w="4527366">
                <a:moveTo>
                  <a:pt x="0" y="0"/>
                </a:moveTo>
                <a:lnTo>
                  <a:pt x="4527365" y="0"/>
                </a:lnTo>
                <a:lnTo>
                  <a:pt x="4527365" y="1011107"/>
                </a:lnTo>
                <a:lnTo>
                  <a:pt x="0" y="10111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325" r="0" b="-326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15676776" y="1086040"/>
            <a:ext cx="3679681" cy="821792"/>
          </a:xfrm>
          <a:custGeom>
            <a:avLst/>
            <a:gdLst/>
            <a:ahLst/>
            <a:cxnLst/>
            <a:rect r="r" b="b" t="t" l="l"/>
            <a:pathLst>
              <a:path h="821792" w="3679681">
                <a:moveTo>
                  <a:pt x="0" y="0"/>
                </a:moveTo>
                <a:lnTo>
                  <a:pt x="3679681" y="0"/>
                </a:lnTo>
                <a:lnTo>
                  <a:pt x="3679681" y="821792"/>
                </a:lnTo>
                <a:lnTo>
                  <a:pt x="0" y="8217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325" r="0" b="-326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982269" y="409575"/>
            <a:ext cx="10323463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Propósito general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96707" y="8506460"/>
            <a:ext cx="10751592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 i="true">
                <a:solidFill>
                  <a:srgbClr val="FFFFFF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Menos espera, más eficiencia, mejor experiencia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Bachillerato Rembrandt · STEAM · Agosto – Diciembre 2025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76782" y="3270101"/>
            <a:ext cx="6894110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Fadori — El futuro de la cafetería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🎯 automatización de pedidos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76782" y="5662925"/>
            <a:ext cx="6894110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Impacto real 🚀Filas que no desperdician tiempo valioso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956046" y="5744696"/>
            <a:ext cx="6894110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📱 App web y móvil accesible para todos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315384" y="3511192"/>
            <a:ext cx="4602735" cy="688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75"/>
              </a:lnSpc>
              <a:spcBef>
                <a:spcPct val="0"/>
              </a:spcBef>
            </a:pPr>
            <a:r>
              <a:rPr lang="en-US" sz="405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✨ Solucion digital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41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618316" y="3379108"/>
            <a:ext cx="8681874" cy="6522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62"/>
              </a:lnSpc>
              <a:spcBef>
                <a:spcPct val="0"/>
              </a:spcBef>
            </a:pPr>
          </a:p>
          <a:p>
            <a:pPr algn="l">
              <a:lnSpc>
                <a:spcPts val="5162"/>
              </a:lnSpc>
              <a:spcBef>
                <a:spcPct val="0"/>
              </a:spcBef>
            </a:pPr>
            <a:r>
              <a:rPr lang="en-US" b="true" sz="3687">
                <a:solidFill>
                  <a:srgbClr val="FFFFFF"/>
                </a:solidFill>
                <a:latin typeface="Montaser Arabic Medium"/>
                <a:ea typeface="Montaser Arabic Medium"/>
                <a:cs typeface="Montaser Arabic Medium"/>
                <a:sym typeface="Montaser Arabic Medium"/>
              </a:rPr>
              <a:t>Menos tiempo de espera</a:t>
            </a:r>
          </a:p>
          <a:p>
            <a:pPr algn="l">
              <a:lnSpc>
                <a:spcPts val="5162"/>
              </a:lnSpc>
              <a:spcBef>
                <a:spcPct val="0"/>
              </a:spcBef>
            </a:pPr>
          </a:p>
          <a:p>
            <a:pPr algn="l">
              <a:lnSpc>
                <a:spcPts val="5162"/>
              </a:lnSpc>
              <a:spcBef>
                <a:spcPct val="0"/>
              </a:spcBef>
            </a:pPr>
            <a:r>
              <a:rPr lang="en-US" b="true" sz="3687">
                <a:solidFill>
                  <a:srgbClr val="FFFFFF"/>
                </a:solidFill>
                <a:latin typeface="Montaser Arabic Medium"/>
                <a:ea typeface="Montaser Arabic Medium"/>
                <a:cs typeface="Montaser Arabic Medium"/>
                <a:sym typeface="Montaser Arabic Medium"/>
              </a:rPr>
              <a:t>Reducción estimada en filas</a:t>
            </a:r>
          </a:p>
          <a:p>
            <a:pPr algn="l">
              <a:lnSpc>
                <a:spcPts val="5162"/>
              </a:lnSpc>
              <a:spcBef>
                <a:spcPct val="0"/>
              </a:spcBef>
            </a:pPr>
          </a:p>
          <a:p>
            <a:pPr algn="l">
              <a:lnSpc>
                <a:spcPts val="5162"/>
              </a:lnSpc>
              <a:spcBef>
                <a:spcPct val="0"/>
              </a:spcBef>
            </a:pPr>
            <a:r>
              <a:rPr lang="en-US" b="true" sz="3687">
                <a:solidFill>
                  <a:srgbClr val="FFFFFF"/>
                </a:solidFill>
                <a:latin typeface="Montaser Arabic Medium"/>
                <a:ea typeface="Montaser Arabic Medium"/>
                <a:cs typeface="Montaser Arabic Medium"/>
                <a:sym typeface="Montaser Arabic Medium"/>
              </a:rPr>
              <a:t>Proceso simplificado desde el celular</a:t>
            </a:r>
          </a:p>
          <a:p>
            <a:pPr algn="l">
              <a:lnSpc>
                <a:spcPts val="5162"/>
              </a:lnSpc>
              <a:spcBef>
                <a:spcPct val="0"/>
              </a:spcBef>
            </a:pPr>
          </a:p>
          <a:p>
            <a:pPr algn="l">
              <a:lnSpc>
                <a:spcPts val="5162"/>
              </a:lnSpc>
              <a:spcBef>
                <a:spcPct val="0"/>
              </a:spcBef>
            </a:pPr>
            <a:r>
              <a:rPr lang="en-US" b="true" sz="3687">
                <a:solidFill>
                  <a:srgbClr val="FFFFFF"/>
                </a:solidFill>
                <a:latin typeface="Montaser Arabic Medium"/>
                <a:ea typeface="Montaser Arabic Medium"/>
                <a:cs typeface="Montaser Arabic Medium"/>
                <a:sym typeface="Montaser Arabic Medium"/>
              </a:rPr>
              <a:t>Pedidos digitales sin confusión</a:t>
            </a:r>
          </a:p>
          <a:p>
            <a:pPr algn="l">
              <a:lnSpc>
                <a:spcPts val="5162"/>
              </a:lnSpc>
              <a:spcBef>
                <a:spcPct val="0"/>
              </a:spcBef>
            </a:pPr>
          </a:p>
          <a:p>
            <a:pPr algn="l">
              <a:lnSpc>
                <a:spcPts val="5162"/>
              </a:lnSpc>
              <a:spcBef>
                <a:spcPct val="0"/>
              </a:spcBef>
            </a:pPr>
            <a:r>
              <a:rPr lang="en-US" b="true" sz="3687">
                <a:solidFill>
                  <a:srgbClr val="FFFFFF"/>
                </a:solidFill>
                <a:latin typeface="Montaser Arabic Medium"/>
                <a:ea typeface="Montaser Arabic Medium"/>
                <a:cs typeface="Montaser Arabic Medium"/>
                <a:sym typeface="Montaser Arabic Medium"/>
              </a:rPr>
              <a:t>Accesible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2629093" y="5143500"/>
            <a:ext cx="5658907" cy="5143500"/>
          </a:xfrm>
          <a:custGeom>
            <a:avLst/>
            <a:gdLst/>
            <a:ahLst/>
            <a:cxnLst/>
            <a:rect r="r" b="b" t="t" l="l"/>
            <a:pathLst>
              <a:path h="5143500" w="5658907">
                <a:moveTo>
                  <a:pt x="0" y="0"/>
                </a:moveTo>
                <a:lnTo>
                  <a:pt x="5658907" y="0"/>
                </a:lnTo>
                <a:lnTo>
                  <a:pt x="5658907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10" r="0" b="-11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-5400000">
            <a:off x="1526191" y="-1466126"/>
            <a:ext cx="2794159" cy="5846531"/>
          </a:xfrm>
          <a:custGeom>
            <a:avLst/>
            <a:gdLst/>
            <a:ahLst/>
            <a:cxnLst/>
            <a:rect r="r" b="b" t="t" l="l"/>
            <a:pathLst>
              <a:path h="5846531" w="2794159">
                <a:moveTo>
                  <a:pt x="0" y="5846531"/>
                </a:moveTo>
                <a:lnTo>
                  <a:pt x="2794159" y="5846531"/>
                </a:lnTo>
                <a:lnTo>
                  <a:pt x="2794159" y="0"/>
                </a:lnTo>
                <a:lnTo>
                  <a:pt x="0" y="0"/>
                </a:lnTo>
                <a:lnTo>
                  <a:pt x="0" y="584653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95" t="0" r="-95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-1453324" y="8044625"/>
            <a:ext cx="4527366" cy="1011107"/>
          </a:xfrm>
          <a:custGeom>
            <a:avLst/>
            <a:gdLst/>
            <a:ahLst/>
            <a:cxnLst/>
            <a:rect r="r" b="b" t="t" l="l"/>
            <a:pathLst>
              <a:path h="1011107" w="4527366">
                <a:moveTo>
                  <a:pt x="0" y="0"/>
                </a:moveTo>
                <a:lnTo>
                  <a:pt x="4527365" y="0"/>
                </a:lnTo>
                <a:lnTo>
                  <a:pt x="4527365" y="1011107"/>
                </a:lnTo>
                <a:lnTo>
                  <a:pt x="0" y="10111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325" r="0" b="-326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400000">
            <a:off x="15158276" y="1415224"/>
            <a:ext cx="4527366" cy="1011107"/>
          </a:xfrm>
          <a:custGeom>
            <a:avLst/>
            <a:gdLst/>
            <a:ahLst/>
            <a:cxnLst/>
            <a:rect r="r" b="b" t="t" l="l"/>
            <a:pathLst>
              <a:path h="1011107" w="4527366">
                <a:moveTo>
                  <a:pt x="0" y="0"/>
                </a:moveTo>
                <a:lnTo>
                  <a:pt x="4527365" y="0"/>
                </a:lnTo>
                <a:lnTo>
                  <a:pt x="4527365" y="1011108"/>
                </a:lnTo>
                <a:lnTo>
                  <a:pt x="0" y="10111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325" r="0" b="-326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273792" y="1051781"/>
            <a:ext cx="10478095" cy="2204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Impacto Esperado</a:t>
            </a:r>
          </a:p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Propósito específico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DAHSLYJ7KzI</dc:identifier>
  <dcterms:modified xsi:type="dcterms:W3CDTF">2011-08-01T06:04:30Z</dcterms:modified>
  <cp:revision>1</cp:revision>
  <dc:title>Formato_Presentaciones Ago-Dic2025.pptx</dc:title>
</cp:coreProperties>
</file>