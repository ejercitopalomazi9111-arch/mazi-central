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369" r:id="rId2"/>
    <p:sldId id="256" r:id="rId3"/>
    <p:sldId id="303" r:id="rId4"/>
    <p:sldId id="258" r:id="rId5"/>
    <p:sldId id="277" r:id="rId6"/>
    <p:sldId id="350" r:id="rId7"/>
    <p:sldId id="378" r:id="rId64"/>
    <p:sldId id="278" r:id="rId8"/>
    <p:sldId id="280" r:id="rId9"/>
    <p:sldId id="313" r:id="rId10"/>
    <p:sldId id="314" r:id="rId11"/>
    <p:sldId id="282" r:id="rId12"/>
    <p:sldId id="316" r:id="rId13"/>
    <p:sldId id="319" r:id="rId14"/>
    <p:sldId id="317" r:id="rId15"/>
    <p:sldId id="281" r:id="rId16"/>
    <p:sldId id="322" r:id="rId17"/>
    <p:sldId id="323" r:id="rId18"/>
    <p:sldId id="324" r:id="rId19"/>
    <p:sldId id="325" r:id="rId20"/>
    <p:sldId id="326" r:id="rId21"/>
    <p:sldId id="327" r:id="rId22"/>
    <p:sldId id="330" r:id="rId23"/>
    <p:sldId id="336" r:id="rId24"/>
    <p:sldId id="331" r:id="rId25"/>
    <p:sldId id="332" r:id="rId26"/>
    <p:sldId id="333" r:id="rId27"/>
    <p:sldId id="335" r:id="rId28"/>
    <p:sldId id="334" r:id="rId29"/>
    <p:sldId id="339" r:id="rId30"/>
    <p:sldId id="338" r:id="rId31"/>
    <p:sldId id="346" r:id="rId32"/>
    <p:sldId id="344" r:id="rId33"/>
    <p:sldId id="371" r:id="rId34"/>
    <p:sldId id="372" r:id="rId35"/>
    <p:sldId id="377" r:id="rId63"/>
    <p:sldId id="373" r:id="rId36"/>
    <p:sldId id="374" r:id="rId37"/>
    <p:sldId id="375" r:id="rId38"/>
    <p:sldId id="376" r:id="rId39"/>
    <p:sldId id="343" r:id="rId40"/>
    <p:sldId id="283" r:id="rId41"/>
    <p:sldId id="351" r:id="rId42"/>
    <p:sldId id="354" r:id="rId43"/>
    <p:sldId id="355" r:id="rId44"/>
    <p:sldId id="356" r:id="rId45"/>
    <p:sldId id="357" r:id="rId46"/>
    <p:sldId id="358" r:id="rId47"/>
    <p:sldId id="359" r:id="rId48"/>
    <p:sldId id="360" r:id="rId49"/>
    <p:sldId id="361" r:id="rId50"/>
    <p:sldId id="362" r:id="rId51"/>
    <p:sldId id="363" r:id="rId52"/>
    <p:sldId id="364" r:id="rId53"/>
    <p:sldId id="365" r:id="rId54"/>
    <p:sldId id="368" r:id="rId55"/>
    <p:sldId id="275" r:id="rId5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8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2BA"/>
    <a:srgbClr val="677F25"/>
    <a:srgbClr val="EAD9B0"/>
    <a:srgbClr val="775E1F"/>
    <a:srgbClr val="CAA036"/>
    <a:srgbClr val="F7EEC1"/>
    <a:srgbClr val="A85400"/>
    <a:srgbClr val="FFAD5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78" autoAdjust="0"/>
    <p:restoredTop sz="94660"/>
  </p:normalViewPr>
  <p:slideViewPr>
    <p:cSldViewPr>
      <p:cViewPr varScale="1">
        <p:scale>
          <a:sx n="65" d="100"/>
          <a:sy n="65" d="100"/>
        </p:scale>
        <p:origin x="1500" y="96"/>
      </p:cViewPr>
      <p:guideLst>
        <p:guide orient="horz" pos="2160"/>
        <p:guide pos="8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0.xml"/><Relationship Id="rId40" Type="http://schemas.openxmlformats.org/officeDocument/2006/relationships/slide" Target="slides/slide41.xml"/><Relationship Id="rId41" Type="http://schemas.openxmlformats.org/officeDocument/2006/relationships/slide" Target="slides/slide42.xml"/><Relationship Id="rId42" Type="http://schemas.openxmlformats.org/officeDocument/2006/relationships/slide" Target="slides/slide43.xml"/><Relationship Id="rId43" Type="http://schemas.openxmlformats.org/officeDocument/2006/relationships/slide" Target="slides/slide44.xml"/><Relationship Id="rId44" Type="http://schemas.openxmlformats.org/officeDocument/2006/relationships/slide" Target="slides/slide45.xml"/><Relationship Id="rId45" Type="http://schemas.openxmlformats.org/officeDocument/2006/relationships/slide" Target="slides/slide46.xml"/><Relationship Id="rId46" Type="http://schemas.openxmlformats.org/officeDocument/2006/relationships/slide" Target="slides/slide47.xml"/><Relationship Id="rId47" Type="http://schemas.openxmlformats.org/officeDocument/2006/relationships/slide" Target="slides/slide48.xml"/><Relationship Id="rId48" Type="http://schemas.openxmlformats.org/officeDocument/2006/relationships/slide" Target="slides/slide49.xml"/><Relationship Id="rId49" Type="http://schemas.openxmlformats.org/officeDocument/2006/relationships/slide" Target="slides/slide50.xml"/><Relationship Id="rId50" Type="http://schemas.openxmlformats.org/officeDocument/2006/relationships/slide" Target="slides/slide51.xml"/><Relationship Id="rId51" Type="http://schemas.openxmlformats.org/officeDocument/2006/relationships/slide" Target="slides/slide52.xml"/><Relationship Id="rId52" Type="http://schemas.openxmlformats.org/officeDocument/2006/relationships/slide" Target="slides/slide53.xml"/><Relationship Id="rId53" Type="http://schemas.openxmlformats.org/officeDocument/2006/relationships/slide" Target="slides/slide54.xml"/><Relationship Id="rId54" Type="http://schemas.openxmlformats.org/officeDocument/2006/relationships/slide" Target="slides/slide55.xml"/><Relationship Id="rId55" Type="http://schemas.openxmlformats.org/officeDocument/2006/relationships/slide" Target="slides/slide56.xml"/><Relationship Id="rId56" Type="http://schemas.openxmlformats.org/officeDocument/2006/relationships/slide" Target="slides/slide57.xml"/><Relationship Id="rId57" Type="http://schemas.openxmlformats.org/officeDocument/2006/relationships/notesMaster" Target="notesMasters/notesMaster1.xml"/><Relationship Id="rId58" Type="http://schemas.openxmlformats.org/officeDocument/2006/relationships/handoutMaster" Target="handoutMasters/handout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Relationship Id="rId63" Type="http://schemas.openxmlformats.org/officeDocument/2006/relationships/slide" Target="slides/slide36.xml"/><Relationship Id="rId64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169663F-1287-4766-89AD-353F57F6EE0C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08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49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E6305D9-3700-4542-ACFB-91DEA4BEA9B7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996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image" Target="../media/image10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bg bwMode="lt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0E2344-126E-4256-82B8-19D48603B835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74A26F-198F-4219-B0C6-13AA86A7853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86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3886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8C3E04-D14E-4C4E-99A6-2ACBBBB59023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FB289-D794-4567-A338-E717642223E5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771045-33F6-433A-B1DC-3C6D35F9620B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540F38-8705-4776-B7CA-3FF2C93E0025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110CE5-3836-4BAF-BC7F-ACFCFCB0184B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8EE23E-861B-42D6-9049-F0A197363AC8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CDEFAD-E8A7-43EB-919B-DF366737FFD8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72250" y="381000"/>
            <a:ext cx="2038350" cy="59436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5962650" cy="59436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02E63-7104-455C-8DE4-56386D3E8493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ítulo y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81000"/>
            <a:ext cx="6172200" cy="563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gráfico"/>
          <p:cNvSpPr>
            <a:spLocks noGrp="1"/>
          </p:cNvSpPr>
          <p:nvPr>
            <p:ph type="chart" idx="1"/>
          </p:nvPr>
        </p:nvSpPr>
        <p:spPr>
          <a:xfrm>
            <a:off x="685800" y="1295400"/>
            <a:ext cx="7924800" cy="5029200"/>
          </a:xfr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228600" y="6537325"/>
            <a:ext cx="2667000" cy="320675"/>
          </a:xfrm>
        </p:spPr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6096000" y="6477000"/>
            <a:ext cx="2895600" cy="298450"/>
          </a:xfrm>
        </p:spPr>
        <p:txBody>
          <a:bodyPr/>
          <a:lstStyle>
            <a:lvl1pPr>
              <a:defRPr/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657600" y="6542088"/>
            <a:ext cx="2133600" cy="292100"/>
          </a:xfrm>
        </p:spPr>
        <p:txBody>
          <a:bodyPr/>
          <a:lstStyle>
            <a:lvl1pPr>
              <a:defRPr/>
            </a:lvl1pPr>
          </a:lstStyle>
          <a:p>
            <a:fld id="{FD453C85-7C2F-4EEF-82FC-69B80ABE2D2B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s-MX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0A6C7-6392-4B3C-BBDA-86855E32CD6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81583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jpeg"/><Relationship Id="rId16" Type="http://schemas.openxmlformats.org/officeDocument/2006/relationships/image" Target="../media/image2.png"/><Relationship Id="rId17" Type="http://schemas.openxmlformats.org/officeDocument/2006/relationships/image" Target="../media/image3.png"/><Relationship Id="rId18" Type="http://schemas.openxmlformats.org/officeDocument/2006/relationships/image" Target="../media/image4.png"/><Relationship Id="rId19" Type="http://schemas.openxmlformats.org/officeDocument/2006/relationships/image" Target="../media/image5.png"/><Relationship Id="rId20" Type="http://schemas.openxmlformats.org/officeDocument/2006/relationships/image" Target="../media/image6.png"/><Relationship Id="rId21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ltGray">
          <a:xfrm>
            <a:off x="228600" y="6537325"/>
            <a:ext cx="2667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3300"/>
                </a:solidFill>
              </a:defRPr>
            </a:lvl1pPr>
          </a:lstStyle>
          <a:p>
            <a:endParaRPr lang="es-MX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ltGray">
          <a:xfrm>
            <a:off x="6096000" y="6477000"/>
            <a:ext cx="2895600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s-MX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ltGray">
          <a:xfrm>
            <a:off x="3657600" y="6542088"/>
            <a:ext cx="213360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3300"/>
                </a:solidFill>
              </a:defRPr>
            </a:lvl1pPr>
          </a:lstStyle>
          <a:p>
            <a:fld id="{8C8FB0DD-AB72-46DE-8000-73FA933A5FFD}" type="slidenum">
              <a:rPr lang="en-US"/>
              <a:pPr/>
              <a:t>‹Nº›</a:t>
            </a:fld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ltGray">
          <a:xfrm>
            <a:off x="685800" y="1295400"/>
            <a:ext cx="7924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381000"/>
            <a:ext cx="61722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sz="2800" b="1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L1n1" Type="http://schemas.openxmlformats.org/officeDocument/2006/relationships/slideLayout" Target="../slideLayouts/slideLayout12.xml"/><Relationship Id="rIdL1n2" Type="http://schemas.openxmlformats.org/officeDocument/2006/relationships/image" Target="../media/image62.jpg"/><Relationship Id="rIdL1n3" Type="http://schemas.openxmlformats.org/officeDocument/2006/relationships/image" Target="../media/image64.png"/><Relationship Id="rIdL1n4" Type="http://schemas.openxmlformats.org/officeDocument/2006/relationships/image" Target="../media/image65.png"/><Relationship Id="rIdL1n5" Type="http://schemas.openxmlformats.org/officeDocument/2006/relationships/image" Target="../media/image66.png"/><Relationship Id="rIdL1n6" Type="http://schemas.openxmlformats.org/officeDocument/2006/relationships/image" Target="../media/image67.png"/></Relationships>
</file>

<file path=ppt/slides/_rels/slide2.xml.rels><?xml version='1.0' encoding='UTF-8' standalone='yes'?>
<Relationships xmlns="http://schemas.openxmlformats.org/package/2006/relationships"><Relationship Id="rIdL2n1" Type="http://schemas.openxmlformats.org/officeDocument/2006/relationships/slideLayout" Target="../slideLayouts/slideLayout1.xml"/><Relationship Id="rIdL2n2" Type="http://schemas.openxmlformats.org/officeDocument/2006/relationships/image" Target="../media/image62.jpg"/><Relationship Id="rIdL2n3" Type="http://schemas.openxmlformats.org/officeDocument/2006/relationships/image" Target="../media/image63.png"/><Relationship Id="rIdL2n4" Type="http://schemas.openxmlformats.org/officeDocument/2006/relationships/image" Target="../media/image69.jpg"/></Relationships>
</file>

<file path=ppt/slides/_rels/slide3.xml.rels><?xml version='1.0' encoding='UTF-8' standalone='yes'?>
<Relationships xmlns="http://schemas.openxmlformats.org/package/2006/relationships"><Relationship Id="rIdL3n1" Type="http://schemas.openxmlformats.org/officeDocument/2006/relationships/slideLayout" Target="../slideLayouts/slideLayout6.xml"/><Relationship Id="rIdL3n2" Type="http://schemas.openxmlformats.org/officeDocument/2006/relationships/image" Target="../media/image11.jpeg"/><Relationship Id="rIdL3n3" Type="http://schemas.openxmlformats.org/officeDocument/2006/relationships/image" Target="../media/image62.jpg"/><Relationship Id="rIdL3n4" Type="http://schemas.openxmlformats.org/officeDocument/2006/relationships/image" Target="../media/image63.png"/></Relationships>
</file>

<file path=ppt/slides/_rels/slide4.xml.rels><?xml version='1.0' encoding='UTF-8' standalone='yes'?>
<Relationships xmlns="http://schemas.openxmlformats.org/package/2006/relationships"><Relationship Id="rIdL4n1" Type="http://schemas.openxmlformats.org/officeDocument/2006/relationships/slideLayout" Target="../slideLayouts/slideLayout2.xml"/><Relationship Id="rIdL4n2" Type="http://schemas.openxmlformats.org/officeDocument/2006/relationships/image" Target="../media/image62.jpg"/><Relationship Id="rIdL4n3" Type="http://schemas.openxmlformats.org/officeDocument/2006/relationships/image" Target="../media/image63.png"/></Relationships>
</file>

<file path=ppt/slides/_rels/slide5.xml.rels><?xml version='1.0' encoding='UTF-8' standalone='yes'?>
<Relationships xmlns="http://schemas.openxmlformats.org/package/2006/relationships"><Relationship Id="rIdL5n1" Type="http://schemas.openxmlformats.org/officeDocument/2006/relationships/slideLayout" Target="../slideLayouts/slideLayout2.xml"/><Relationship Id="rIdL5n2" Type="http://schemas.openxmlformats.org/officeDocument/2006/relationships/image" Target="../media/image62.jpg"/><Relationship Id="rIdL5n3" Type="http://schemas.openxmlformats.org/officeDocument/2006/relationships/image" Target="../media/image63.png"/></Relationships>
</file>

<file path=ppt/slides/_rels/slide6.xml.rels><?xml version='1.0' encoding='UTF-8' standalone='yes'?>
<Relationships xmlns="http://schemas.openxmlformats.org/package/2006/relationships"><Relationship Id="rIdL6n1" Type="http://schemas.openxmlformats.org/officeDocument/2006/relationships/slideLayout" Target="../slideLayouts/slideLayout2.xml"/><Relationship Id="rIdL6n2" Type="http://schemas.openxmlformats.org/officeDocument/2006/relationships/image" Target="../media/image62.jpg"/><Relationship Id="rIdL6n3" Type="http://schemas.openxmlformats.org/officeDocument/2006/relationships/image" Target="../media/image63.png"/><Relationship Id="rIdL6n4" Type="http://schemas.openxmlformats.org/officeDocument/2006/relationships/image" Target="../media/image96.jpg"/></Relationships>
</file>

<file path=ppt/slides/_rels/slide7.xml.rels><?xml version='1.0' encoding='UTF-8' standalone='yes'?>
<Relationships xmlns="http://schemas.openxmlformats.org/package/2006/relationships"><Relationship Id="rIdL7n1" Type="http://schemas.openxmlformats.org/officeDocument/2006/relationships/slideLayout" Target="../slideLayouts/slideLayout2.xml"/><Relationship Id="rIdL7n2" Type="http://schemas.openxmlformats.org/officeDocument/2006/relationships/image" Target="../media/image62.jpg"/><Relationship Id="rIdL7n3" Type="http://schemas.openxmlformats.org/officeDocument/2006/relationships/image" Target="../media/image63.png"/><Relationship Id="rIdL7n4" Type="http://schemas.openxmlformats.org/officeDocument/2006/relationships/image" Target="../media/image68.jpg"/></Relationships>
</file>

<file path=ppt/slides/_rels/slide8.xml.rels><?xml version='1.0' encoding='UTF-8' standalone='yes'?>
<Relationships xmlns="http://schemas.openxmlformats.org/package/2006/relationships"><Relationship Id="rIdL8n1" Type="http://schemas.openxmlformats.org/officeDocument/2006/relationships/slideLayout" Target="../slideLayouts/slideLayout6.xml"/><Relationship Id="rIdL8n2" Type="http://schemas.openxmlformats.org/officeDocument/2006/relationships/image" Target="../media/image62.jpg"/><Relationship Id="rIdL8n3" Type="http://schemas.openxmlformats.org/officeDocument/2006/relationships/image" Target="../media/image63.png"/></Relationships>
</file>

<file path=ppt/slides/_rels/slide9.xml.rels><?xml version='1.0' encoding='UTF-8' standalone='yes'?>
<Relationships xmlns="http://schemas.openxmlformats.org/package/2006/relationships"><Relationship Id="rIdL9n1" Type="http://schemas.openxmlformats.org/officeDocument/2006/relationships/slideLayout" Target="../slideLayouts/slideLayout2.xml"/><Relationship Id="rIdL9n2" Type="http://schemas.openxmlformats.org/officeDocument/2006/relationships/image" Target="../media/image12.emf"/><Relationship Id="rIdL9n3" Type="http://schemas.openxmlformats.org/officeDocument/2006/relationships/image" Target="../media/image13.png"/><Relationship Id="rIdL9n4" Type="http://schemas.openxmlformats.org/officeDocument/2006/relationships/image" Target="../media/image62.jpg"/><Relationship Id="rIdL9n5" Type="http://schemas.openxmlformats.org/officeDocument/2006/relationships/image" Target="../media/image63.png"/></Relationships>
</file>

<file path=ppt/slides/_rels/slide10.xml.rels><?xml version='1.0' encoding='UTF-8' standalone='yes'?>
<Relationships xmlns="http://schemas.openxmlformats.org/package/2006/relationships"><Relationship Id="rIdL10n1" Type="http://schemas.openxmlformats.org/officeDocument/2006/relationships/slideLayout" Target="../slideLayouts/slideLayout6.xml"/><Relationship Id="rIdL10n2" Type="http://schemas.openxmlformats.org/officeDocument/2006/relationships/image" Target="../media/image62.jpg"/><Relationship Id="rIdL10n3" Type="http://schemas.openxmlformats.org/officeDocument/2006/relationships/image" Target="../media/image63.png"/></Relationships>
</file>

<file path=ppt/slides/_rels/slide11.xml.rels><?xml version='1.0' encoding='UTF-8' standalone='yes'?>
<Relationships xmlns="http://schemas.openxmlformats.org/package/2006/relationships"><Relationship Id="rIdL11n1" Type="http://schemas.openxmlformats.org/officeDocument/2006/relationships/slideLayout" Target="../slideLayouts/slideLayout6.xml"/><Relationship Id="rIdL11n2" Type="http://schemas.openxmlformats.org/officeDocument/2006/relationships/image" Target="../media/image62.jpg"/><Relationship Id="rIdL11n3" Type="http://schemas.openxmlformats.org/officeDocument/2006/relationships/image" Target="../media/image63.png"/></Relationships>
</file>

<file path=ppt/slides/_rels/slide12.xml.rels><?xml version='1.0' encoding='UTF-8' standalone='yes'?>
<Relationships xmlns="http://schemas.openxmlformats.org/package/2006/relationships"><Relationship Id="rIdL12n1" Type="http://schemas.openxmlformats.org/officeDocument/2006/relationships/slideLayout" Target="../slideLayouts/slideLayout12.xml"/><Relationship Id="rIdL12n2" Type="http://schemas.openxmlformats.org/officeDocument/2006/relationships/image" Target="../media/image62.jpg"/><Relationship Id="rIdL12n3" Type="http://schemas.openxmlformats.org/officeDocument/2006/relationships/image" Target="../media/image63.png"/></Relationships>
</file>

<file path=ppt/slides/_rels/slide13.xml.rels><?xml version='1.0' encoding='UTF-8' standalone='yes'?>
<Relationships xmlns="http://schemas.openxmlformats.org/package/2006/relationships"><Relationship Id="rIdL13n1" Type="http://schemas.openxmlformats.org/officeDocument/2006/relationships/slideLayout" Target="../slideLayouts/slideLayout2.xml"/><Relationship Id="rIdL13n2" Type="http://schemas.openxmlformats.org/officeDocument/2006/relationships/image" Target="../media/image62.jpg"/><Relationship Id="rIdL13n3" Type="http://schemas.openxmlformats.org/officeDocument/2006/relationships/image" Target="../media/image63.png"/></Relationships>
</file>

<file path=ppt/slides/_rels/slide14.xml.rels><?xml version='1.0' encoding='UTF-8' standalone='yes'?>
<Relationships xmlns="http://schemas.openxmlformats.org/package/2006/relationships"><Relationship Id="rIdL14n1" Type="http://schemas.openxmlformats.org/officeDocument/2006/relationships/slideLayout" Target="../slideLayouts/slideLayout2.xml"/><Relationship Id="rIdL14n2" Type="http://schemas.openxmlformats.org/officeDocument/2006/relationships/image" Target="../media/image62.jpg"/><Relationship Id="rIdL14n3" Type="http://schemas.openxmlformats.org/officeDocument/2006/relationships/image" Target="../media/image63.png"/></Relationships>
</file>

<file path=ppt/slides/_rels/slide15.xml.rels><?xml version='1.0' encoding='UTF-8' standalone='yes'?>
<Relationships xmlns="http://schemas.openxmlformats.org/package/2006/relationships"><Relationship Id="rIdL15n1" Type="http://schemas.openxmlformats.org/officeDocument/2006/relationships/slideLayout" Target="../slideLayouts/slideLayout2.xml"/><Relationship Id="rIdL15n2" Type="http://schemas.openxmlformats.org/officeDocument/2006/relationships/image" Target="../media/image16.jpeg"/><Relationship Id="rIdL15n3" Type="http://schemas.openxmlformats.org/officeDocument/2006/relationships/image" Target="../media/image62.jpg"/><Relationship Id="rIdL15n4" Type="http://schemas.openxmlformats.org/officeDocument/2006/relationships/image" Target="../media/image63.png"/></Relationships>
</file>

<file path=ppt/slides/_rels/slide16.xml.rels><?xml version='1.0' encoding='UTF-8' standalone='yes'?>
<Relationships xmlns="http://schemas.openxmlformats.org/package/2006/relationships"><Relationship Id="rIdL16n1" Type="http://schemas.openxmlformats.org/officeDocument/2006/relationships/slideLayout" Target="../slideLayouts/slideLayout2.xml"/><Relationship Id="rIdL16n2" Type="http://schemas.openxmlformats.org/officeDocument/2006/relationships/image" Target="../media/image17.jpeg"/><Relationship Id="rIdL16n3" Type="http://schemas.openxmlformats.org/officeDocument/2006/relationships/image" Target="../media/image62.jpg"/><Relationship Id="rIdL16n4" Type="http://schemas.openxmlformats.org/officeDocument/2006/relationships/image" Target="../media/image63.png"/></Relationships>
</file>

<file path=ppt/slides/_rels/slide17.xml.rels><?xml version='1.0' encoding='UTF-8' standalone='yes'?>
<Relationships xmlns="http://schemas.openxmlformats.org/package/2006/relationships"><Relationship Id="rIdL17n1" Type="http://schemas.openxmlformats.org/officeDocument/2006/relationships/slideLayout" Target="../slideLayouts/slideLayout2.xml"/><Relationship Id="rIdL17n2" Type="http://schemas.openxmlformats.org/officeDocument/2006/relationships/image" Target="../media/image18.jpeg"/><Relationship Id="rIdL17n3" Type="http://schemas.openxmlformats.org/officeDocument/2006/relationships/image" Target="../media/image62.jpg"/><Relationship Id="rIdL17n4" Type="http://schemas.openxmlformats.org/officeDocument/2006/relationships/image" Target="../media/image63.png"/></Relationships>
</file>

<file path=ppt/slides/_rels/slide18.xml.rels><?xml version='1.0' encoding='UTF-8' standalone='yes'?>
<Relationships xmlns="http://schemas.openxmlformats.org/package/2006/relationships"><Relationship Id="rIdL18n1" Type="http://schemas.openxmlformats.org/officeDocument/2006/relationships/slideLayout" Target="../slideLayouts/slideLayout2.xml"/><Relationship Id="rIdL18n2" Type="http://schemas.openxmlformats.org/officeDocument/2006/relationships/image" Target="../media/image19.jpeg"/><Relationship Id="rIdL18n3" Type="http://schemas.openxmlformats.org/officeDocument/2006/relationships/image" Target="../media/image62.jpg"/><Relationship Id="rIdL18n4" Type="http://schemas.openxmlformats.org/officeDocument/2006/relationships/image" Target="../media/image63.png"/></Relationships>
</file>

<file path=ppt/slides/_rels/slide19.xml.rels><?xml version='1.0' encoding='UTF-8' standalone='yes'?>
<Relationships xmlns="http://schemas.openxmlformats.org/package/2006/relationships"><Relationship Id="rIdL19n1" Type="http://schemas.openxmlformats.org/officeDocument/2006/relationships/slideLayout" Target="../slideLayouts/slideLayout2.xml"/><Relationship Id="rIdL19n2" Type="http://schemas.openxmlformats.org/officeDocument/2006/relationships/image" Target="../media/image20.jpeg"/><Relationship Id="rIdL19n3" Type="http://schemas.openxmlformats.org/officeDocument/2006/relationships/image" Target="../media/image21.jpeg"/><Relationship Id="rIdL19n4" Type="http://schemas.openxmlformats.org/officeDocument/2006/relationships/image" Target="../media/image22.jpeg"/><Relationship Id="rIdL19n5" Type="http://schemas.openxmlformats.org/officeDocument/2006/relationships/image" Target="../media/image23.jpeg"/><Relationship Id="rIdL19n6" Type="http://schemas.openxmlformats.org/officeDocument/2006/relationships/image" Target="../media/image24.jpeg"/><Relationship Id="rIdL19n7" Type="http://schemas.openxmlformats.org/officeDocument/2006/relationships/image" Target="../media/image62.jpg"/><Relationship Id="rIdL19n8" Type="http://schemas.openxmlformats.org/officeDocument/2006/relationships/image" Target="../media/image63.png"/></Relationships>
</file>

<file path=ppt/slides/_rels/slide20.xml.rels><?xml version='1.0' encoding='UTF-8' standalone='yes'?>
<Relationships xmlns="http://schemas.openxmlformats.org/package/2006/relationships"><Relationship Id="rIdL20n1" Type="http://schemas.openxmlformats.org/officeDocument/2006/relationships/slideLayout" Target="../slideLayouts/slideLayout2.xml"/><Relationship Id="rIdL20n2" Type="http://schemas.openxmlformats.org/officeDocument/2006/relationships/image" Target="../media/image62.jpg"/><Relationship Id="rIdL20n3" Type="http://schemas.openxmlformats.org/officeDocument/2006/relationships/image" Target="../media/image63.png"/><Relationship Id="rIdL20n4" Type="http://schemas.openxmlformats.org/officeDocument/2006/relationships/image" Target="../media/image89.jpg"/></Relationships>
</file>

<file path=ppt/slides/_rels/slide21.xml.rels><?xml version='1.0' encoding='UTF-8' standalone='yes'?>
<Relationships xmlns="http://schemas.openxmlformats.org/package/2006/relationships"><Relationship Id="rIdL21n1" Type="http://schemas.openxmlformats.org/officeDocument/2006/relationships/slideLayout" Target="../slideLayouts/slideLayout2.xml"/><Relationship Id="rIdL21n2" Type="http://schemas.openxmlformats.org/officeDocument/2006/relationships/image" Target="../media/image62.jpg"/><Relationship Id="rIdL21n3" Type="http://schemas.openxmlformats.org/officeDocument/2006/relationships/image" Target="../media/image63.png"/><Relationship Id="rIdL21n4" Type="http://schemas.openxmlformats.org/officeDocument/2006/relationships/image" Target="../media/image95.jpg"/></Relationships>
</file>

<file path=ppt/slides/_rels/slide22.xml.rels><?xml version='1.0' encoding='UTF-8' standalone='yes'?>
<Relationships xmlns="http://schemas.openxmlformats.org/package/2006/relationships"><Relationship Id="rIdL22n1" Type="http://schemas.openxmlformats.org/officeDocument/2006/relationships/slideLayout" Target="../slideLayouts/slideLayout2.xml"/><Relationship Id="rIdL22n2" Type="http://schemas.openxmlformats.org/officeDocument/2006/relationships/image" Target="../media/image62.jpg"/><Relationship Id="rIdL22n3" Type="http://schemas.openxmlformats.org/officeDocument/2006/relationships/image" Target="../media/image63.png"/><Relationship Id="rIdL22n4" Type="http://schemas.openxmlformats.org/officeDocument/2006/relationships/image" Target="../media/image71.jpg"/></Relationships>
</file>

<file path=ppt/slides/_rels/slide23.xml.rels><?xml version='1.0' encoding='UTF-8' standalone='yes'?>
<Relationships xmlns="http://schemas.openxmlformats.org/package/2006/relationships"><Relationship Id="rIdL23n1" Type="http://schemas.openxmlformats.org/officeDocument/2006/relationships/slideLayout" Target="../slideLayouts/slideLayout2.xml"/><Relationship Id="rIdL23n2" Type="http://schemas.openxmlformats.org/officeDocument/2006/relationships/image" Target="../media/image62.jpg"/><Relationship Id="rIdL23n3" Type="http://schemas.openxmlformats.org/officeDocument/2006/relationships/image" Target="../media/image63.png"/></Relationships>
</file>

<file path=ppt/slides/_rels/slide24.xml.rels><?xml version='1.0' encoding='UTF-8' standalone='yes'?>
<Relationships xmlns="http://schemas.openxmlformats.org/package/2006/relationships"><Relationship Id="rIdL24n1" Type="http://schemas.openxmlformats.org/officeDocument/2006/relationships/slideLayout" Target="../slideLayouts/slideLayout2.xml"/><Relationship Id="rIdL24n2" Type="http://schemas.openxmlformats.org/officeDocument/2006/relationships/image" Target="../media/image62.jpg"/><Relationship Id="rIdL24n3" Type="http://schemas.openxmlformats.org/officeDocument/2006/relationships/image" Target="../media/image63.png"/></Relationships>
</file>

<file path=ppt/slides/_rels/slide25.xml.rels><?xml version='1.0' encoding='UTF-8' standalone='yes'?>
<Relationships xmlns="http://schemas.openxmlformats.org/package/2006/relationships"><Relationship Id="rIdL25n1" Type="http://schemas.openxmlformats.org/officeDocument/2006/relationships/slideLayout" Target="../slideLayouts/slideLayout2.xml"/><Relationship Id="rIdL25n2" Type="http://schemas.openxmlformats.org/officeDocument/2006/relationships/image" Target="../media/image32.jpeg"/><Relationship Id="rIdL25n3" Type="http://schemas.openxmlformats.org/officeDocument/2006/relationships/image" Target="../media/image62.jpg"/><Relationship Id="rIdL25n4" Type="http://schemas.openxmlformats.org/officeDocument/2006/relationships/image" Target="../media/image63.png"/></Relationships>
</file>

<file path=ppt/slides/_rels/slide26.xml.rels><?xml version='1.0' encoding='UTF-8' standalone='yes'?>
<Relationships xmlns="http://schemas.openxmlformats.org/package/2006/relationships"><Relationship Id="rIdL26n1" Type="http://schemas.openxmlformats.org/officeDocument/2006/relationships/slideLayout" Target="../slideLayouts/slideLayout2.xml"/><Relationship Id="rIdL26n2" Type="http://schemas.microsoft.com/office/2007/relationships/hdphoto" Target="../media/hdphoto1.wdp"/><Relationship Id="rIdL26n3" Type="http://schemas.openxmlformats.org/officeDocument/2006/relationships/image" Target="../media/image62.jpg"/><Relationship Id="rIdL26n4" Type="http://schemas.openxmlformats.org/officeDocument/2006/relationships/image" Target="../media/image63.png"/></Relationships>
</file>

<file path=ppt/slides/_rels/slide27.xml.rels><?xml version='1.0' encoding='UTF-8' standalone='yes'?>
<Relationships xmlns="http://schemas.openxmlformats.org/package/2006/relationships"><Relationship Id="rIdL27n1" Type="http://schemas.openxmlformats.org/officeDocument/2006/relationships/slideLayout" Target="../slideLayouts/slideLayout2.xml"/><Relationship Id="rIdL27n2" Type="http://schemas.openxmlformats.org/officeDocument/2006/relationships/image" Target="../media/image34.png"/><Relationship Id="rIdL27n3" Type="http://schemas.openxmlformats.org/officeDocument/2006/relationships/image" Target="../media/image62.jpg"/><Relationship Id="rIdL27n4" Type="http://schemas.openxmlformats.org/officeDocument/2006/relationships/image" Target="../media/image63.png"/></Relationships>
</file>

<file path=ppt/slides/_rels/slide28.xml.rels><?xml version='1.0' encoding='UTF-8' standalone='yes'?>
<Relationships xmlns="http://schemas.openxmlformats.org/package/2006/relationships"><Relationship Id="rIdL28n1" Type="http://schemas.openxmlformats.org/officeDocument/2006/relationships/slideLayout" Target="../slideLayouts/slideLayout2.xml"/><Relationship Id="rIdL28n2" Type="http://schemas.openxmlformats.org/officeDocument/2006/relationships/image" Target="../media/image62.jpg"/><Relationship Id="rIdL28n3" Type="http://schemas.openxmlformats.org/officeDocument/2006/relationships/image" Target="../media/image63.png"/></Relationships>
</file>

<file path=ppt/slides/_rels/slide29.xml.rels><?xml version='1.0' encoding='UTF-8' standalone='yes'?>
<Relationships xmlns="http://schemas.openxmlformats.org/package/2006/relationships"><Relationship Id="rIdL29n1" Type="http://schemas.openxmlformats.org/officeDocument/2006/relationships/slideLayout" Target="../slideLayouts/slideLayout2.xml"/><Relationship Id="rIdL29n2" Type="http://schemas.openxmlformats.org/officeDocument/2006/relationships/image" Target="../media/image62.jpg"/><Relationship Id="rIdL29n3" Type="http://schemas.openxmlformats.org/officeDocument/2006/relationships/image" Target="../media/image63.png"/><Relationship Id="rIdL29n4" Type="http://schemas.openxmlformats.org/officeDocument/2006/relationships/image" Target="../media/image94.jpg"/></Relationships>
</file>

<file path=ppt/slides/_rels/slide30.xml.rels><?xml version='1.0' encoding='UTF-8' standalone='yes'?>
<Relationships xmlns="http://schemas.openxmlformats.org/package/2006/relationships"><Relationship Id="rIdL30n1" Type="http://schemas.openxmlformats.org/officeDocument/2006/relationships/slideLayout" Target="../slideLayouts/slideLayout2.xml"/><Relationship Id="rIdL30n2" Type="http://schemas.openxmlformats.org/officeDocument/2006/relationships/image" Target="../media/image62.jpg"/><Relationship Id="rIdL30n3" Type="http://schemas.openxmlformats.org/officeDocument/2006/relationships/image" Target="../media/image63.png"/></Relationships>
</file>

<file path=ppt/slides/_rels/slide31.xml.rels><?xml version='1.0' encoding='UTF-8' standalone='yes'?>
<Relationships xmlns="http://schemas.openxmlformats.org/package/2006/relationships"><Relationship Id="rIdL31n1" Type="http://schemas.microsoft.com/office/2007/relationships/media" Target="../media/media1.mp4"/><Relationship Id="rIdL31n2" Type="http://schemas.openxmlformats.org/officeDocument/2006/relationships/video" Target="../media/media1.mp4"/><Relationship Id="rIdL31n3" Type="http://schemas.openxmlformats.org/officeDocument/2006/relationships/slideLayout" Target="../slideLayouts/slideLayout2.xml"/><Relationship Id="rIdL31n4" Type="http://schemas.openxmlformats.org/officeDocument/2006/relationships/image" Target="../media/image35.png"/><Relationship Id="rIdL31n5" Type="http://schemas.openxmlformats.org/officeDocument/2006/relationships/image" Target="../media/image62.jpg"/><Relationship Id="rIdL31n6" Type="http://schemas.openxmlformats.org/officeDocument/2006/relationships/image" Target="../media/image63.png"/></Relationships>
</file>

<file path=ppt/slides/_rels/slide32.xml.rels><?xml version='1.0' encoding='UTF-8' standalone='yes'?>
<Relationships xmlns="http://schemas.openxmlformats.org/package/2006/relationships"><Relationship Id="rIdL32n1" Type="http://schemas.openxmlformats.org/officeDocument/2006/relationships/slideLayout" Target="../slideLayouts/slideLayout2.xml"/><Relationship Id="rIdL32n2" Type="http://schemas.openxmlformats.org/officeDocument/2006/relationships/image" Target="../media/image62.jpg"/><Relationship Id="rIdL32n3" Type="http://schemas.openxmlformats.org/officeDocument/2006/relationships/image" Target="../media/image63.png"/><Relationship Id="rIdL32n4" Type="http://schemas.openxmlformats.org/officeDocument/2006/relationships/image" Target="../media/image77.jpg"/><Relationship Id="rIdL32n5" Type="http://schemas.openxmlformats.org/officeDocument/2006/relationships/image" Target="../media/image78.jpg"/><Relationship Id="rIdL32n6" Type="http://schemas.openxmlformats.org/officeDocument/2006/relationships/image" Target="../media/image79.jpg"/><Relationship Id="rIdL32n7" Type="http://schemas.openxmlformats.org/officeDocument/2006/relationships/image" Target="../media/image80.jpg"/><Relationship Id="rIdL32n8" Type="http://schemas.openxmlformats.org/officeDocument/2006/relationships/image" Target="../media/image81.jpg"/></Relationships>
</file>

<file path=ppt/slides/_rels/slide33.xml.rels><?xml version='1.0' encoding='UTF-8' standalone='yes'?>
<Relationships xmlns="http://schemas.openxmlformats.org/package/2006/relationships"><Relationship Id="rIdL33n1" Type="http://schemas.openxmlformats.org/officeDocument/2006/relationships/slideLayout" Target="../slideLayouts/slideLayout2.xml"/><Relationship Id="rIdL33n2" Type="http://schemas.openxmlformats.org/officeDocument/2006/relationships/image" Target="../media/image62.jpg"/><Relationship Id="rIdL33n3" Type="http://schemas.openxmlformats.org/officeDocument/2006/relationships/image" Target="../media/image63.png"/></Relationships>
</file>

<file path=ppt/slides/_rels/slide34.xml.rels><?xml version='1.0' encoding='UTF-8' standalone='yes'?>
<Relationships xmlns="http://schemas.openxmlformats.org/package/2006/relationships"><Relationship Id="rIdL34n1" Type="http://schemas.openxmlformats.org/officeDocument/2006/relationships/slideLayout" Target="../slideLayouts/slideLayout2.xml"/><Relationship Id="rIdL34n2" Type="http://schemas.openxmlformats.org/officeDocument/2006/relationships/image" Target="../media/image62.jpg"/><Relationship Id="rIdL34n3" Type="http://schemas.openxmlformats.org/officeDocument/2006/relationships/image" Target="../media/image63.png"/><Relationship Id="rIdL34n4" Type="http://schemas.openxmlformats.org/officeDocument/2006/relationships/image" Target="../media/image72.png"/></Relationships>
</file>

<file path=ppt/slides/_rels/slide35.xml.rels><?xml version='1.0' encoding='UTF-8' standalone='yes'?>
<Relationships xmlns="http://schemas.openxmlformats.org/package/2006/relationships"><Relationship Id="rIdL35n1" Type="http://schemas.openxmlformats.org/officeDocument/2006/relationships/slideLayout" Target="../slideLayouts/slideLayout2.xml"/><Relationship Id="rIdL35n2" Type="http://schemas.openxmlformats.org/officeDocument/2006/relationships/image" Target="../media/image62.jpg"/><Relationship Id="rIdL35n3" Type="http://schemas.openxmlformats.org/officeDocument/2006/relationships/image" Target="../media/image63.png"/><Relationship Id="rIdL35n4" Type="http://schemas.openxmlformats.org/officeDocument/2006/relationships/image" Target="../media/image92.jpg"/><Relationship Id="rIdL35n5" Type="http://schemas.openxmlformats.org/officeDocument/2006/relationships/image" Target="../media/image93.jpg"/><Relationship Id="rIdL35n6" Type="http://schemas.openxmlformats.org/officeDocument/2006/relationships/image" Target="../media/image94.jpg"/></Relationships>
</file>

<file path=ppt/slides/_rels/slide36.xml.rels><?xml version='1.0' encoding='UTF-8' standalone='yes'?>
<Relationships xmlns="http://schemas.openxmlformats.org/package/2006/relationships"><Relationship Id="rIdL36n1" Type="http://schemas.openxmlformats.org/officeDocument/2006/relationships/slideLayout" Target="../slideLayouts/slideLayout2.xml"/><Relationship Id="rIdL36n2" Type="http://schemas.openxmlformats.org/officeDocument/2006/relationships/image" Target="../media/image62.jpg"/><Relationship Id="rIdL36n3" Type="http://schemas.openxmlformats.org/officeDocument/2006/relationships/image" Target="../media/image63.png"/><Relationship Id="rIdL36n4" Type="http://schemas.openxmlformats.org/officeDocument/2006/relationships/image" Target="../media/image70.jpg"/></Relationships>
</file>

<file path=ppt/slides/_rels/slide37.xml.rels><?xml version='1.0' encoding='UTF-8' standalone='yes'?>
<Relationships xmlns="http://schemas.openxmlformats.org/package/2006/relationships"><Relationship Id="rIdL37n1" Type="http://schemas.openxmlformats.org/officeDocument/2006/relationships/slideLayout" Target="../slideLayouts/slideLayout2.xml"/><Relationship Id="rIdL37n2" Type="http://schemas.openxmlformats.org/officeDocument/2006/relationships/image" Target="../media/image62.jpg"/><Relationship Id="rIdL37n3" Type="http://schemas.openxmlformats.org/officeDocument/2006/relationships/image" Target="../media/image63.png"/><Relationship Id="rIdL37n4" Type="http://schemas.openxmlformats.org/officeDocument/2006/relationships/image" Target="../media/image73.jpg"/></Relationships>
</file>

<file path=ppt/slides/_rels/slide38.xml.rels><?xml version='1.0' encoding='UTF-8' standalone='yes'?>
<Relationships xmlns="http://schemas.openxmlformats.org/package/2006/relationships"><Relationship Id="rIdL38n1" Type="http://schemas.openxmlformats.org/officeDocument/2006/relationships/slideLayout" Target="../slideLayouts/slideLayout2.xml"/><Relationship Id="rIdL38n2" Type="http://schemas.openxmlformats.org/officeDocument/2006/relationships/image" Target="../media/image62.jpg"/><Relationship Id="rIdL38n3" Type="http://schemas.openxmlformats.org/officeDocument/2006/relationships/image" Target="../media/image63.png"/><Relationship Id="rIdL38n4" Type="http://schemas.openxmlformats.org/officeDocument/2006/relationships/image" Target="../media/image74.jpg"/></Relationships>
</file>

<file path=ppt/slides/_rels/slide39.xml.rels><?xml version='1.0' encoding='UTF-8' standalone='yes'?>
<Relationships xmlns="http://schemas.openxmlformats.org/package/2006/relationships"><Relationship Id="rIdL39n1" Type="http://schemas.openxmlformats.org/officeDocument/2006/relationships/slideLayout" Target="../slideLayouts/slideLayout2.xml"/><Relationship Id="rIdL39n2" Type="http://schemas.openxmlformats.org/officeDocument/2006/relationships/image" Target="../media/image62.jpg"/><Relationship Id="rIdL39n3" Type="http://schemas.openxmlformats.org/officeDocument/2006/relationships/image" Target="../media/image63.png"/><Relationship Id="rIdL39n4" Type="http://schemas.openxmlformats.org/officeDocument/2006/relationships/image" Target="../media/image75.jpg"/></Relationships>
</file>

<file path=ppt/slides/_rels/slide40.xml.rels><?xml version='1.0' encoding='UTF-8' standalone='yes'?>
<Relationships xmlns="http://schemas.openxmlformats.org/package/2006/relationships"><Relationship Id="rIdL40n1" Type="http://schemas.openxmlformats.org/officeDocument/2006/relationships/slideLayout" Target="../slideLayouts/slideLayout2.xml"/><Relationship Id="rIdL40n2" Type="http://schemas.openxmlformats.org/officeDocument/2006/relationships/image" Target="../media/image62.jpg"/><Relationship Id="rIdL40n3" Type="http://schemas.openxmlformats.org/officeDocument/2006/relationships/image" Target="../media/image63.png"/><Relationship Id="rIdL40n4" Type="http://schemas.openxmlformats.org/officeDocument/2006/relationships/image" Target="../media/image76.jpg"/></Relationships>
</file>

<file path=ppt/slides/_rels/slide41.xml.rels><?xml version='1.0' encoding='UTF-8' standalone='yes'?>
<Relationships xmlns="http://schemas.openxmlformats.org/package/2006/relationships"><Relationship Id="rIdL41n1" Type="http://schemas.openxmlformats.org/officeDocument/2006/relationships/slideLayout" Target="../slideLayouts/slideLayout2.xml"/><Relationship Id="rIdL41n2" Type="http://schemas.openxmlformats.org/officeDocument/2006/relationships/image" Target="../media/image62.jpg"/><Relationship Id="rIdL41n3" Type="http://schemas.openxmlformats.org/officeDocument/2006/relationships/image" Target="../media/image63.png"/></Relationships>
</file>

<file path=ppt/slides/_rels/slide42.xml.rels><?xml version='1.0' encoding='UTF-8' standalone='yes'?>
<Relationships xmlns="http://schemas.openxmlformats.org/package/2006/relationships"><Relationship Id="rIdL42n1" Type="http://schemas.openxmlformats.org/officeDocument/2006/relationships/slideLayout" Target="../slideLayouts/slideLayout2.xml"/><Relationship Id="rIdL42n2" Type="http://schemas.openxmlformats.org/officeDocument/2006/relationships/image" Target="../media/image62.jpg"/><Relationship Id="rIdL42n3" Type="http://schemas.openxmlformats.org/officeDocument/2006/relationships/image" Target="../media/image63.png"/><Relationship Id="rIdL42n4" Type="http://schemas.openxmlformats.org/officeDocument/2006/relationships/image" Target="../media/image68.jpg"/></Relationships>
</file>

<file path=ppt/slides/_rels/slide43.xml.rels><?xml version='1.0' encoding='UTF-8' standalone='yes'?>
<Relationships xmlns="http://schemas.openxmlformats.org/package/2006/relationships"><Relationship Id="rIdL43n1" Type="http://schemas.openxmlformats.org/officeDocument/2006/relationships/slideLayout" Target="../slideLayouts/slideLayout7.xml"/><Relationship Id="rIdL43n2" Type="http://schemas.microsoft.com/office/2007/relationships/hdphoto" Target="../media/hdphoto2.wdp"/><Relationship Id="rIdL43n3" Type="http://schemas.openxmlformats.org/officeDocument/2006/relationships/image" Target="../media/image62.jpg"/><Relationship Id="rIdL43n4" Type="http://schemas.openxmlformats.org/officeDocument/2006/relationships/image" Target="../media/image63.png"/></Relationships>
</file>

<file path=ppt/slides/_rels/slide44.xml.rels><?xml version='1.0' encoding='UTF-8' standalone='yes'?>
<Relationships xmlns="http://schemas.openxmlformats.org/package/2006/relationships"><Relationship Id="rIdL44n1" Type="http://schemas.openxmlformats.org/officeDocument/2006/relationships/slideLayout" Target="../slideLayouts/slideLayout2.xml"/><Relationship Id="rIdL44n2" Type="http://schemas.openxmlformats.org/officeDocument/2006/relationships/image" Target="../media/image47.jpeg"/><Relationship Id="rIdL44n3" Type="http://schemas.openxmlformats.org/officeDocument/2006/relationships/image" Target="../media/image62.jpg"/><Relationship Id="rIdL44n4" Type="http://schemas.openxmlformats.org/officeDocument/2006/relationships/image" Target="../media/image63.png"/></Relationships>
</file>

<file path=ppt/slides/_rels/slide45.xml.rels><?xml version='1.0' encoding='UTF-8' standalone='yes'?>
<Relationships xmlns="http://schemas.openxmlformats.org/package/2006/relationships"><Relationship Id="rIdL45n1" Type="http://schemas.openxmlformats.org/officeDocument/2006/relationships/slideLayout" Target="../slideLayouts/slideLayout2.xml"/><Relationship Id="rIdL45n2" Type="http://schemas.openxmlformats.org/officeDocument/2006/relationships/image" Target="../media/image49.jpeg"/><Relationship Id="rIdL45n3" Type="http://schemas.openxmlformats.org/officeDocument/2006/relationships/image" Target="../media/image62.jpg"/><Relationship Id="rIdL45n4" Type="http://schemas.openxmlformats.org/officeDocument/2006/relationships/image" Target="../media/image63.png"/><Relationship Id="rIdL45n5" Type="http://schemas.openxmlformats.org/officeDocument/2006/relationships/image" Target="../media/image91.jpg"/></Relationships>
</file>

<file path=ppt/slides/_rels/slide46.xml.rels><?xml version='1.0' encoding='UTF-8' standalone='yes'?>
<Relationships xmlns="http://schemas.openxmlformats.org/package/2006/relationships"><Relationship Id="rIdL46n1" Type="http://schemas.openxmlformats.org/officeDocument/2006/relationships/slideLayout" Target="../slideLayouts/slideLayout2.xml"/><Relationship Id="rIdL46n2" Type="http://schemas.openxmlformats.org/officeDocument/2006/relationships/image" Target="../media/image62.jpg"/><Relationship Id="rIdL46n3" Type="http://schemas.openxmlformats.org/officeDocument/2006/relationships/image" Target="../media/image63.png"/></Relationships>
</file>

<file path=ppt/slides/_rels/slide47.xml.rels><?xml version='1.0' encoding='UTF-8' standalone='yes'?>
<Relationships xmlns="http://schemas.openxmlformats.org/package/2006/relationships"><Relationship Id="rIdL47n1" Type="http://schemas.openxmlformats.org/officeDocument/2006/relationships/slideLayout" Target="../slideLayouts/slideLayout7.xml"/><Relationship Id="rIdL47n2" Type="http://schemas.openxmlformats.org/officeDocument/2006/relationships/image" Target="../media/image62.jpg"/><Relationship Id="rIdL47n3" Type="http://schemas.openxmlformats.org/officeDocument/2006/relationships/image" Target="../media/image63.png"/><Relationship Id="rIdL47n4" Type="http://schemas.openxmlformats.org/officeDocument/2006/relationships/image" Target="../media/image82.png"/><Relationship Id="rIdL47n5" Type="http://schemas.openxmlformats.org/officeDocument/2006/relationships/image" Target="../media/image83.png"/></Relationships>
</file>

<file path=ppt/slides/_rels/slide48.xml.rels><?xml version='1.0' encoding='UTF-8' standalone='yes'?>
<Relationships xmlns="http://schemas.openxmlformats.org/package/2006/relationships"><Relationship Id="rIdL48n1" Type="http://schemas.openxmlformats.org/officeDocument/2006/relationships/slideLayout" Target="../slideLayouts/slideLayout7.xml"/><Relationship Id="rIdL48n2" Type="http://schemas.openxmlformats.org/officeDocument/2006/relationships/image" Target="../media/image62.jpg"/><Relationship Id="rIdL48n3" Type="http://schemas.openxmlformats.org/officeDocument/2006/relationships/image" Target="../media/image63.png"/><Relationship Id="rIdL48n4" Type="http://schemas.openxmlformats.org/officeDocument/2006/relationships/image" Target="../media/image84.png"/><Relationship Id="rIdL48n5" Type="http://schemas.openxmlformats.org/officeDocument/2006/relationships/image" Target="../media/image85.png"/></Relationships>
</file>

<file path=ppt/slides/_rels/slide49.xml.rels><?xml version='1.0' encoding='UTF-8' standalone='yes'?>
<Relationships xmlns="http://schemas.openxmlformats.org/package/2006/relationships"><Relationship Id="rIdL49n1" Type="http://schemas.openxmlformats.org/officeDocument/2006/relationships/slideLayout" Target="../slideLayouts/slideLayout7.xml"/><Relationship Id="rIdL49n2" Type="http://schemas.openxmlformats.org/officeDocument/2006/relationships/image" Target="../media/image62.jpg"/><Relationship Id="rIdL49n3" Type="http://schemas.openxmlformats.org/officeDocument/2006/relationships/image" Target="../media/image63.png"/><Relationship Id="rIdL49n4" Type="http://schemas.openxmlformats.org/officeDocument/2006/relationships/image" Target="../media/image86.png"/><Relationship Id="rIdL49n5" Type="http://schemas.openxmlformats.org/officeDocument/2006/relationships/image" Target="../media/image87.png"/></Relationships>
</file>

<file path=ppt/slides/_rels/slide50.xml.rels><?xml version='1.0' encoding='UTF-8' standalone='yes'?>
<Relationships xmlns="http://schemas.openxmlformats.org/package/2006/relationships"><Relationship Id="rIdL50n1" Type="http://schemas.openxmlformats.org/officeDocument/2006/relationships/slideLayout" Target="../slideLayouts/slideLayout7.xml"/><Relationship Id="rIdL50n2" Type="http://schemas.openxmlformats.org/officeDocument/2006/relationships/image" Target="../media/image62.jpg"/><Relationship Id="rIdL50n3" Type="http://schemas.openxmlformats.org/officeDocument/2006/relationships/image" Target="../media/image63.png"/><Relationship Id="rIdL50n4" Type="http://schemas.openxmlformats.org/officeDocument/2006/relationships/image" Target="../media/image88.png"/></Relationships>
</file>

<file path=ppt/slides/_rels/slide51.xml.rels><?xml version='1.0' encoding='UTF-8' standalone='yes'?>
<Relationships xmlns="http://schemas.openxmlformats.org/package/2006/relationships"><Relationship Id="rIdL51n1" Type="http://schemas.openxmlformats.org/officeDocument/2006/relationships/slideLayout" Target="../slideLayouts/slideLayout2.xml"/><Relationship Id="rIdL51n2" Type="http://schemas.openxmlformats.org/officeDocument/2006/relationships/image" Target="../media/image57.jpeg"/><Relationship Id="rIdL51n3" Type="http://schemas.openxmlformats.org/officeDocument/2006/relationships/image" Target="../media/image62.jpg"/><Relationship Id="rIdL51n4" Type="http://schemas.openxmlformats.org/officeDocument/2006/relationships/image" Target="../media/image63.png"/></Relationships>
</file>

<file path=ppt/slides/_rels/slide52.xml.rels><?xml version='1.0' encoding='UTF-8' standalone='yes'?>
<Relationships xmlns="http://schemas.openxmlformats.org/package/2006/relationships"><Relationship Id="rIdL52n1" Type="http://schemas.openxmlformats.org/officeDocument/2006/relationships/slideLayout" Target="../slideLayouts/slideLayout2.xml"/><Relationship Id="rIdL52n2" Type="http://schemas.openxmlformats.org/officeDocument/2006/relationships/image" Target="../media/image58.jpeg"/><Relationship Id="rIdL52n3" Type="http://schemas.openxmlformats.org/officeDocument/2006/relationships/image" Target="../media/image62.jpg"/><Relationship Id="rIdL52n4" Type="http://schemas.openxmlformats.org/officeDocument/2006/relationships/image" Target="../media/image63.png"/></Relationships>
</file>

<file path=ppt/slides/_rels/slide53.xml.rels><?xml version='1.0' encoding='UTF-8' standalone='yes'?>
<Relationships xmlns="http://schemas.openxmlformats.org/package/2006/relationships"><Relationship Id="rIdL53n1" Type="http://schemas.openxmlformats.org/officeDocument/2006/relationships/slideLayout" Target="../slideLayouts/slideLayout2.xml"/><Relationship Id="rIdL53n2" Type="http://schemas.openxmlformats.org/officeDocument/2006/relationships/image" Target="../media/image59.jpeg"/><Relationship Id="rIdL53n3" Type="http://schemas.openxmlformats.org/officeDocument/2006/relationships/image" Target="../media/image62.jpg"/><Relationship Id="rIdL53n4" Type="http://schemas.openxmlformats.org/officeDocument/2006/relationships/image" Target="../media/image63.png"/></Relationships>
</file>

<file path=ppt/slides/_rels/slide54.xml.rels><?xml version='1.0' encoding='UTF-8' standalone='yes'?>
<Relationships xmlns="http://schemas.openxmlformats.org/package/2006/relationships"><Relationship Id="rIdL54n1" Type="http://schemas.openxmlformats.org/officeDocument/2006/relationships/slideLayout" Target="../slideLayouts/slideLayout13.xml"/><Relationship Id="rIdL54n2" Type="http://schemas.openxmlformats.org/officeDocument/2006/relationships/image" Target="../media/image62.jpg"/><Relationship Id="rIdL54n3" Type="http://schemas.openxmlformats.org/officeDocument/2006/relationships/image" Target="../media/image63.png"/></Relationships>
</file>

<file path=ppt/slides/_rels/slide55.xml.rels><?xml version='1.0' encoding='UTF-8' standalone='yes'?>
<Relationships xmlns="http://schemas.openxmlformats.org/package/2006/relationships"><Relationship Id="rIdL55n1" Type="http://schemas.openxmlformats.org/officeDocument/2006/relationships/slideLayout" Target="../slideLayouts/slideLayout6.xml"/><Relationship Id="rIdL55n2" Type="http://schemas.openxmlformats.org/officeDocument/2006/relationships/image" Target="../media/image60.jpeg"/><Relationship Id="rIdL55n3" Type="http://schemas.openxmlformats.org/officeDocument/2006/relationships/image" Target="../media/image62.jpg"/><Relationship Id="rIdL55n4" Type="http://schemas.openxmlformats.org/officeDocument/2006/relationships/image" Target="../media/image63.png"/></Relationships>
</file>

<file path=ppt/slides/_rels/slide56.xml.rels><?xml version='1.0' encoding='UTF-8' standalone='yes'?>
<Relationships xmlns="http://schemas.openxmlformats.org/package/2006/relationships"><Relationship Id="rIdL56n1" Type="http://schemas.openxmlformats.org/officeDocument/2006/relationships/slideLayout" Target="../slideLayouts/slideLayout6.xml"/><Relationship Id="rIdL56n2" Type="http://schemas.openxmlformats.org/officeDocument/2006/relationships/image" Target="../media/image61.jpeg"/><Relationship Id="rIdL56n3" Type="http://schemas.openxmlformats.org/officeDocument/2006/relationships/image" Target="../media/image62.jpg"/><Relationship Id="rIdL56n4" Type="http://schemas.openxmlformats.org/officeDocument/2006/relationships/image" Target="../media/image63.png"/></Relationships>
</file>

<file path=ppt/slides/_rels/slide57.xml.rels><?xml version='1.0' encoding='UTF-8' standalone='yes'?>
<Relationships xmlns="http://schemas.openxmlformats.org/package/2006/relationships"><Relationship Id="rIdL57n1" Type="http://schemas.openxmlformats.org/officeDocument/2006/relationships/slideLayout" Target="../slideLayouts/slideLayout1.xml"/><Relationship Id="rIdL57n2" Type="http://schemas.openxmlformats.org/officeDocument/2006/relationships/image" Target="../media/image62.jpg"/><Relationship Id="rIdL57n3" Type="http://schemas.openxmlformats.org/officeDocument/2006/relationships/image" Target="../media/image64.png"/><Relationship Id="rIdL57n4" Type="http://schemas.openxmlformats.org/officeDocument/2006/relationships/image" Target="../media/image65.png"/><Relationship Id="rIdL57n5" Type="http://schemas.openxmlformats.org/officeDocument/2006/relationships/image" Target="../media/image66.png"/><Relationship Id="rIdL57n6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0" y="1005840"/>
            <a:ext cx="35661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9.png"/>
          <p:cNvPicPr>
            <a:picLocks noChangeAspect="1"/>
          </p:cNvPicPr>
          <p:nvPr/>
        </p:nvPicPr>
        <p:blipFill>
          <a:blip r:embed="rIdL1n3"/>
          <a:stretch>
            <a:fillRect/>
          </a:stretch>
        </p:blipFill>
        <p:spPr>
          <a:xfrm>
            <a:off x="5395649" y="1234440"/>
            <a:ext cx="3016141" cy="3179668"/>
          </a:xfrm>
          <a:prstGeom prst="rect">
            <a:avLst/>
          </a:prstGeom>
        </p:spPr>
      </p:pic>
      <p:pic>
        <p:nvPicPr>
          <p:cNvPr id="4" name="Picture 3" descr="acc.png"/>
          <p:cNvPicPr>
            <a:picLocks noChangeAspect="1"/>
          </p:cNvPicPr>
          <p:nvPr/>
        </p:nvPicPr>
        <p:blipFill>
          <a:blip r:embed="rIdL1n4"/>
          <a:stretch>
            <a:fillRect/>
          </a:stretch>
        </p:blipFill>
        <p:spPr>
          <a:xfrm>
            <a:off x="4892040" y="4551427"/>
            <a:ext cx="3886200" cy="1302482"/>
          </a:xfrm>
          <a:prstGeom prst="rect">
            <a:avLst/>
          </a:prstGeom>
        </p:spPr>
      </p:pic>
      <p:sp>
        <p:nvSpPr>
          <p:cNvPr id="5" name="nuestro texto"/>
          <p:cNvSpPr txBox="1"/>
          <p:nvPr/>
        </p:nvSpPr>
        <p:spPr>
          <a:xfrm>
            <a:off x="502920" y="1371600"/>
            <a:ext cx="4251960" cy="23774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Brigada de Seguridad, Rescate y Salvamento Acuático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886200"/>
            <a:ext cx="822960" cy="64008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estro texto"/>
          <p:cNvSpPr txBox="1"/>
          <p:nvPr/>
        </p:nvSpPr>
        <p:spPr>
          <a:xfrm>
            <a:off x="502920" y="4069080"/>
            <a:ext cx="42519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C9D6EA"/>
                </a:solidFill>
                <a:latin typeface="Arial"/>
              </a:rPr>
              <a:t>Curso de brigada acuática</a:t>
            </a:r>
          </a:p>
        </p:txBody>
      </p:sp>
      <p:sp>
        <p:nvSpPr>
          <p:cNvPr id="8" name="nuestro texto"/>
          <p:cNvSpPr txBox="1"/>
          <p:nvPr/>
        </p:nvSpPr>
        <p:spPr>
          <a:xfrm>
            <a:off x="502920" y="5477256"/>
            <a:ext cx="2743200" cy="303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B8C7DE"/>
                </a:solidFill>
                <a:latin typeface="Arial"/>
              </a:rPr>
              <a:t>Con el apoyo de</a:t>
            </a:r>
          </a:p>
        </p:txBody>
      </p:sp>
      <p:pic>
        <p:nvPicPr>
          <p:cNvPr id="9" name="Picture 8" descr="placa-patrocinio.png"/>
          <p:cNvPicPr>
            <a:picLocks noChangeAspect="1"/>
          </p:cNvPicPr>
          <p:nvPr/>
        </p:nvPicPr>
        <p:blipFill>
          <a:blip r:embed="rIdL1n5"/>
          <a:stretch>
            <a:fillRect/>
          </a:stretch>
        </p:blipFill>
        <p:spPr>
          <a:xfrm>
            <a:off x="502920" y="5806440"/>
            <a:ext cx="1655521" cy="777240"/>
          </a:xfrm>
          <a:prstGeom prst="rect">
            <a:avLst/>
          </a:prstGeom>
        </p:spPr>
      </p:pic>
      <p:pic>
        <p:nvPicPr>
          <p:cNvPr id="10" name="Picture 9" descr="uniprotec.png"/>
          <p:cNvPicPr>
            <a:picLocks noChangeAspect="1"/>
          </p:cNvPicPr>
          <p:nvPr/>
        </p:nvPicPr>
        <p:blipFill>
          <a:blip r:embed="rIdL1n6"/>
          <a:stretch>
            <a:fillRect/>
          </a:stretch>
        </p:blipFill>
        <p:spPr>
          <a:xfrm>
            <a:off x="2387041" y="5946343"/>
            <a:ext cx="1861650" cy="49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660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 Título"/>
          <p:cNvSpPr txBox="1">
            <a:spLocks/>
          </p:cNvSpPr>
          <p:nvPr/>
        </p:nvSpPr>
        <p:spPr bwMode="black">
          <a:xfrm>
            <a:off x="457200" y="1828800"/>
            <a:ext cx="3657600" cy="3291840"/>
          </a:xfrm>
          <a:prstGeom prst="rect">
            <a:avLst/>
          </a:prstGeom>
          <a:noFill/>
        </p:spPr>
        <p:txBody>
          <a:bodyPr vert="horz" wrap="square" lIns="45720" tIns="0" rIns="4572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000" b="1" i="0" u="none" strike="noStrike" kern="0" cap="none" normalizeH="0" baseline="0" noProof="0" dirty="0">
                <a:solidFill>
                  <a:srgbClr val="F4F7FB"/>
                </a:solidFill>
                <a:uLnTx/>
                <a:uFillTx/>
                <a:latin typeface="Arial"/>
              </a:rPr>
              <a:t>BRIGADA DE: </a:t>
            </a:r>
            <a:r>
              <a:rPr kumimoji="0" lang="es-MX" sz="3000" b="1" i="0" u="none" strike="noStrike" kern="0" cap="none" normalizeH="0" baseline="0" noProof="0" dirty="0">
                <a:solidFill>
                  <a:srgbClr val="F4F7FB"/>
                </a:solidFill>
                <a:uLnTx/>
                <a:uFillTx/>
                <a:latin typeface="Arial"/>
              </a:rPr>
              <a:t>SEGURIDAD, SALVAMENTO Y RESCATE ACUATICO</a:t>
            </a:r>
          </a:p>
        </p:txBody>
      </p:sp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2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pic>
        <p:nvPicPr>
          <p:cNvPr id="10" name="Picture 9" descr="acuatica-portada.jpg"/>
          <p:cNvPicPr>
            <a:picLocks noChangeAspect="1"/>
          </p:cNvPicPr>
          <p:nvPr/>
        </p:nvPicPr>
        <p:blipFill>
          <a:blip r:embed="rIdL2n4"/>
          <a:srcRect l="21770" r="21770"/>
          <a:stretch>
            <a:fillRect/>
          </a:stretch>
        </p:blipFill>
        <p:spPr>
          <a:xfrm>
            <a:off x="4389120" y="1280160"/>
            <a:ext cx="4434840" cy="525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7" name="Line 3"/>
          <p:cNvSpPr>
            <a:spLocks noChangeShapeType="1"/>
          </p:cNvSpPr>
          <p:nvPr/>
        </p:nvSpPr>
        <p:spPr bwMode="auto">
          <a:xfrm flipV="1">
            <a:off x="2673350" y="3051175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MX" dirty="0"/>
          </a:p>
        </p:txBody>
      </p:sp>
      <p:sp>
        <p:nvSpPr>
          <p:cNvPr id="134148" name="Line 4"/>
          <p:cNvSpPr>
            <a:spLocks noChangeShapeType="1"/>
          </p:cNvSpPr>
          <p:nvPr/>
        </p:nvSpPr>
        <p:spPr bwMode="auto">
          <a:xfrm>
            <a:off x="2749550" y="3813175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MX" dirty="0"/>
          </a:p>
        </p:txBody>
      </p:sp>
      <p:sp>
        <p:nvSpPr>
          <p:cNvPr id="134149" name="Line 5"/>
          <p:cNvSpPr>
            <a:spLocks noChangeShapeType="1"/>
          </p:cNvSpPr>
          <p:nvPr/>
        </p:nvSpPr>
        <p:spPr bwMode="auto">
          <a:xfrm flipV="1">
            <a:off x="2673350" y="4498975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MX" dirty="0"/>
          </a:p>
        </p:txBody>
      </p:sp>
      <p:grpSp>
        <p:nvGrpSpPr>
          <p:cNvPr id="134150" name="Group 6"/>
          <p:cNvGrpSpPr>
            <a:grpSpLocks/>
          </p:cNvGrpSpPr>
          <p:nvPr/>
        </p:nvGrpSpPr>
        <p:grpSpPr bwMode="auto">
          <a:xfrm>
            <a:off x="2368550" y="2289175"/>
            <a:ext cx="990600" cy="381000"/>
            <a:chOff x="1492" y="1538"/>
            <a:chExt cx="624" cy="240"/>
          </a:xfrm>
        </p:grpSpPr>
        <p:sp>
          <p:nvSpPr>
            <p:cNvPr id="134151" name="Line 7"/>
            <p:cNvSpPr>
              <a:spLocks noChangeShapeType="1"/>
            </p:cNvSpPr>
            <p:nvPr/>
          </p:nvSpPr>
          <p:spPr bwMode="auto">
            <a:xfrm>
              <a:off x="1732" y="153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34152" name="Line 8"/>
            <p:cNvSpPr>
              <a:spLocks noChangeShapeType="1"/>
            </p:cNvSpPr>
            <p:nvPr/>
          </p:nvSpPr>
          <p:spPr bwMode="auto">
            <a:xfrm flipV="1">
              <a:off x="1492" y="1538"/>
              <a:ext cx="24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MX" dirty="0"/>
            </a:p>
          </p:txBody>
        </p:sp>
      </p:grpSp>
      <p:grpSp>
        <p:nvGrpSpPr>
          <p:cNvPr id="134153" name="Group 9"/>
          <p:cNvGrpSpPr>
            <a:grpSpLocks/>
          </p:cNvGrpSpPr>
          <p:nvPr/>
        </p:nvGrpSpPr>
        <p:grpSpPr bwMode="auto">
          <a:xfrm>
            <a:off x="2292350" y="4956175"/>
            <a:ext cx="1066800" cy="304800"/>
            <a:chOff x="1444" y="3218"/>
            <a:chExt cx="672" cy="192"/>
          </a:xfrm>
        </p:grpSpPr>
        <p:sp>
          <p:nvSpPr>
            <p:cNvPr id="134154" name="Line 10"/>
            <p:cNvSpPr>
              <a:spLocks noChangeShapeType="1"/>
            </p:cNvSpPr>
            <p:nvPr/>
          </p:nvSpPr>
          <p:spPr bwMode="auto">
            <a:xfrm>
              <a:off x="1732" y="341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34155" name="Line 11"/>
            <p:cNvSpPr>
              <a:spLocks noChangeShapeType="1"/>
            </p:cNvSpPr>
            <p:nvPr/>
          </p:nvSpPr>
          <p:spPr bwMode="auto">
            <a:xfrm>
              <a:off x="1444" y="3218"/>
              <a:ext cx="288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MX" dirty="0"/>
            </a:p>
          </p:txBody>
        </p:sp>
      </p:grpSp>
      <p:sp>
        <p:nvSpPr>
          <p:cNvPr id="134156" name="AutoShape 12"/>
          <p:cNvSpPr>
            <a:spLocks noChangeArrowheads="1"/>
          </p:cNvSpPr>
          <p:nvPr/>
        </p:nvSpPr>
        <p:spPr bwMode="gray">
          <a:xfrm>
            <a:off x="3352800" y="2060574"/>
            <a:ext cx="5105400" cy="57633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F8F8"/>
              </a:gs>
              <a:gs pos="100000">
                <a:srgbClr val="F8F8F8">
                  <a:gamma/>
                  <a:shade val="76471"/>
                  <a:invGamma/>
                </a:srgbClr>
              </a:gs>
            </a:gsLst>
            <a:lin ang="5400000" scaled="1"/>
          </a:gradFill>
          <a:ln w="19050">
            <a:solidFill>
              <a:srgbClr val="C0C0C0"/>
            </a:solidFill>
            <a:round/>
            <a:headEnd/>
            <a:tailEnd/>
          </a:ln>
          <a:effectLst>
            <a:outerShdw dist="53882" dir="2700000" algn="ctr" rotWithShape="0">
              <a:srgbClr val="292929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34157" name="Rectangle 13"/>
          <p:cNvSpPr>
            <a:spLocks noChangeArrowheads="1"/>
          </p:cNvSpPr>
          <p:nvPr/>
        </p:nvSpPr>
        <p:spPr bwMode="auto">
          <a:xfrm>
            <a:off x="3563888" y="2164794"/>
            <a:ext cx="4752528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algn="l" eaLnBrk="0" hangingPunct="0"/>
            <a:r>
              <a:rPr lang="es-MX" sz="2200" b="1" dirty="0">
                <a:solidFill>
                  <a:srgbClr val="000000"/>
                </a:solidFill>
              </a:rPr>
              <a:t>Principios Básicos</a:t>
            </a:r>
          </a:p>
        </p:txBody>
      </p:sp>
      <p:sp>
        <p:nvSpPr>
          <p:cNvPr id="134158" name="AutoShape 14"/>
          <p:cNvSpPr>
            <a:spLocks noChangeArrowheads="1"/>
          </p:cNvSpPr>
          <p:nvPr/>
        </p:nvSpPr>
        <p:spPr bwMode="gray">
          <a:xfrm>
            <a:off x="3352800" y="2809874"/>
            <a:ext cx="5105400" cy="6191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F8F8"/>
              </a:gs>
              <a:gs pos="100000">
                <a:srgbClr val="F8F8F8">
                  <a:gamma/>
                  <a:shade val="76471"/>
                  <a:invGamma/>
                </a:srgbClr>
              </a:gs>
            </a:gsLst>
            <a:lin ang="5400000" scaled="1"/>
          </a:gradFill>
          <a:ln w="19050">
            <a:solidFill>
              <a:srgbClr val="C0C0C0"/>
            </a:solidFill>
            <a:round/>
            <a:headEnd/>
            <a:tailEnd/>
          </a:ln>
          <a:effectLst>
            <a:outerShdw dist="53882" dir="2700000" algn="ctr" rotWithShape="0">
              <a:srgbClr val="292929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MX"/>
          </a:p>
        </p:txBody>
      </p:sp>
      <p:sp>
        <p:nvSpPr>
          <p:cNvPr id="134159" name="Rectangle 15"/>
          <p:cNvSpPr>
            <a:spLocks noChangeArrowheads="1"/>
          </p:cNvSpPr>
          <p:nvPr/>
        </p:nvSpPr>
        <p:spPr bwMode="auto">
          <a:xfrm>
            <a:off x="3563888" y="2956882"/>
            <a:ext cx="4752528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algn="l" eaLnBrk="0" hangingPunct="0"/>
            <a:r>
              <a:rPr lang="es-MX" sz="2200" b="1" dirty="0">
                <a:solidFill>
                  <a:srgbClr val="000000"/>
                </a:solidFill>
              </a:rPr>
              <a:t>Seguridad Acuática</a:t>
            </a:r>
          </a:p>
        </p:txBody>
      </p:sp>
      <p:sp>
        <p:nvSpPr>
          <p:cNvPr id="134160" name="AutoShape 16"/>
          <p:cNvSpPr>
            <a:spLocks noChangeArrowheads="1"/>
          </p:cNvSpPr>
          <p:nvPr/>
        </p:nvSpPr>
        <p:spPr bwMode="gray">
          <a:xfrm>
            <a:off x="3349625" y="3552824"/>
            <a:ext cx="5105400" cy="59625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F8F8"/>
              </a:gs>
              <a:gs pos="100000">
                <a:srgbClr val="F8F8F8">
                  <a:gamma/>
                  <a:shade val="76471"/>
                  <a:invGamma/>
                </a:srgbClr>
              </a:gs>
            </a:gsLst>
            <a:lin ang="5400000" scaled="1"/>
          </a:gradFill>
          <a:ln w="19050">
            <a:solidFill>
              <a:srgbClr val="C0C0C0"/>
            </a:solidFill>
            <a:round/>
            <a:headEnd/>
            <a:tailEnd/>
          </a:ln>
          <a:effectLst>
            <a:outerShdw dist="53882" dir="2700000" algn="ctr" rotWithShape="0">
              <a:srgbClr val="292929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MX"/>
          </a:p>
        </p:txBody>
      </p:sp>
      <p:sp>
        <p:nvSpPr>
          <p:cNvPr id="134162" name="Oval 18"/>
          <p:cNvSpPr>
            <a:spLocks noChangeArrowheads="1"/>
          </p:cNvSpPr>
          <p:nvPr/>
        </p:nvSpPr>
        <p:spPr bwMode="gray">
          <a:xfrm>
            <a:off x="3263900" y="2178050"/>
            <a:ext cx="228600" cy="228600"/>
          </a:xfrm>
          <a:prstGeom prst="ellipse">
            <a:avLst/>
          </a:prstGeom>
          <a:gradFill rotWithShape="1">
            <a:gsLst>
              <a:gs pos="0">
                <a:srgbClr val="E96E29"/>
              </a:gs>
              <a:gs pos="100000">
                <a:srgbClr val="E96E29">
                  <a:gamma/>
                  <a:shade val="66667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9050">
            <a:solidFill>
              <a:srgbClr val="FFFFFF"/>
            </a:solidFill>
            <a:round/>
            <a:headEnd/>
            <a:tailEnd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MX"/>
          </a:p>
        </p:txBody>
      </p:sp>
      <p:sp>
        <p:nvSpPr>
          <p:cNvPr id="134163" name="Oval 19"/>
          <p:cNvSpPr>
            <a:spLocks noChangeArrowheads="1"/>
          </p:cNvSpPr>
          <p:nvPr/>
        </p:nvSpPr>
        <p:spPr bwMode="gray">
          <a:xfrm>
            <a:off x="3276600" y="2943225"/>
            <a:ext cx="228600" cy="228600"/>
          </a:xfrm>
          <a:prstGeom prst="ellipse">
            <a:avLst/>
          </a:prstGeom>
          <a:gradFill rotWithShape="1">
            <a:gsLst>
              <a:gs pos="0">
                <a:srgbClr val="DCDC48"/>
              </a:gs>
              <a:gs pos="100000">
                <a:srgbClr val="DCDC48">
                  <a:gamma/>
                  <a:shade val="66667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9050">
            <a:solidFill>
              <a:srgbClr val="FFFFFF"/>
            </a:solidFill>
            <a:round/>
            <a:headEnd/>
            <a:tailEnd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MX"/>
          </a:p>
        </p:txBody>
      </p:sp>
      <p:sp>
        <p:nvSpPr>
          <p:cNvPr id="134164" name="Oval 20"/>
          <p:cNvSpPr>
            <a:spLocks noChangeArrowheads="1"/>
          </p:cNvSpPr>
          <p:nvPr/>
        </p:nvSpPr>
        <p:spPr bwMode="gray">
          <a:xfrm>
            <a:off x="3276600" y="3698875"/>
            <a:ext cx="228600" cy="228600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66667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19050">
            <a:solidFill>
              <a:srgbClr val="FFFFFF"/>
            </a:solidFill>
            <a:round/>
            <a:headEnd/>
            <a:tailEnd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MX"/>
          </a:p>
        </p:txBody>
      </p:sp>
      <p:sp>
        <p:nvSpPr>
          <p:cNvPr id="134165" name="AutoShape 21"/>
          <p:cNvSpPr>
            <a:spLocks noChangeArrowheads="1"/>
          </p:cNvSpPr>
          <p:nvPr/>
        </p:nvSpPr>
        <p:spPr bwMode="gray">
          <a:xfrm>
            <a:off x="3352800" y="4284662"/>
            <a:ext cx="5105400" cy="656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F8F8"/>
              </a:gs>
              <a:gs pos="100000">
                <a:srgbClr val="F8F8F8">
                  <a:gamma/>
                  <a:shade val="76471"/>
                  <a:invGamma/>
                </a:srgbClr>
              </a:gs>
            </a:gsLst>
            <a:lin ang="5400000" scaled="1"/>
          </a:gradFill>
          <a:ln w="19050">
            <a:solidFill>
              <a:srgbClr val="C0C0C0"/>
            </a:solidFill>
            <a:round/>
            <a:headEnd/>
            <a:tailEnd/>
          </a:ln>
          <a:effectLst>
            <a:outerShdw dist="53882" dir="2700000" algn="ctr" rotWithShape="0">
              <a:srgbClr val="292929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MX"/>
          </a:p>
        </p:txBody>
      </p:sp>
      <p:sp>
        <p:nvSpPr>
          <p:cNvPr id="134167" name="Oval 23"/>
          <p:cNvSpPr>
            <a:spLocks noChangeArrowheads="1"/>
          </p:cNvSpPr>
          <p:nvPr/>
        </p:nvSpPr>
        <p:spPr bwMode="gray">
          <a:xfrm>
            <a:off x="3263900" y="4422775"/>
            <a:ext cx="228600" cy="228600"/>
          </a:xfrm>
          <a:prstGeom prst="ellipse">
            <a:avLst/>
          </a:prstGeom>
          <a:gradFill rotWithShape="1">
            <a:gsLst>
              <a:gs pos="0">
                <a:srgbClr val="E96E29"/>
              </a:gs>
              <a:gs pos="100000">
                <a:srgbClr val="E96E29">
                  <a:gamma/>
                  <a:shade val="66667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9050">
            <a:solidFill>
              <a:srgbClr val="FFFFFF"/>
            </a:solidFill>
            <a:round/>
            <a:headEnd/>
            <a:tailEnd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MX"/>
          </a:p>
        </p:txBody>
      </p:sp>
      <p:sp>
        <p:nvSpPr>
          <p:cNvPr id="134168" name="AutoShape 24"/>
          <p:cNvSpPr>
            <a:spLocks noChangeArrowheads="1"/>
          </p:cNvSpPr>
          <p:nvPr/>
        </p:nvSpPr>
        <p:spPr bwMode="gray">
          <a:xfrm>
            <a:off x="3352800" y="5073650"/>
            <a:ext cx="5105400" cy="58759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F8F8"/>
              </a:gs>
              <a:gs pos="100000">
                <a:srgbClr val="F8F8F8">
                  <a:gamma/>
                  <a:shade val="76471"/>
                  <a:invGamma/>
                </a:srgbClr>
              </a:gs>
            </a:gsLst>
            <a:lin ang="5400000" scaled="1"/>
          </a:gradFill>
          <a:ln w="19050">
            <a:solidFill>
              <a:srgbClr val="C0C0C0"/>
            </a:solidFill>
            <a:round/>
            <a:headEnd/>
            <a:tailEnd/>
          </a:ln>
          <a:effectLst>
            <a:outerShdw dist="53882" dir="2700000" algn="ctr" rotWithShape="0">
              <a:srgbClr val="292929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MX"/>
          </a:p>
        </p:txBody>
      </p:sp>
      <p:sp>
        <p:nvSpPr>
          <p:cNvPr id="134170" name="Oval 26"/>
          <p:cNvSpPr>
            <a:spLocks noChangeArrowheads="1"/>
          </p:cNvSpPr>
          <p:nvPr/>
        </p:nvSpPr>
        <p:spPr bwMode="gray">
          <a:xfrm>
            <a:off x="3276600" y="5207000"/>
            <a:ext cx="228600" cy="228600"/>
          </a:xfrm>
          <a:prstGeom prst="ellipse">
            <a:avLst/>
          </a:prstGeom>
          <a:gradFill rotWithShape="1">
            <a:gsLst>
              <a:gs pos="0">
                <a:srgbClr val="DCDC48"/>
              </a:gs>
              <a:gs pos="100000">
                <a:srgbClr val="DCDC48">
                  <a:gamma/>
                  <a:shade val="66667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9050">
            <a:solidFill>
              <a:srgbClr val="FFFFFF"/>
            </a:solidFill>
            <a:round/>
            <a:headEnd/>
            <a:tailEnd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MX"/>
          </a:p>
        </p:txBody>
      </p:sp>
      <p:grpSp>
        <p:nvGrpSpPr>
          <p:cNvPr id="134171" name="Group 27"/>
          <p:cNvGrpSpPr>
            <a:grpSpLocks/>
          </p:cNvGrpSpPr>
          <p:nvPr/>
        </p:nvGrpSpPr>
        <p:grpSpPr bwMode="auto">
          <a:xfrm>
            <a:off x="304800" y="2436813"/>
            <a:ext cx="2673350" cy="2671762"/>
            <a:chOff x="192" y="1631"/>
            <a:chExt cx="1684" cy="1683"/>
          </a:xfrm>
        </p:grpSpPr>
        <p:sp>
          <p:nvSpPr>
            <p:cNvPr id="134172" name="Oval 28"/>
            <p:cNvSpPr>
              <a:spLocks noChangeArrowheads="1"/>
            </p:cNvSpPr>
            <p:nvPr/>
          </p:nvSpPr>
          <p:spPr bwMode="gray">
            <a:xfrm>
              <a:off x="192" y="1631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s-MX"/>
            </a:p>
          </p:txBody>
        </p:sp>
        <p:sp>
          <p:nvSpPr>
            <p:cNvPr id="134173" name="Oval 29"/>
            <p:cNvSpPr>
              <a:spLocks noChangeArrowheads="1"/>
            </p:cNvSpPr>
            <p:nvPr/>
          </p:nvSpPr>
          <p:spPr bwMode="gray">
            <a:xfrm>
              <a:off x="303" y="1740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s-MX"/>
            </a:p>
          </p:txBody>
        </p:sp>
        <p:sp>
          <p:nvSpPr>
            <p:cNvPr id="134174" name="Oval 30"/>
            <p:cNvSpPr>
              <a:spLocks noChangeArrowheads="1"/>
            </p:cNvSpPr>
            <p:nvPr/>
          </p:nvSpPr>
          <p:spPr bwMode="gray">
            <a:xfrm>
              <a:off x="288" y="1754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63529"/>
                    <a:invGamma/>
                  </a:schemeClr>
                </a:gs>
                <a:gs pos="100000">
                  <a:schemeClr val="hlink">
                    <a:alpha val="0"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s-MX"/>
            </a:p>
          </p:txBody>
        </p:sp>
        <p:sp>
          <p:nvSpPr>
            <p:cNvPr id="134175" name="Oval 31"/>
            <p:cNvSpPr>
              <a:spLocks noChangeArrowheads="1"/>
            </p:cNvSpPr>
            <p:nvPr/>
          </p:nvSpPr>
          <p:spPr bwMode="gray">
            <a:xfrm>
              <a:off x="375" y="1814"/>
              <a:ext cx="1317" cy="1316"/>
            </a:xfrm>
            <a:prstGeom prst="ellipse">
              <a:avLst/>
            </a:prstGeom>
            <a:solidFill>
              <a:srgbClr val="000000"/>
            </a:soli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s-MX"/>
            </a:p>
          </p:txBody>
        </p:sp>
        <p:sp>
          <p:nvSpPr>
            <p:cNvPr id="134176" name="Oval 32"/>
            <p:cNvSpPr>
              <a:spLocks noChangeArrowheads="1"/>
            </p:cNvSpPr>
            <p:nvPr/>
          </p:nvSpPr>
          <p:spPr bwMode="gray">
            <a:xfrm>
              <a:off x="396" y="1835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s-MX"/>
            </a:p>
          </p:txBody>
        </p:sp>
        <p:sp>
          <p:nvSpPr>
            <p:cNvPr id="134177" name="Oval 33"/>
            <p:cNvSpPr>
              <a:spLocks noChangeArrowheads="1"/>
            </p:cNvSpPr>
            <p:nvPr/>
          </p:nvSpPr>
          <p:spPr bwMode="gray">
            <a:xfrm>
              <a:off x="412" y="1842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s-MX"/>
            </a:p>
          </p:txBody>
        </p:sp>
        <p:sp>
          <p:nvSpPr>
            <p:cNvPr id="134178" name="Oval 34"/>
            <p:cNvSpPr>
              <a:spLocks noChangeArrowheads="1"/>
            </p:cNvSpPr>
            <p:nvPr/>
          </p:nvSpPr>
          <p:spPr bwMode="gray">
            <a:xfrm>
              <a:off x="426" y="1854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s-MX"/>
            </a:p>
          </p:txBody>
        </p:sp>
        <p:sp>
          <p:nvSpPr>
            <p:cNvPr id="134179" name="Oval 35"/>
            <p:cNvSpPr>
              <a:spLocks noChangeArrowheads="1"/>
            </p:cNvSpPr>
            <p:nvPr/>
          </p:nvSpPr>
          <p:spPr bwMode="gray">
            <a:xfrm>
              <a:off x="480" y="1872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s-MX"/>
            </a:p>
          </p:txBody>
        </p:sp>
      </p:grpSp>
      <p:sp>
        <p:nvSpPr>
          <p:cNvPr id="134186" name="Rectangle 42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4818888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kumimoji="0" lang="es-MX" i="0" u="none" strike="noStrike" kern="0" cap="none" spc="0" normalizeH="0" baseline="0" noProof="0" dirty="0" sz="2600" b="1">
                <a:solidFill>
                  <a:srgbClr val="F4F7FB"/>
                </a:solidFill>
                <a:uLnTx/>
                <a:uFillTx/>
                <a:latin typeface="Arial"/>
              </a:rPr>
              <a:t>CONTENIDO TEMATICO: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34188" name="Picture 44" descr="http://www.blogy.es/wp-content/uploads/2011/08/3174828.jpg"/>
          <p:cNvPicPr>
            <a:picLocks noChangeAspect="1" noChangeArrowheads="1"/>
          </p:cNvPicPr>
          <p:nvPr/>
        </p:nvPicPr>
        <p:blipFill>
          <a:blip r:embed="rIdL3n2" cstate="print"/>
          <a:srcRect/>
          <a:stretch>
            <a:fillRect/>
          </a:stretch>
        </p:blipFill>
        <p:spPr bwMode="auto">
          <a:xfrm>
            <a:off x="179514" y="2793001"/>
            <a:ext cx="3038398" cy="20206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0" name="Rectangle 15"/>
          <p:cNvSpPr>
            <a:spLocks noChangeArrowheads="1"/>
          </p:cNvSpPr>
          <p:nvPr/>
        </p:nvSpPr>
        <p:spPr bwMode="auto">
          <a:xfrm>
            <a:off x="3563888" y="3676962"/>
            <a:ext cx="4896544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algn="l" eaLnBrk="0" hangingPunct="0"/>
            <a:r>
              <a:rPr lang="es-MX" sz="2200" b="1" dirty="0">
                <a:solidFill>
                  <a:srgbClr val="000000"/>
                </a:solidFill>
              </a:rPr>
              <a:t>Reconocimiento de Victimas</a:t>
            </a:r>
          </a:p>
        </p:txBody>
      </p:sp>
      <p:sp>
        <p:nvSpPr>
          <p:cNvPr id="41" name="Rectangle 15"/>
          <p:cNvSpPr>
            <a:spLocks noChangeArrowheads="1"/>
          </p:cNvSpPr>
          <p:nvPr/>
        </p:nvSpPr>
        <p:spPr bwMode="auto">
          <a:xfrm>
            <a:off x="3563888" y="4397042"/>
            <a:ext cx="4824536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algn="l" eaLnBrk="0" hangingPunct="0"/>
            <a:r>
              <a:rPr lang="es-MX" sz="2200" b="1" dirty="0">
                <a:solidFill>
                  <a:srgbClr val="000000"/>
                </a:solidFill>
              </a:rPr>
              <a:t>Salvamento Acuático</a:t>
            </a:r>
          </a:p>
        </p:txBody>
      </p:sp>
      <p:sp>
        <p:nvSpPr>
          <p:cNvPr id="42" name="Rectangle 15"/>
          <p:cNvSpPr>
            <a:spLocks noChangeArrowheads="1"/>
          </p:cNvSpPr>
          <p:nvPr/>
        </p:nvSpPr>
        <p:spPr bwMode="auto">
          <a:xfrm>
            <a:off x="3563889" y="5013176"/>
            <a:ext cx="4896544" cy="832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algn="l" eaLnBrk="0" hangingPunct="0"/>
            <a:r>
              <a:rPr lang="es-MX" sz="2200" b="1" dirty="0">
                <a:solidFill>
                  <a:srgbClr val="000000"/>
                </a:solidFill>
              </a:rPr>
              <a:t>Técnicas y Procedimientos de Salvamento Acuático</a:t>
            </a:r>
          </a:p>
        </p:txBody>
      </p:sp>
      <p:pic>
        <p:nvPicPr>
          <p:cNvPr id="134189" name="Logos K-9 ACC" descr="placa-principal.png"/>
          <p:cNvPicPr>
            <a:picLocks noChangeAspect="1"/>
          </p:cNvPicPr>
          <p:nvPr/>
        </p:nvPicPr>
        <p:blipFill>
          <a:blip r:embed="rIdL3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7" grpId="0"/>
      <p:bldP spid="134159" grpId="0"/>
      <p:bldP spid="134186" grpId="0"/>
      <p:bldP spid="40" grpId="0"/>
      <p:bldP spid="41" grpId="0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 redondeado"/>
          <p:cNvSpPr/>
          <p:nvPr/>
        </p:nvSpPr>
        <p:spPr>
          <a:xfrm>
            <a:off x="827584" y="1700808"/>
            <a:ext cx="7776864" cy="424847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4818888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dirty="0" sz="2600" b="1" cap="none">
                <a:solidFill>
                  <a:srgbClr val="F4F7FB"/>
                </a:solidFill>
                <a:latin typeface="Arial"/>
              </a:rPr>
              <a:t>OBJETIVO GENERAL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088207" y="2060848"/>
            <a:ext cx="7255618" cy="422452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s-MX" sz="3200" b="1" dirty="0">
                <a:solidFill>
                  <a:srgbClr val="0B2545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Al termino del curso el participante comprenderá la importancia de conocer las técnicas básicas de seguridad, salvamento y rescate acuático para saber el momento en que se requiere activar el servicio de emergencia. </a:t>
            </a:r>
            <a:endParaRPr lang="es-MX" sz="3200" b="1" u="sng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glow rad="101600">
                  <a:schemeClr val="accent4">
                    <a:satMod val="175000"/>
                    <a:alpha val="40000"/>
                  </a:schemeClr>
                </a:glow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pic>
        <p:nvPicPr>
          <p:cNvPr id="41987" name="Logos K-9 ACC" descr="placa-principal.png"/>
          <p:cNvPicPr>
            <a:picLocks noChangeAspect="1"/>
          </p:cNvPicPr>
          <p:nvPr/>
        </p:nvPicPr>
        <p:blipFill>
          <a:blip r:embed="rIdL4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16" name="nuestro adorno"/>
          <p:cNvSpPr/>
          <p:nvPr/>
        </p:nvSpPr>
        <p:spPr>
          <a:xfrm>
            <a:off x="8549640" y="525780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15" name="nuestro adorno"/>
          <p:cNvSpPr/>
          <p:nvPr/>
        </p:nvSpPr>
        <p:spPr>
          <a:xfrm>
            <a:off x="8549640" y="498348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14" name="nuestro adorno"/>
          <p:cNvSpPr/>
          <p:nvPr/>
        </p:nvSpPr>
        <p:spPr>
          <a:xfrm>
            <a:off x="8549640" y="470916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13" name="nuestro adorno"/>
          <p:cNvSpPr/>
          <p:nvPr/>
        </p:nvSpPr>
        <p:spPr>
          <a:xfrm>
            <a:off x="8275320" y="525780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12" name="nuestro adorno"/>
          <p:cNvSpPr/>
          <p:nvPr/>
        </p:nvSpPr>
        <p:spPr>
          <a:xfrm>
            <a:off x="8275320" y="498348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11" name="nuestro adorno"/>
          <p:cNvSpPr/>
          <p:nvPr/>
        </p:nvSpPr>
        <p:spPr>
          <a:xfrm>
            <a:off x="8275320" y="470916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10" name="nuestro adorno"/>
          <p:cNvSpPr/>
          <p:nvPr/>
        </p:nvSpPr>
        <p:spPr>
          <a:xfrm>
            <a:off x="8001000" y="525780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09" name="nuestro adorno"/>
          <p:cNvSpPr/>
          <p:nvPr/>
        </p:nvSpPr>
        <p:spPr>
          <a:xfrm>
            <a:off x="8001000" y="498348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08" name="nuestro adorno"/>
          <p:cNvSpPr/>
          <p:nvPr/>
        </p:nvSpPr>
        <p:spPr>
          <a:xfrm>
            <a:off x="8001000" y="470916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07" name="nuestro adorno"/>
          <p:cNvSpPr/>
          <p:nvPr/>
        </p:nvSpPr>
        <p:spPr>
          <a:xfrm>
            <a:off x="7726680" y="525780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06" name="nuestro adorno"/>
          <p:cNvSpPr/>
          <p:nvPr/>
        </p:nvSpPr>
        <p:spPr>
          <a:xfrm>
            <a:off x="7726680" y="498348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05" name="nuestro adorno"/>
          <p:cNvSpPr/>
          <p:nvPr/>
        </p:nvSpPr>
        <p:spPr>
          <a:xfrm>
            <a:off x="7726680" y="470916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04" name="nuestro adorno"/>
          <p:cNvSpPr/>
          <p:nvPr/>
        </p:nvSpPr>
        <p:spPr>
          <a:xfrm>
            <a:off x="-1691640" y="5440680"/>
            <a:ext cx="3017520" cy="3017520"/>
          </a:xfrm>
          <a:prstGeom prst="donut">
            <a:avLst>
              <a:gd name="adj" fmla="val 7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03" name="nuestro adorno"/>
          <p:cNvSpPr/>
          <p:nvPr/>
        </p:nvSpPr>
        <p:spPr>
          <a:xfrm>
            <a:off x="-2103120" y="5029200"/>
            <a:ext cx="3840480" cy="3840480"/>
          </a:xfrm>
          <a:prstGeom prst="donut">
            <a:avLst>
              <a:gd name="adj" fmla="val 5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01" name="Rectangle 29"/>
          <p:cNvSpPr>
            <a:spLocks noGrp="1" noChangeArrowheads="1"/>
          </p:cNvSpPr>
          <p:nvPr>
            <p:ph type="title"/>
          </p:nvPr>
        </p:nvSpPr>
        <p:spPr>
          <a:xfrm>
            <a:off x="731520" y="2331720"/>
            <a:ext cx="7680960" cy="1737360"/>
          </a:xfrm>
          <a:noFill/>
        </p:spPr>
        <p:txBody>
          <a:bodyPr lIns="45720" rIns="45720" tIns="0" bIns="0" anchor="ctr" wrap="square">
            <a:noAutofit/>
          </a:bodyPr>
          <a:lstStyle/>
          <a:p>
            <a:pPr algn="ctr" indent="0" marL="0">
              <a:buNone/>
            </a:pPr>
            <a:r>
              <a:rPr lang="es-MX" sz="5400" dirty="0" b="1" cap="none">
                <a:solidFill>
                  <a:srgbClr val="F4F7FB"/>
                </a:solidFill>
                <a:latin typeface="Arial"/>
              </a:rPr>
              <a:t>Principios Básicos</a:t>
            </a:r>
          </a:p>
        </p:txBody>
      </p:sp>
      <p:pic>
        <p:nvPicPr>
          <p:cNvPr id="105502" name="Logos K-9 ACC" descr="placa-principal.png"/>
          <p:cNvPicPr>
            <a:picLocks noChangeAspect="1"/>
          </p:cNvPicPr>
          <p:nvPr/>
        </p:nvPicPr>
        <p:blipFill>
          <a:blip r:embed="rIdL5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0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6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nuestro adorno"/>
          <p:cNvSpPr/>
          <p:nvPr/>
        </p:nvSpPr>
        <p:spPr>
          <a:xfrm>
            <a:off x="-1691640" y="5440680"/>
            <a:ext cx="3017520" cy="3017520"/>
          </a:xfrm>
          <a:prstGeom prst="donut">
            <a:avLst>
              <a:gd name="adj" fmla="val 7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uestro adorno"/>
          <p:cNvSpPr/>
          <p:nvPr/>
        </p:nvSpPr>
        <p:spPr>
          <a:xfrm>
            <a:off x="-2103120" y="5029200"/>
            <a:ext cx="3840480" cy="3840480"/>
          </a:xfrm>
          <a:prstGeom prst="donut">
            <a:avLst>
              <a:gd name="adj" fmla="val 5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Logos K-9 ACC" descr="placa-principal.png"/>
          <p:cNvPicPr>
            <a:picLocks noChangeAspect="1"/>
          </p:cNvPicPr>
          <p:nvPr/>
        </p:nvPicPr>
        <p:blipFill>
          <a:blip r:embed="rIdL6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18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CARACTERÍSTICAS QUE DEBEN TENER LOS BRIGADISTAS.</a:t>
            </a:r>
          </a:p>
        </p:txBody>
      </p:sp>
      <p:sp>
        <p:nvSpPr>
          <p:cNvPr id="19" name="nuestro texto"/>
          <p:cNvSpPr txBox="1"/>
          <p:nvPr/>
        </p:nvSpPr>
        <p:spPr>
          <a:xfrm>
            <a:off x="457200" y="1371600"/>
            <a:ext cx="4297680" cy="5029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1. Vocación de servicio y actitud dinámica.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2. Resistencia psicológica, buena salud física y mental (No practicar la natación si se tiene deficiencia o lesión cardiaca, respiratoria o auditiva)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3. Con franca disposición de colaboración.</a:t>
            </a:r>
          </a:p>
        </p:txBody>
      </p:sp>
      <p:pic>
        <p:nvPicPr>
          <p:cNvPr id="20" name="Picture 19" descr="n-guardavidas.jpg"/>
          <p:cNvPicPr>
            <a:picLocks noChangeAspect="1"/>
          </p:cNvPicPr>
          <p:nvPr/>
        </p:nvPicPr>
        <p:blipFill>
          <a:blip r:embed="rIdL6n4"/>
          <a:stretch>
            <a:fillRect/>
          </a:stretch>
        </p:blipFill>
        <p:spPr>
          <a:xfrm>
            <a:off x="4937760" y="1422456"/>
            <a:ext cx="3794760" cy="4744608"/>
          </a:xfrm>
          <a:prstGeom prst="round2DiagRect">
            <a:avLst>
              <a:gd name="adj1" fmla="val 16000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1215471271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L7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2" name="nuestro adorno"/>
          <p:cNvSpPr/>
          <p:nvPr/>
        </p:nvSpPr>
        <p:spPr>
          <a:xfrm>
            <a:off x="-1691640" y="5440680"/>
            <a:ext cx="3017520" cy="3017520"/>
          </a:xfrm>
          <a:prstGeom prst="donut">
            <a:avLst>
              <a:gd name="adj" fmla="val 7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uestro adorno"/>
          <p:cNvSpPr/>
          <p:nvPr/>
        </p:nvSpPr>
        <p:spPr>
          <a:xfrm>
            <a:off x="-2103120" y="5029200"/>
            <a:ext cx="3840480" cy="3840480"/>
          </a:xfrm>
          <a:prstGeom prst="donut">
            <a:avLst>
              <a:gd name="adj" fmla="val 5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Logos K-9 ACC" descr="placa-principal.png"/>
          <p:cNvPicPr>
            <a:picLocks noChangeAspect="1"/>
          </p:cNvPicPr>
          <p:nvPr/>
        </p:nvPicPr>
        <p:blipFill>
          <a:blip r:embed="rIdL7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18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CARACTERÍSTICAS QUE DEBEN TENER LOS BRIGADISTAS. (continuación)</a:t>
            </a:r>
          </a:p>
        </p:txBody>
      </p:sp>
      <p:sp>
        <p:nvSpPr>
          <p:cNvPr id="19" name="nuestro texto"/>
          <p:cNvSpPr txBox="1"/>
          <p:nvPr/>
        </p:nvSpPr>
        <p:spPr>
          <a:xfrm>
            <a:off x="457200" y="1371600"/>
            <a:ext cx="4297680" cy="5029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4. De ser posible con don de mando y liderazgo.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5. De ser posible con conocimientos previos en la materia.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6. Con capacidad de toma de decisiones.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7. Con criterio para resolver problemas.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8. Con responsabilidad, iniciativa, formalidad, aplomo y cordialidad.</a:t>
            </a:r>
          </a:p>
        </p:txBody>
      </p:sp>
      <p:pic>
        <p:nvPicPr>
          <p:cNvPr id="20" name="Picture 19" descr="torre.jpg"/>
          <p:cNvPicPr>
            <a:picLocks noChangeAspect="1"/>
          </p:cNvPicPr>
          <p:nvPr/>
        </p:nvPicPr>
        <p:blipFill>
          <a:blip r:embed="rIdL7n4"/>
          <a:stretch>
            <a:fillRect/>
          </a:stretch>
        </p:blipFill>
        <p:spPr>
          <a:xfrm>
            <a:off x="4937760" y="2538487"/>
            <a:ext cx="3794760" cy="2512546"/>
          </a:xfrm>
          <a:prstGeom prst="round2DiagRect">
            <a:avLst>
              <a:gd name="adj1" fmla="val 16000"/>
              <a:gd name="adj2" fmla="val 0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8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23" name="Rectangle 27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4818888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2600" dirty="0" b="1" cap="none">
                <a:solidFill>
                  <a:srgbClr val="F4F7FB"/>
                </a:solidFill>
                <a:latin typeface="Arial"/>
              </a:rPr>
              <a:t>PRIORIDADES DEL BRIGADISTA </a:t>
            </a:r>
            <a:endParaRPr lang="es-MX" sz="2800" dirty="0"/>
          </a:p>
        </p:txBody>
      </p:sp>
      <p:sp>
        <p:nvSpPr>
          <p:cNvPr id="27" name="Rectangle 9"/>
          <p:cNvSpPr txBox="1">
            <a:spLocks noChangeArrowheads="1"/>
          </p:cNvSpPr>
          <p:nvPr/>
        </p:nvSpPr>
        <p:spPr>
          <a:xfrm>
            <a:off x="395536" y="1772816"/>
            <a:ext cx="8229600" cy="482453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Clr>
                <a:srgbClr val="F2C14E"/>
              </a:buClr>
              <a:buFont typeface="Wingdings" pitchFamily="2" charset="2"/>
              <a:buChar char="q"/>
              <a:defRPr/>
            </a:pPr>
            <a:r>
              <a:rPr lang="es-ES" sz="2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66" charset="0"/>
              </a:rPr>
              <a:t>En el caso especifico de esta brigada. “PRIMERO TU SEGURIDAD Y DESPUES LA DEL PACIENTE”.</a:t>
            </a:r>
          </a:p>
          <a:p>
            <a:pPr marL="342900" indent="-342900" algn="l">
              <a:buClr>
                <a:srgbClr val="F2C14E"/>
              </a:buClr>
              <a:buFont typeface="Wingdings" pitchFamily="2" charset="2"/>
              <a:buChar char="q"/>
              <a:defRPr/>
            </a:pPr>
            <a:r>
              <a:rPr lang="es-ES" sz="23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66" charset="0"/>
              </a:rPr>
              <a:t>Accionar</a:t>
            </a:r>
            <a:r>
              <a:rPr lang="es-ES" sz="2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66" charset="0"/>
              </a:rPr>
              <a:t> de inmediato el sistema de alarma “VOZ DE ALARMA” en caso de presentarse una emergencia.</a:t>
            </a:r>
          </a:p>
          <a:p>
            <a:pPr algn="l">
              <a:buClr>
                <a:srgbClr val="F2C14E"/>
              </a:buClr>
              <a:defRPr/>
            </a:pPr>
            <a:endParaRPr lang="es-ES" sz="115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101600">
                  <a:schemeClr val="accent4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 pitchFamily="66" charset="0"/>
            </a:endParaRPr>
          </a:p>
          <a:p>
            <a:pPr marL="342900" indent="-342900" algn="l">
              <a:lnSpc>
                <a:spcPct val="150000"/>
              </a:lnSpc>
              <a:buClr>
                <a:srgbClr val="F2C14E"/>
              </a:buClr>
              <a:buFont typeface="Wingdings" pitchFamily="2" charset="2"/>
              <a:buChar char="q"/>
              <a:defRPr/>
            </a:pPr>
            <a:r>
              <a:rPr lang="es-ES" sz="2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66" charset="0"/>
              </a:rPr>
              <a:t>Brindar la atención primaria a las personas afectadas.</a:t>
            </a:r>
          </a:p>
          <a:p>
            <a:pPr algn="l">
              <a:lnSpc>
                <a:spcPct val="150000"/>
              </a:lnSpc>
              <a:buClr>
                <a:srgbClr val="F2C14E"/>
              </a:buClr>
              <a:defRPr/>
            </a:pPr>
            <a:endParaRPr lang="es-ES" sz="115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101600">
                  <a:schemeClr val="accent4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 pitchFamily="66" charset="0"/>
            </a:endParaRPr>
          </a:p>
          <a:p>
            <a:pPr marL="342900" indent="-342900" algn="l">
              <a:buClr>
                <a:srgbClr val="F2C14E"/>
              </a:buClr>
              <a:buFont typeface="Wingdings" pitchFamily="2" charset="2"/>
              <a:buChar char="q"/>
              <a:defRPr/>
            </a:pPr>
            <a:r>
              <a:rPr lang="es-ES" sz="23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66" charset="0"/>
              </a:rPr>
              <a:t>Utilizar su distintivo siempre para que sea identificado por el demás personal.</a:t>
            </a:r>
          </a:p>
          <a:p>
            <a:pPr marL="342900" indent="-342900" algn="l">
              <a:lnSpc>
                <a:spcPct val="150000"/>
              </a:lnSpc>
              <a:buClr>
                <a:srgbClr val="F2C14E"/>
              </a:buClr>
              <a:buFont typeface="Wingdings" pitchFamily="2" charset="2"/>
              <a:buChar char="q"/>
              <a:defRPr/>
            </a:pPr>
            <a:endParaRPr lang="es-ES" sz="115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101600">
                  <a:schemeClr val="accent4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 pitchFamily="66" charset="0"/>
            </a:endParaRPr>
          </a:p>
        </p:txBody>
      </p:sp>
      <p:pic>
        <p:nvPicPr>
          <p:cNvPr id="106524" name="Logos K-9 ACC" descr="placa-principal.png"/>
          <p:cNvPicPr>
            <a:picLocks noChangeAspect="1"/>
          </p:cNvPicPr>
          <p:nvPr/>
        </p:nvPicPr>
        <p:blipFill>
          <a:blip r:embed="rIdL8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23" grpId="0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9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nuestro caja AutoShape 2"/>
          <p:cNvSpPr>
            <a:spLocks noChangeArrowheads="1"/>
          </p:cNvSpPr>
          <p:nvPr/>
        </p:nvSpPr>
        <p:spPr bwMode="ltGray">
          <a:xfrm>
            <a:off x="4264024" y="2570466"/>
            <a:ext cx="4412431" cy="1066800"/>
          </a:xfrm>
          <a:prstGeom prst="roundRect">
            <a:avLst>
              <a:gd name="adj" fmla="val 11921"/>
            </a:avLst>
          </a:prstGeom>
          <a:gradFill rotWithShape="1">
            <a:gsLst>
              <a:gs pos="0">
                <a:schemeClr val="accent1">
                  <a:gamma/>
                  <a:shade val="82353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25400">
            <a:solidFill>
              <a:srgbClr val="FEFFFF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MX"/>
          </a:p>
        </p:txBody>
      </p:sp>
      <p:sp>
        <p:nvSpPr>
          <p:cNvPr id="108547" name="nuestro caja AutoShape 3"/>
          <p:cNvSpPr>
            <a:spLocks noChangeArrowheads="1"/>
          </p:cNvSpPr>
          <p:nvPr/>
        </p:nvSpPr>
        <p:spPr bwMode="ltGray">
          <a:xfrm>
            <a:off x="4267200" y="3897616"/>
            <a:ext cx="4481264" cy="1066800"/>
          </a:xfrm>
          <a:prstGeom prst="roundRect">
            <a:avLst>
              <a:gd name="adj" fmla="val 11921"/>
            </a:avLst>
          </a:prstGeom>
          <a:gradFill rotWithShape="1">
            <a:gsLst>
              <a:gs pos="0">
                <a:schemeClr val="accent2">
                  <a:gamma/>
                  <a:shade val="82353"/>
                  <a:invGamma/>
                </a:schemeClr>
              </a:gs>
              <a:gs pos="100000">
                <a:schemeClr val="accent2"/>
              </a:gs>
            </a:gsLst>
            <a:lin ang="5400000" scaled="1"/>
          </a:gradFill>
          <a:ln w="25400">
            <a:solidFill>
              <a:srgbClr val="FEFFFF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MX"/>
          </a:p>
        </p:txBody>
      </p:sp>
      <p:sp>
        <p:nvSpPr>
          <p:cNvPr id="108548" name="nuestro caja AutoShape 4"/>
          <p:cNvSpPr>
            <a:spLocks noChangeArrowheads="1"/>
          </p:cNvSpPr>
          <p:nvPr/>
        </p:nvSpPr>
        <p:spPr bwMode="ltGray">
          <a:xfrm>
            <a:off x="4270374" y="5227941"/>
            <a:ext cx="4466889" cy="1066800"/>
          </a:xfrm>
          <a:prstGeom prst="roundRect">
            <a:avLst>
              <a:gd name="adj" fmla="val 11921"/>
            </a:avLst>
          </a:prstGeom>
          <a:gradFill rotWithShape="1">
            <a:gsLst>
              <a:gs pos="0">
                <a:schemeClr val="folHlink">
                  <a:gamma/>
                  <a:shade val="82353"/>
                  <a:invGamma/>
                </a:schemeClr>
              </a:gs>
              <a:gs pos="100000">
                <a:schemeClr val="folHlink"/>
              </a:gs>
            </a:gsLst>
            <a:lin ang="5400000" scaled="1"/>
          </a:gradFill>
          <a:ln w="25400">
            <a:solidFill>
              <a:srgbClr val="FEFFFF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MX"/>
          </a:p>
        </p:txBody>
      </p:sp>
      <p:pic>
        <p:nvPicPr>
          <p:cNvPr id="108549" name="nuestro caja Picture 5" descr="Picture4"/>
          <p:cNvPicPr>
            <a:picLocks noChangeAspect="1" noChangeArrowheads="1"/>
          </p:cNvPicPr>
          <p:nvPr/>
        </p:nvPicPr>
        <p:blipFill>
          <a:blip r:embed="rIdL9n2" cstate="print"/>
          <a:srcRect/>
          <a:stretch>
            <a:fillRect/>
          </a:stretch>
        </p:blipFill>
        <p:spPr bwMode="auto">
          <a:xfrm>
            <a:off x="4497397" y="2621266"/>
            <a:ext cx="610775" cy="673100"/>
          </a:xfrm>
          <a:prstGeom prst="rect">
            <a:avLst/>
          </a:prstGeom>
          <a:noFill/>
        </p:spPr>
      </p:pic>
      <p:pic>
        <p:nvPicPr>
          <p:cNvPr id="108550" name="nuestro caja Picture 6" descr="Picture4"/>
          <p:cNvPicPr>
            <a:picLocks noChangeAspect="1" noChangeArrowheads="1"/>
          </p:cNvPicPr>
          <p:nvPr/>
        </p:nvPicPr>
        <p:blipFill>
          <a:blip r:embed="rIdL9n2" cstate="print"/>
          <a:srcRect/>
          <a:stretch>
            <a:fillRect/>
          </a:stretch>
        </p:blipFill>
        <p:spPr bwMode="auto">
          <a:xfrm>
            <a:off x="4312380" y="3951591"/>
            <a:ext cx="991108" cy="1092242"/>
          </a:xfrm>
          <a:prstGeom prst="rect">
            <a:avLst/>
          </a:prstGeom>
          <a:noFill/>
        </p:spPr>
      </p:pic>
      <p:pic>
        <p:nvPicPr>
          <p:cNvPr id="108551" name="nuestro caja Picture 7" descr="Picture4"/>
          <p:cNvPicPr>
            <a:picLocks noChangeAspect="1" noChangeArrowheads="1"/>
          </p:cNvPicPr>
          <p:nvPr/>
        </p:nvPicPr>
        <p:blipFill>
          <a:blip r:embed="rIdL9n2" cstate="print"/>
          <a:srcRect/>
          <a:stretch>
            <a:fillRect/>
          </a:stretch>
        </p:blipFill>
        <p:spPr bwMode="auto">
          <a:xfrm>
            <a:off x="4167448" y="5180999"/>
            <a:ext cx="1272800" cy="1402681"/>
          </a:xfrm>
          <a:prstGeom prst="rect">
            <a:avLst/>
          </a:prstGeom>
          <a:noFill/>
        </p:spPr>
      </p:pic>
      <p:pic>
        <p:nvPicPr>
          <p:cNvPr id="108553" name="Picture 9" descr="circuler_1"/>
          <p:cNvPicPr>
            <a:picLocks noChangeAspect="1" noChangeArrowheads="1"/>
          </p:cNvPicPr>
          <p:nvPr/>
        </p:nvPicPr>
        <p:blipFill>
          <a:blip r:embed="rIdL9n3" cstate="print"/>
          <a:srcRect/>
          <a:stretch>
            <a:fillRect/>
          </a:stretch>
        </p:blipFill>
        <p:spPr bwMode="ltGray">
          <a:xfrm>
            <a:off x="1071563" y="2204864"/>
            <a:ext cx="1879600" cy="1821513"/>
          </a:xfrm>
          <a:prstGeom prst="rect">
            <a:avLst/>
          </a:prstGeom>
          <a:noFill/>
        </p:spPr>
      </p:pic>
      <p:sp>
        <p:nvSpPr>
          <p:cNvPr id="108554" name="Oval 10"/>
          <p:cNvSpPr>
            <a:spLocks noChangeArrowheads="1"/>
          </p:cNvSpPr>
          <p:nvPr/>
        </p:nvSpPr>
        <p:spPr bwMode="ltGray">
          <a:xfrm>
            <a:off x="1071563" y="2204864"/>
            <a:ext cx="1867083" cy="1825625"/>
          </a:xfrm>
          <a:prstGeom prst="ellipse">
            <a:avLst/>
          </a:prstGeom>
          <a:gradFill rotWithShape="1">
            <a:gsLst>
              <a:gs pos="0">
                <a:srgbClr val="F8F8F8">
                  <a:gamma/>
                  <a:shade val="26275"/>
                  <a:invGamma/>
                  <a:alpha val="89999"/>
                </a:srgbClr>
              </a:gs>
              <a:gs pos="50000">
                <a:srgbClr val="F8F8F8">
                  <a:alpha val="45000"/>
                </a:srgbClr>
              </a:gs>
              <a:gs pos="100000">
                <a:srgbClr val="F8F8F8">
                  <a:gamma/>
                  <a:shade val="26275"/>
                  <a:invGamma/>
                  <a:alpha val="89999"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s-MX"/>
          </a:p>
        </p:txBody>
      </p:sp>
      <p:sp>
        <p:nvSpPr>
          <p:cNvPr id="108555" name="Freeform 11"/>
          <p:cNvSpPr>
            <a:spLocks/>
          </p:cNvSpPr>
          <p:nvPr/>
        </p:nvSpPr>
        <p:spPr bwMode="ltGray">
          <a:xfrm>
            <a:off x="1265572" y="2241869"/>
            <a:ext cx="1466546" cy="633212"/>
          </a:xfrm>
          <a:custGeom>
            <a:avLst/>
            <a:gdLst/>
            <a:ahLst/>
            <a:cxnLst>
              <a:cxn ang="0">
                <a:pos x="1301" y="401"/>
              </a:cxn>
              <a:cxn ang="0">
                <a:pos x="1317" y="442"/>
              </a:cxn>
              <a:cxn ang="0">
                <a:pos x="1321" y="481"/>
              </a:cxn>
              <a:cxn ang="0">
                <a:pos x="1315" y="516"/>
              </a:cxn>
              <a:cxn ang="0">
                <a:pos x="1298" y="550"/>
              </a:cxn>
              <a:cxn ang="0">
                <a:pos x="1272" y="579"/>
              </a:cxn>
              <a:cxn ang="0">
                <a:pos x="1239" y="604"/>
              </a:cxn>
              <a:cxn ang="0">
                <a:pos x="1196" y="628"/>
              </a:cxn>
              <a:cxn ang="0">
                <a:pos x="1147" y="649"/>
              </a:cxn>
              <a:cxn ang="0">
                <a:pos x="1092" y="667"/>
              </a:cxn>
              <a:cxn ang="0">
                <a:pos x="1031" y="683"/>
              </a:cxn>
              <a:cxn ang="0">
                <a:pos x="967" y="694"/>
              </a:cxn>
              <a:cxn ang="0">
                <a:pos x="896" y="704"/>
              </a:cxn>
              <a:cxn ang="0">
                <a:pos x="824" y="710"/>
              </a:cxn>
              <a:cxn ang="0">
                <a:pos x="795" y="712"/>
              </a:cxn>
              <a:cxn ang="0">
                <a:pos x="476" y="712"/>
              </a:cxn>
              <a:cxn ang="0">
                <a:pos x="472" y="712"/>
              </a:cxn>
              <a:cxn ang="0">
                <a:pos x="409" y="708"/>
              </a:cxn>
              <a:cxn ang="0">
                <a:pos x="348" y="704"/>
              </a:cxn>
              <a:cxn ang="0">
                <a:pos x="290" y="696"/>
              </a:cxn>
              <a:cxn ang="0">
                <a:pos x="235" y="689"/>
              </a:cxn>
              <a:cxn ang="0">
                <a:pos x="186" y="677"/>
              </a:cxn>
              <a:cxn ang="0">
                <a:pos x="141" y="663"/>
              </a:cxn>
              <a:cxn ang="0">
                <a:pos x="102" y="648"/>
              </a:cxn>
              <a:cxn ang="0">
                <a:pos x="67" y="630"/>
              </a:cxn>
              <a:cxn ang="0">
                <a:pos x="39" y="608"/>
              </a:cxn>
              <a:cxn ang="0">
                <a:pos x="18" y="583"/>
              </a:cxn>
              <a:cxn ang="0">
                <a:pos x="6" y="554"/>
              </a:cxn>
              <a:cxn ang="0">
                <a:pos x="0" y="524"/>
              </a:cxn>
              <a:cxn ang="0">
                <a:pos x="0" y="520"/>
              </a:cxn>
              <a:cxn ang="0">
                <a:pos x="4" y="487"/>
              </a:cxn>
              <a:cxn ang="0">
                <a:pos x="16" y="446"/>
              </a:cxn>
              <a:cxn ang="0">
                <a:pos x="51" y="370"/>
              </a:cxn>
              <a:cxn ang="0">
                <a:pos x="94" y="299"/>
              </a:cxn>
              <a:cxn ang="0">
                <a:pos x="147" y="235"/>
              </a:cxn>
              <a:cxn ang="0">
                <a:pos x="204" y="176"/>
              </a:cxn>
              <a:cxn ang="0">
                <a:pos x="270" y="125"/>
              </a:cxn>
              <a:cxn ang="0">
                <a:pos x="341" y="82"/>
              </a:cxn>
              <a:cxn ang="0">
                <a:pos x="415" y="47"/>
              </a:cxn>
              <a:cxn ang="0">
                <a:pos x="497" y="21"/>
              </a:cxn>
              <a:cxn ang="0">
                <a:pos x="581" y="6"/>
              </a:cxn>
              <a:cxn ang="0">
                <a:pos x="667" y="0"/>
              </a:cxn>
              <a:cxn ang="0">
                <a:pos x="667" y="0"/>
              </a:cxn>
              <a:cxn ang="0">
                <a:pos x="759" y="6"/>
              </a:cxn>
              <a:cxn ang="0">
                <a:pos x="847" y="23"/>
              </a:cxn>
              <a:cxn ang="0">
                <a:pos x="932" y="53"/>
              </a:cxn>
              <a:cxn ang="0">
                <a:pos x="1010" y="90"/>
              </a:cxn>
              <a:cxn ang="0">
                <a:pos x="1082" y="137"/>
              </a:cxn>
              <a:cxn ang="0">
                <a:pos x="1149" y="194"/>
              </a:cxn>
              <a:cxn ang="0">
                <a:pos x="1208" y="256"/>
              </a:cxn>
              <a:cxn ang="0">
                <a:pos x="1258" y="325"/>
              </a:cxn>
              <a:cxn ang="0">
                <a:pos x="1301" y="401"/>
              </a:cxn>
              <a:cxn ang="0">
                <a:pos x="1301" y="401"/>
              </a:cxn>
            </a:cxnLst>
            <a:rect l="0" t="0" r="r" b="b"/>
            <a:pathLst>
              <a:path w="1321" h="712">
                <a:moveTo>
                  <a:pt x="1301" y="401"/>
                </a:moveTo>
                <a:lnTo>
                  <a:pt x="1317" y="442"/>
                </a:lnTo>
                <a:lnTo>
                  <a:pt x="1321" y="481"/>
                </a:lnTo>
                <a:lnTo>
                  <a:pt x="1315" y="516"/>
                </a:lnTo>
                <a:lnTo>
                  <a:pt x="1298" y="550"/>
                </a:lnTo>
                <a:lnTo>
                  <a:pt x="1272" y="579"/>
                </a:lnTo>
                <a:lnTo>
                  <a:pt x="1239" y="604"/>
                </a:lnTo>
                <a:lnTo>
                  <a:pt x="1196" y="628"/>
                </a:lnTo>
                <a:lnTo>
                  <a:pt x="1147" y="649"/>
                </a:lnTo>
                <a:lnTo>
                  <a:pt x="1092" y="667"/>
                </a:lnTo>
                <a:lnTo>
                  <a:pt x="1031" y="683"/>
                </a:lnTo>
                <a:lnTo>
                  <a:pt x="967" y="694"/>
                </a:lnTo>
                <a:lnTo>
                  <a:pt x="896" y="704"/>
                </a:lnTo>
                <a:lnTo>
                  <a:pt x="824" y="710"/>
                </a:lnTo>
                <a:lnTo>
                  <a:pt x="795" y="712"/>
                </a:lnTo>
                <a:lnTo>
                  <a:pt x="476" y="712"/>
                </a:lnTo>
                <a:lnTo>
                  <a:pt x="472" y="712"/>
                </a:lnTo>
                <a:lnTo>
                  <a:pt x="409" y="708"/>
                </a:lnTo>
                <a:lnTo>
                  <a:pt x="348" y="704"/>
                </a:lnTo>
                <a:lnTo>
                  <a:pt x="290" y="696"/>
                </a:lnTo>
                <a:lnTo>
                  <a:pt x="235" y="689"/>
                </a:lnTo>
                <a:lnTo>
                  <a:pt x="186" y="677"/>
                </a:lnTo>
                <a:lnTo>
                  <a:pt x="141" y="663"/>
                </a:lnTo>
                <a:lnTo>
                  <a:pt x="102" y="648"/>
                </a:lnTo>
                <a:lnTo>
                  <a:pt x="67" y="630"/>
                </a:lnTo>
                <a:lnTo>
                  <a:pt x="39" y="608"/>
                </a:lnTo>
                <a:lnTo>
                  <a:pt x="18" y="583"/>
                </a:lnTo>
                <a:lnTo>
                  <a:pt x="6" y="554"/>
                </a:lnTo>
                <a:lnTo>
                  <a:pt x="0" y="524"/>
                </a:lnTo>
                <a:lnTo>
                  <a:pt x="0" y="520"/>
                </a:lnTo>
                <a:lnTo>
                  <a:pt x="4" y="487"/>
                </a:lnTo>
                <a:lnTo>
                  <a:pt x="16" y="446"/>
                </a:lnTo>
                <a:lnTo>
                  <a:pt x="51" y="370"/>
                </a:lnTo>
                <a:lnTo>
                  <a:pt x="94" y="299"/>
                </a:lnTo>
                <a:lnTo>
                  <a:pt x="147" y="235"/>
                </a:lnTo>
                <a:lnTo>
                  <a:pt x="204" y="176"/>
                </a:lnTo>
                <a:lnTo>
                  <a:pt x="270" y="125"/>
                </a:lnTo>
                <a:lnTo>
                  <a:pt x="341" y="82"/>
                </a:lnTo>
                <a:lnTo>
                  <a:pt x="415" y="47"/>
                </a:lnTo>
                <a:lnTo>
                  <a:pt x="497" y="21"/>
                </a:lnTo>
                <a:lnTo>
                  <a:pt x="581" y="6"/>
                </a:lnTo>
                <a:lnTo>
                  <a:pt x="667" y="0"/>
                </a:lnTo>
                <a:lnTo>
                  <a:pt x="667" y="0"/>
                </a:lnTo>
                <a:lnTo>
                  <a:pt x="759" y="6"/>
                </a:lnTo>
                <a:lnTo>
                  <a:pt x="847" y="23"/>
                </a:lnTo>
                <a:lnTo>
                  <a:pt x="932" y="53"/>
                </a:lnTo>
                <a:lnTo>
                  <a:pt x="1010" y="90"/>
                </a:lnTo>
                <a:lnTo>
                  <a:pt x="1082" y="137"/>
                </a:lnTo>
                <a:lnTo>
                  <a:pt x="1149" y="194"/>
                </a:lnTo>
                <a:lnTo>
                  <a:pt x="1208" y="256"/>
                </a:lnTo>
                <a:lnTo>
                  <a:pt x="1258" y="325"/>
                </a:lnTo>
                <a:lnTo>
                  <a:pt x="1301" y="401"/>
                </a:lnTo>
                <a:lnTo>
                  <a:pt x="1301" y="401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MX"/>
          </a:p>
        </p:txBody>
      </p:sp>
      <p:grpSp>
        <p:nvGrpSpPr>
          <p:cNvPr id="108556" name="Group 12"/>
          <p:cNvGrpSpPr>
            <a:grpSpLocks/>
          </p:cNvGrpSpPr>
          <p:nvPr/>
        </p:nvGrpSpPr>
        <p:grpSpPr bwMode="auto">
          <a:xfrm rot="-1297425" flipH="1" flipV="1">
            <a:off x="1213419" y="3629591"/>
            <a:ext cx="1629264" cy="386506"/>
            <a:chOff x="2532" y="1051"/>
            <a:chExt cx="893" cy="246"/>
          </a:xfrm>
        </p:grpSpPr>
        <p:grpSp>
          <p:nvGrpSpPr>
            <p:cNvPr id="108557" name="Group 13"/>
            <p:cNvGrpSpPr>
              <a:grpSpLocks/>
            </p:cNvGrpSpPr>
            <p:nvPr/>
          </p:nvGrpSpPr>
          <p:grpSpPr bwMode="auto">
            <a:xfrm>
              <a:off x="2532" y="1051"/>
              <a:ext cx="743" cy="185"/>
              <a:chOff x="1565" y="2568"/>
              <a:chExt cx="1118" cy="279"/>
            </a:xfrm>
          </p:grpSpPr>
          <p:sp>
            <p:nvSpPr>
              <p:cNvPr id="108558" name="AutoShape 14"/>
              <p:cNvSpPr>
                <a:spLocks noChangeArrowheads="1"/>
              </p:cNvSpPr>
              <p:nvPr/>
            </p:nvSpPr>
            <p:spPr bwMode="ltGray">
              <a:xfrm rot="5263130">
                <a:off x="1859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108559" name="AutoShape 15"/>
              <p:cNvSpPr>
                <a:spLocks noChangeArrowheads="1"/>
              </p:cNvSpPr>
              <p:nvPr/>
            </p:nvSpPr>
            <p:spPr bwMode="ltGray">
              <a:xfrm rot="6078281">
                <a:off x="1995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108560" name="AutoShape 16"/>
              <p:cNvSpPr>
                <a:spLocks noChangeArrowheads="1"/>
              </p:cNvSpPr>
              <p:nvPr/>
            </p:nvSpPr>
            <p:spPr bwMode="ltGray">
              <a:xfrm rot="6373927">
                <a:off x="2071" y="229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108561" name="AutoShape 17"/>
              <p:cNvSpPr>
                <a:spLocks noChangeArrowheads="1"/>
              </p:cNvSpPr>
              <p:nvPr/>
            </p:nvSpPr>
            <p:spPr bwMode="ltGray">
              <a:xfrm rot="6906312">
                <a:off x="2161" y="232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</p:grpSp>
        <p:grpSp>
          <p:nvGrpSpPr>
            <p:cNvPr id="108562" name="Group 18"/>
            <p:cNvGrpSpPr>
              <a:grpSpLocks/>
            </p:cNvGrpSpPr>
            <p:nvPr/>
          </p:nvGrpSpPr>
          <p:grpSpPr bwMode="auto">
            <a:xfrm rot="1353540">
              <a:off x="2682" y="1111"/>
              <a:ext cx="743" cy="186"/>
              <a:chOff x="1565" y="2568"/>
              <a:chExt cx="1118" cy="279"/>
            </a:xfrm>
          </p:grpSpPr>
          <p:sp>
            <p:nvSpPr>
              <p:cNvPr id="108563" name="AutoShape 19"/>
              <p:cNvSpPr>
                <a:spLocks noChangeArrowheads="1"/>
              </p:cNvSpPr>
              <p:nvPr/>
            </p:nvSpPr>
            <p:spPr bwMode="ltGray">
              <a:xfrm rot="5263130">
                <a:off x="1859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108564" name="AutoShape 20"/>
              <p:cNvSpPr>
                <a:spLocks noChangeArrowheads="1"/>
              </p:cNvSpPr>
              <p:nvPr/>
            </p:nvSpPr>
            <p:spPr bwMode="ltGray">
              <a:xfrm rot="6078281">
                <a:off x="1995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108565" name="AutoShape 21"/>
              <p:cNvSpPr>
                <a:spLocks noChangeArrowheads="1"/>
              </p:cNvSpPr>
              <p:nvPr/>
            </p:nvSpPr>
            <p:spPr bwMode="ltGray">
              <a:xfrm rot="6373927">
                <a:off x="2071" y="229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108566" name="AutoShape 22"/>
              <p:cNvSpPr>
                <a:spLocks noChangeArrowheads="1"/>
              </p:cNvSpPr>
              <p:nvPr/>
            </p:nvSpPr>
            <p:spPr bwMode="ltGray">
              <a:xfrm rot="6906312">
                <a:off x="2161" y="232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</p:grpSp>
      </p:grpSp>
      <p:pic>
        <p:nvPicPr>
          <p:cNvPr id="108568" name="Picture 24" descr="circuler_1"/>
          <p:cNvPicPr>
            <a:picLocks noChangeAspect="1" noChangeArrowheads="1"/>
          </p:cNvPicPr>
          <p:nvPr/>
        </p:nvPicPr>
        <p:blipFill>
          <a:blip r:embed="rIdL9n3" cstate="print"/>
          <a:srcRect/>
          <a:stretch>
            <a:fillRect/>
          </a:stretch>
        </p:blipFill>
        <p:spPr bwMode="ltGray">
          <a:xfrm>
            <a:off x="1119188" y="4771727"/>
            <a:ext cx="1879600" cy="1821513"/>
          </a:xfrm>
          <a:prstGeom prst="rect">
            <a:avLst/>
          </a:prstGeom>
          <a:noFill/>
        </p:spPr>
      </p:pic>
      <p:sp>
        <p:nvSpPr>
          <p:cNvPr id="108569" name="Oval 25"/>
          <p:cNvSpPr>
            <a:spLocks noChangeArrowheads="1"/>
          </p:cNvSpPr>
          <p:nvPr/>
        </p:nvSpPr>
        <p:spPr bwMode="ltGray">
          <a:xfrm>
            <a:off x="1119188" y="4771727"/>
            <a:ext cx="1867083" cy="1825625"/>
          </a:xfrm>
          <a:prstGeom prst="ellipse">
            <a:avLst/>
          </a:prstGeom>
          <a:gradFill rotWithShape="1">
            <a:gsLst>
              <a:gs pos="0">
                <a:srgbClr val="F8F8F8">
                  <a:gamma/>
                  <a:shade val="26275"/>
                  <a:invGamma/>
                  <a:alpha val="89999"/>
                </a:srgbClr>
              </a:gs>
              <a:gs pos="50000">
                <a:srgbClr val="F8F8F8">
                  <a:alpha val="45000"/>
                </a:srgbClr>
              </a:gs>
              <a:gs pos="100000">
                <a:srgbClr val="F8F8F8">
                  <a:gamma/>
                  <a:shade val="26275"/>
                  <a:invGamma/>
                  <a:alpha val="89999"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s-MX"/>
          </a:p>
        </p:txBody>
      </p:sp>
      <p:sp>
        <p:nvSpPr>
          <p:cNvPr id="108570" name="Freeform 26"/>
          <p:cNvSpPr>
            <a:spLocks/>
          </p:cNvSpPr>
          <p:nvPr/>
        </p:nvSpPr>
        <p:spPr bwMode="ltGray">
          <a:xfrm>
            <a:off x="1313197" y="4808732"/>
            <a:ext cx="1466546" cy="633212"/>
          </a:xfrm>
          <a:custGeom>
            <a:avLst/>
            <a:gdLst/>
            <a:ahLst/>
            <a:cxnLst>
              <a:cxn ang="0">
                <a:pos x="1301" y="401"/>
              </a:cxn>
              <a:cxn ang="0">
                <a:pos x="1317" y="442"/>
              </a:cxn>
              <a:cxn ang="0">
                <a:pos x="1321" y="481"/>
              </a:cxn>
              <a:cxn ang="0">
                <a:pos x="1315" y="516"/>
              </a:cxn>
              <a:cxn ang="0">
                <a:pos x="1298" y="550"/>
              </a:cxn>
              <a:cxn ang="0">
                <a:pos x="1272" y="579"/>
              </a:cxn>
              <a:cxn ang="0">
                <a:pos x="1239" y="604"/>
              </a:cxn>
              <a:cxn ang="0">
                <a:pos x="1196" y="628"/>
              </a:cxn>
              <a:cxn ang="0">
                <a:pos x="1147" y="649"/>
              </a:cxn>
              <a:cxn ang="0">
                <a:pos x="1092" y="667"/>
              </a:cxn>
              <a:cxn ang="0">
                <a:pos x="1031" y="683"/>
              </a:cxn>
              <a:cxn ang="0">
                <a:pos x="967" y="694"/>
              </a:cxn>
              <a:cxn ang="0">
                <a:pos x="896" y="704"/>
              </a:cxn>
              <a:cxn ang="0">
                <a:pos x="824" y="710"/>
              </a:cxn>
              <a:cxn ang="0">
                <a:pos x="795" y="712"/>
              </a:cxn>
              <a:cxn ang="0">
                <a:pos x="476" y="712"/>
              </a:cxn>
              <a:cxn ang="0">
                <a:pos x="472" y="712"/>
              </a:cxn>
              <a:cxn ang="0">
                <a:pos x="409" y="708"/>
              </a:cxn>
              <a:cxn ang="0">
                <a:pos x="348" y="704"/>
              </a:cxn>
              <a:cxn ang="0">
                <a:pos x="290" y="696"/>
              </a:cxn>
              <a:cxn ang="0">
                <a:pos x="235" y="689"/>
              </a:cxn>
              <a:cxn ang="0">
                <a:pos x="186" y="677"/>
              </a:cxn>
              <a:cxn ang="0">
                <a:pos x="141" y="663"/>
              </a:cxn>
              <a:cxn ang="0">
                <a:pos x="102" y="648"/>
              </a:cxn>
              <a:cxn ang="0">
                <a:pos x="67" y="630"/>
              </a:cxn>
              <a:cxn ang="0">
                <a:pos x="39" y="608"/>
              </a:cxn>
              <a:cxn ang="0">
                <a:pos x="18" y="583"/>
              </a:cxn>
              <a:cxn ang="0">
                <a:pos x="6" y="554"/>
              </a:cxn>
              <a:cxn ang="0">
                <a:pos x="0" y="524"/>
              </a:cxn>
              <a:cxn ang="0">
                <a:pos x="0" y="520"/>
              </a:cxn>
              <a:cxn ang="0">
                <a:pos x="4" y="487"/>
              </a:cxn>
              <a:cxn ang="0">
                <a:pos x="16" y="446"/>
              </a:cxn>
              <a:cxn ang="0">
                <a:pos x="51" y="370"/>
              </a:cxn>
              <a:cxn ang="0">
                <a:pos x="94" y="299"/>
              </a:cxn>
              <a:cxn ang="0">
                <a:pos x="147" y="235"/>
              </a:cxn>
              <a:cxn ang="0">
                <a:pos x="204" y="176"/>
              </a:cxn>
              <a:cxn ang="0">
                <a:pos x="270" y="125"/>
              </a:cxn>
              <a:cxn ang="0">
                <a:pos x="341" y="82"/>
              </a:cxn>
              <a:cxn ang="0">
                <a:pos x="415" y="47"/>
              </a:cxn>
              <a:cxn ang="0">
                <a:pos x="497" y="21"/>
              </a:cxn>
              <a:cxn ang="0">
                <a:pos x="581" y="6"/>
              </a:cxn>
              <a:cxn ang="0">
                <a:pos x="667" y="0"/>
              </a:cxn>
              <a:cxn ang="0">
                <a:pos x="667" y="0"/>
              </a:cxn>
              <a:cxn ang="0">
                <a:pos x="759" y="6"/>
              </a:cxn>
              <a:cxn ang="0">
                <a:pos x="847" y="23"/>
              </a:cxn>
              <a:cxn ang="0">
                <a:pos x="932" y="53"/>
              </a:cxn>
              <a:cxn ang="0">
                <a:pos x="1010" y="90"/>
              </a:cxn>
              <a:cxn ang="0">
                <a:pos x="1082" y="137"/>
              </a:cxn>
              <a:cxn ang="0">
                <a:pos x="1149" y="194"/>
              </a:cxn>
              <a:cxn ang="0">
                <a:pos x="1208" y="256"/>
              </a:cxn>
              <a:cxn ang="0">
                <a:pos x="1258" y="325"/>
              </a:cxn>
              <a:cxn ang="0">
                <a:pos x="1301" y="401"/>
              </a:cxn>
              <a:cxn ang="0">
                <a:pos x="1301" y="401"/>
              </a:cxn>
            </a:cxnLst>
            <a:rect l="0" t="0" r="r" b="b"/>
            <a:pathLst>
              <a:path w="1321" h="712">
                <a:moveTo>
                  <a:pt x="1301" y="401"/>
                </a:moveTo>
                <a:lnTo>
                  <a:pt x="1317" y="442"/>
                </a:lnTo>
                <a:lnTo>
                  <a:pt x="1321" y="481"/>
                </a:lnTo>
                <a:lnTo>
                  <a:pt x="1315" y="516"/>
                </a:lnTo>
                <a:lnTo>
                  <a:pt x="1298" y="550"/>
                </a:lnTo>
                <a:lnTo>
                  <a:pt x="1272" y="579"/>
                </a:lnTo>
                <a:lnTo>
                  <a:pt x="1239" y="604"/>
                </a:lnTo>
                <a:lnTo>
                  <a:pt x="1196" y="628"/>
                </a:lnTo>
                <a:lnTo>
                  <a:pt x="1147" y="649"/>
                </a:lnTo>
                <a:lnTo>
                  <a:pt x="1092" y="667"/>
                </a:lnTo>
                <a:lnTo>
                  <a:pt x="1031" y="683"/>
                </a:lnTo>
                <a:lnTo>
                  <a:pt x="967" y="694"/>
                </a:lnTo>
                <a:lnTo>
                  <a:pt x="896" y="704"/>
                </a:lnTo>
                <a:lnTo>
                  <a:pt x="824" y="710"/>
                </a:lnTo>
                <a:lnTo>
                  <a:pt x="795" y="712"/>
                </a:lnTo>
                <a:lnTo>
                  <a:pt x="476" y="712"/>
                </a:lnTo>
                <a:lnTo>
                  <a:pt x="472" y="712"/>
                </a:lnTo>
                <a:lnTo>
                  <a:pt x="409" y="708"/>
                </a:lnTo>
                <a:lnTo>
                  <a:pt x="348" y="704"/>
                </a:lnTo>
                <a:lnTo>
                  <a:pt x="290" y="696"/>
                </a:lnTo>
                <a:lnTo>
                  <a:pt x="235" y="689"/>
                </a:lnTo>
                <a:lnTo>
                  <a:pt x="186" y="677"/>
                </a:lnTo>
                <a:lnTo>
                  <a:pt x="141" y="663"/>
                </a:lnTo>
                <a:lnTo>
                  <a:pt x="102" y="648"/>
                </a:lnTo>
                <a:lnTo>
                  <a:pt x="67" y="630"/>
                </a:lnTo>
                <a:lnTo>
                  <a:pt x="39" y="608"/>
                </a:lnTo>
                <a:lnTo>
                  <a:pt x="18" y="583"/>
                </a:lnTo>
                <a:lnTo>
                  <a:pt x="6" y="554"/>
                </a:lnTo>
                <a:lnTo>
                  <a:pt x="0" y="524"/>
                </a:lnTo>
                <a:lnTo>
                  <a:pt x="0" y="520"/>
                </a:lnTo>
                <a:lnTo>
                  <a:pt x="4" y="487"/>
                </a:lnTo>
                <a:lnTo>
                  <a:pt x="16" y="446"/>
                </a:lnTo>
                <a:lnTo>
                  <a:pt x="51" y="370"/>
                </a:lnTo>
                <a:lnTo>
                  <a:pt x="94" y="299"/>
                </a:lnTo>
                <a:lnTo>
                  <a:pt x="147" y="235"/>
                </a:lnTo>
                <a:lnTo>
                  <a:pt x="204" y="176"/>
                </a:lnTo>
                <a:lnTo>
                  <a:pt x="270" y="125"/>
                </a:lnTo>
                <a:lnTo>
                  <a:pt x="341" y="82"/>
                </a:lnTo>
                <a:lnTo>
                  <a:pt x="415" y="47"/>
                </a:lnTo>
                <a:lnTo>
                  <a:pt x="497" y="21"/>
                </a:lnTo>
                <a:lnTo>
                  <a:pt x="581" y="6"/>
                </a:lnTo>
                <a:lnTo>
                  <a:pt x="667" y="0"/>
                </a:lnTo>
                <a:lnTo>
                  <a:pt x="667" y="0"/>
                </a:lnTo>
                <a:lnTo>
                  <a:pt x="759" y="6"/>
                </a:lnTo>
                <a:lnTo>
                  <a:pt x="847" y="23"/>
                </a:lnTo>
                <a:lnTo>
                  <a:pt x="932" y="53"/>
                </a:lnTo>
                <a:lnTo>
                  <a:pt x="1010" y="90"/>
                </a:lnTo>
                <a:lnTo>
                  <a:pt x="1082" y="137"/>
                </a:lnTo>
                <a:lnTo>
                  <a:pt x="1149" y="194"/>
                </a:lnTo>
                <a:lnTo>
                  <a:pt x="1208" y="256"/>
                </a:lnTo>
                <a:lnTo>
                  <a:pt x="1258" y="325"/>
                </a:lnTo>
                <a:lnTo>
                  <a:pt x="1301" y="401"/>
                </a:lnTo>
                <a:lnTo>
                  <a:pt x="1301" y="401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MX"/>
          </a:p>
        </p:txBody>
      </p:sp>
      <p:grpSp>
        <p:nvGrpSpPr>
          <p:cNvPr id="108571" name="Group 27"/>
          <p:cNvGrpSpPr>
            <a:grpSpLocks/>
          </p:cNvGrpSpPr>
          <p:nvPr/>
        </p:nvGrpSpPr>
        <p:grpSpPr bwMode="auto">
          <a:xfrm rot="-1297425" flipH="1" flipV="1">
            <a:off x="1261044" y="6196454"/>
            <a:ext cx="1629264" cy="386506"/>
            <a:chOff x="2532" y="1051"/>
            <a:chExt cx="893" cy="246"/>
          </a:xfrm>
        </p:grpSpPr>
        <p:grpSp>
          <p:nvGrpSpPr>
            <p:cNvPr id="108572" name="Group 28"/>
            <p:cNvGrpSpPr>
              <a:grpSpLocks/>
            </p:cNvGrpSpPr>
            <p:nvPr/>
          </p:nvGrpSpPr>
          <p:grpSpPr bwMode="auto">
            <a:xfrm>
              <a:off x="2532" y="1051"/>
              <a:ext cx="743" cy="185"/>
              <a:chOff x="1565" y="2568"/>
              <a:chExt cx="1118" cy="279"/>
            </a:xfrm>
          </p:grpSpPr>
          <p:sp>
            <p:nvSpPr>
              <p:cNvPr id="108573" name="AutoShape 29"/>
              <p:cNvSpPr>
                <a:spLocks noChangeArrowheads="1"/>
              </p:cNvSpPr>
              <p:nvPr/>
            </p:nvSpPr>
            <p:spPr bwMode="ltGray">
              <a:xfrm rot="5263130">
                <a:off x="1859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108574" name="AutoShape 30"/>
              <p:cNvSpPr>
                <a:spLocks noChangeArrowheads="1"/>
              </p:cNvSpPr>
              <p:nvPr/>
            </p:nvSpPr>
            <p:spPr bwMode="ltGray">
              <a:xfrm rot="6078281">
                <a:off x="1995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108575" name="AutoShape 31"/>
              <p:cNvSpPr>
                <a:spLocks noChangeArrowheads="1"/>
              </p:cNvSpPr>
              <p:nvPr/>
            </p:nvSpPr>
            <p:spPr bwMode="ltGray">
              <a:xfrm rot="6373927">
                <a:off x="2071" y="229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108576" name="AutoShape 32"/>
              <p:cNvSpPr>
                <a:spLocks noChangeArrowheads="1"/>
              </p:cNvSpPr>
              <p:nvPr/>
            </p:nvSpPr>
            <p:spPr bwMode="ltGray">
              <a:xfrm rot="6906312">
                <a:off x="2161" y="232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</p:grpSp>
        <p:grpSp>
          <p:nvGrpSpPr>
            <p:cNvPr id="108577" name="Group 33"/>
            <p:cNvGrpSpPr>
              <a:grpSpLocks/>
            </p:cNvGrpSpPr>
            <p:nvPr/>
          </p:nvGrpSpPr>
          <p:grpSpPr bwMode="auto">
            <a:xfrm rot="1353540">
              <a:off x="2682" y="1111"/>
              <a:ext cx="743" cy="186"/>
              <a:chOff x="1565" y="2568"/>
              <a:chExt cx="1118" cy="279"/>
            </a:xfrm>
          </p:grpSpPr>
          <p:sp>
            <p:nvSpPr>
              <p:cNvPr id="108578" name="AutoShape 34"/>
              <p:cNvSpPr>
                <a:spLocks noChangeArrowheads="1"/>
              </p:cNvSpPr>
              <p:nvPr/>
            </p:nvSpPr>
            <p:spPr bwMode="ltGray">
              <a:xfrm rot="5263130">
                <a:off x="1859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108579" name="AutoShape 35"/>
              <p:cNvSpPr>
                <a:spLocks noChangeArrowheads="1"/>
              </p:cNvSpPr>
              <p:nvPr/>
            </p:nvSpPr>
            <p:spPr bwMode="ltGray">
              <a:xfrm rot="6078281">
                <a:off x="1995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108580" name="AutoShape 36"/>
              <p:cNvSpPr>
                <a:spLocks noChangeArrowheads="1"/>
              </p:cNvSpPr>
              <p:nvPr/>
            </p:nvSpPr>
            <p:spPr bwMode="ltGray">
              <a:xfrm rot="6373927">
                <a:off x="2071" y="229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108581" name="AutoShape 37"/>
              <p:cNvSpPr>
                <a:spLocks noChangeArrowheads="1"/>
              </p:cNvSpPr>
              <p:nvPr/>
            </p:nvSpPr>
            <p:spPr bwMode="ltGray">
              <a:xfrm rot="6906312">
                <a:off x="2161" y="232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MX"/>
              </a:p>
            </p:txBody>
          </p:sp>
        </p:grpSp>
      </p:grpSp>
      <p:sp>
        <p:nvSpPr>
          <p:cNvPr id="108583" name="nuestro caja Rectangle 39"/>
          <p:cNvSpPr>
            <a:spLocks noChangeArrowheads="1"/>
          </p:cNvSpPr>
          <p:nvPr/>
        </p:nvSpPr>
        <p:spPr bwMode="black">
          <a:xfrm>
            <a:off x="4491037" y="2694291"/>
            <a:ext cx="408320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MX" sz="2000" dirty="0" i="0">
                <a:solidFill>
                  <a:srgbClr val="FFFFFF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66" charset="0"/>
              </a:rPr>
              <a:t>Actúa de acuerdo a lo que aprenderás en este taller</a:t>
            </a:r>
            <a:endParaRPr lang="en-US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cs typeface="Arial" charset="0"/>
            </a:endParaRPr>
          </a:p>
        </p:txBody>
      </p:sp>
      <p:sp>
        <p:nvSpPr>
          <p:cNvPr id="108584" name="nuestro caja Rectangle 40"/>
          <p:cNvSpPr>
            <a:spLocks noChangeArrowheads="1"/>
          </p:cNvSpPr>
          <p:nvPr/>
        </p:nvSpPr>
        <p:spPr bwMode="black">
          <a:xfrm>
            <a:off x="4491037" y="5180999"/>
            <a:ext cx="420548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MX" sz="2000" dirty="0" i="0">
                <a:solidFill>
                  <a:srgbClr val="FFFFFF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66" charset="0"/>
              </a:rPr>
              <a:t>No ingrese al área de la emergencia, haga segura la zona o pida ayuda.</a:t>
            </a:r>
            <a:endParaRPr lang="en-US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cs typeface="Arial" charset="0"/>
            </a:endParaRPr>
          </a:p>
        </p:txBody>
      </p:sp>
      <p:sp>
        <p:nvSpPr>
          <p:cNvPr id="108585" name="nuestro caja Text Box 41"/>
          <p:cNvSpPr txBox="1">
            <a:spLocks noChangeArrowheads="1"/>
          </p:cNvSpPr>
          <p:nvPr/>
        </p:nvSpPr>
        <p:spPr bwMode="auto">
          <a:xfrm>
            <a:off x="1135682" y="2392717"/>
            <a:ext cx="1905000" cy="1055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</a:pPr>
            <a:endParaRPr lang="en-US" sz="40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ial" charset="0"/>
            </a:endParaRPr>
          </a:p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sz="4000" b="1" dirty="0" i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charset="0"/>
                <a:latin typeface="Arial"/>
              </a:rPr>
              <a:t>SI</a:t>
            </a:r>
          </a:p>
        </p:txBody>
      </p:sp>
      <p:sp>
        <p:nvSpPr>
          <p:cNvPr id="108587" name="nuestro caja Freeform 43"/>
          <p:cNvSpPr>
            <a:spLocks/>
          </p:cNvSpPr>
          <p:nvPr/>
        </p:nvSpPr>
        <p:spPr bwMode="gray">
          <a:xfrm rot="16200000">
            <a:off x="2967831" y="5235084"/>
            <a:ext cx="1624012" cy="9683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2" y="202"/>
              </a:cxn>
              <a:cxn ang="0">
                <a:pos x="577" y="202"/>
              </a:cxn>
              <a:cxn ang="0">
                <a:pos x="637" y="249"/>
              </a:cxn>
              <a:cxn ang="0">
                <a:pos x="639" y="402"/>
              </a:cxn>
              <a:cxn ang="0">
                <a:pos x="598" y="400"/>
              </a:cxn>
              <a:cxn ang="0">
                <a:pos x="669" y="532"/>
              </a:cxn>
              <a:cxn ang="0">
                <a:pos x="735" y="402"/>
              </a:cxn>
              <a:cxn ang="0">
                <a:pos x="696" y="402"/>
              </a:cxn>
              <a:cxn ang="0">
                <a:pos x="694" y="226"/>
              </a:cxn>
              <a:cxn ang="0">
                <a:pos x="616" y="150"/>
              </a:cxn>
              <a:cxn ang="0">
                <a:pos x="335" y="149"/>
              </a:cxn>
              <a:cxn ang="0">
                <a:pos x="69" y="0"/>
              </a:cxn>
              <a:cxn ang="0">
                <a:pos x="0" y="0"/>
              </a:cxn>
            </a:cxnLst>
            <a:rect l="0" t="0" r="r" b="b"/>
            <a:pathLst>
              <a:path w="735" h="532">
                <a:moveTo>
                  <a:pt x="0" y="0"/>
                </a:moveTo>
                <a:cubicBezTo>
                  <a:pt x="0" y="0"/>
                  <a:pt x="85" y="216"/>
                  <a:pt x="382" y="202"/>
                </a:cubicBezTo>
                <a:cubicBezTo>
                  <a:pt x="479" y="202"/>
                  <a:pt x="577" y="202"/>
                  <a:pt x="577" y="202"/>
                </a:cubicBezTo>
                <a:cubicBezTo>
                  <a:pt x="577" y="202"/>
                  <a:pt x="639" y="201"/>
                  <a:pt x="637" y="249"/>
                </a:cubicBezTo>
                <a:cubicBezTo>
                  <a:pt x="638" y="325"/>
                  <a:pt x="639" y="402"/>
                  <a:pt x="639" y="402"/>
                </a:cubicBezTo>
                <a:lnTo>
                  <a:pt x="598" y="400"/>
                </a:lnTo>
                <a:lnTo>
                  <a:pt x="669" y="532"/>
                </a:lnTo>
                <a:lnTo>
                  <a:pt x="735" y="402"/>
                </a:lnTo>
                <a:lnTo>
                  <a:pt x="696" y="402"/>
                </a:lnTo>
                <a:cubicBezTo>
                  <a:pt x="696" y="402"/>
                  <a:pt x="695" y="314"/>
                  <a:pt x="694" y="226"/>
                </a:cubicBezTo>
                <a:cubicBezTo>
                  <a:pt x="687" y="160"/>
                  <a:pt x="616" y="150"/>
                  <a:pt x="616" y="150"/>
                </a:cubicBezTo>
                <a:cubicBezTo>
                  <a:pt x="556" y="137"/>
                  <a:pt x="473" y="153"/>
                  <a:pt x="335" y="149"/>
                </a:cubicBezTo>
                <a:cubicBezTo>
                  <a:pt x="110" y="126"/>
                  <a:pt x="69" y="0"/>
                  <a:pt x="69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s-MX"/>
          </a:p>
        </p:txBody>
      </p:sp>
      <p:sp>
        <p:nvSpPr>
          <p:cNvPr id="108588" name="nuestro caja Freeform 44"/>
          <p:cNvSpPr>
            <a:spLocks/>
          </p:cNvSpPr>
          <p:nvPr/>
        </p:nvSpPr>
        <p:spPr bwMode="gray">
          <a:xfrm rot="16200000">
            <a:off x="3442494" y="3887297"/>
            <a:ext cx="314325" cy="1096963"/>
          </a:xfrm>
          <a:custGeom>
            <a:avLst/>
            <a:gdLst/>
            <a:ahLst/>
            <a:cxnLst>
              <a:cxn ang="0">
                <a:pos x="37" y="1"/>
              </a:cxn>
              <a:cxn ang="0">
                <a:pos x="45" y="472"/>
              </a:cxn>
              <a:cxn ang="0">
                <a:pos x="0" y="474"/>
              </a:cxn>
              <a:cxn ang="0">
                <a:pos x="72" y="604"/>
              </a:cxn>
              <a:cxn ang="0">
                <a:pos x="142" y="474"/>
              </a:cxn>
              <a:cxn ang="0">
                <a:pos x="100" y="474"/>
              </a:cxn>
              <a:cxn ang="0">
                <a:pos x="99" y="0"/>
              </a:cxn>
              <a:cxn ang="0">
                <a:pos x="37" y="1"/>
              </a:cxn>
            </a:cxnLst>
            <a:rect l="0" t="0" r="r" b="b"/>
            <a:pathLst>
              <a:path w="142" h="604">
                <a:moveTo>
                  <a:pt x="37" y="1"/>
                </a:moveTo>
                <a:lnTo>
                  <a:pt x="45" y="472"/>
                </a:lnTo>
                <a:lnTo>
                  <a:pt x="0" y="474"/>
                </a:lnTo>
                <a:lnTo>
                  <a:pt x="72" y="604"/>
                </a:lnTo>
                <a:lnTo>
                  <a:pt x="142" y="474"/>
                </a:lnTo>
                <a:lnTo>
                  <a:pt x="100" y="474"/>
                </a:lnTo>
                <a:lnTo>
                  <a:pt x="99" y="0"/>
                </a:lnTo>
                <a:lnTo>
                  <a:pt x="37" y="1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s-MX"/>
          </a:p>
        </p:txBody>
      </p:sp>
      <p:sp>
        <p:nvSpPr>
          <p:cNvPr id="108589" name="nuestro caja Freeform 45"/>
          <p:cNvSpPr>
            <a:spLocks/>
          </p:cNvSpPr>
          <p:nvPr/>
        </p:nvSpPr>
        <p:spPr bwMode="gray">
          <a:xfrm rot="16200000" flipH="1">
            <a:off x="2836069" y="2671272"/>
            <a:ext cx="1624013" cy="9683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2" y="202"/>
              </a:cxn>
              <a:cxn ang="0">
                <a:pos x="577" y="202"/>
              </a:cxn>
              <a:cxn ang="0">
                <a:pos x="637" y="249"/>
              </a:cxn>
              <a:cxn ang="0">
                <a:pos x="639" y="402"/>
              </a:cxn>
              <a:cxn ang="0">
                <a:pos x="598" y="400"/>
              </a:cxn>
              <a:cxn ang="0">
                <a:pos x="669" y="532"/>
              </a:cxn>
              <a:cxn ang="0">
                <a:pos x="735" y="402"/>
              </a:cxn>
              <a:cxn ang="0">
                <a:pos x="696" y="402"/>
              </a:cxn>
              <a:cxn ang="0">
                <a:pos x="694" y="226"/>
              </a:cxn>
              <a:cxn ang="0">
                <a:pos x="616" y="150"/>
              </a:cxn>
              <a:cxn ang="0">
                <a:pos x="335" y="149"/>
              </a:cxn>
              <a:cxn ang="0">
                <a:pos x="69" y="0"/>
              </a:cxn>
              <a:cxn ang="0">
                <a:pos x="0" y="0"/>
              </a:cxn>
            </a:cxnLst>
            <a:rect l="0" t="0" r="r" b="b"/>
            <a:pathLst>
              <a:path w="735" h="532">
                <a:moveTo>
                  <a:pt x="0" y="0"/>
                </a:moveTo>
                <a:cubicBezTo>
                  <a:pt x="0" y="0"/>
                  <a:pt x="85" y="216"/>
                  <a:pt x="382" y="202"/>
                </a:cubicBezTo>
                <a:cubicBezTo>
                  <a:pt x="479" y="202"/>
                  <a:pt x="577" y="202"/>
                  <a:pt x="577" y="202"/>
                </a:cubicBezTo>
                <a:cubicBezTo>
                  <a:pt x="577" y="202"/>
                  <a:pt x="639" y="201"/>
                  <a:pt x="637" y="249"/>
                </a:cubicBezTo>
                <a:cubicBezTo>
                  <a:pt x="638" y="325"/>
                  <a:pt x="639" y="402"/>
                  <a:pt x="639" y="402"/>
                </a:cubicBezTo>
                <a:lnTo>
                  <a:pt x="598" y="400"/>
                </a:lnTo>
                <a:lnTo>
                  <a:pt x="669" y="532"/>
                </a:lnTo>
                <a:lnTo>
                  <a:pt x="735" y="402"/>
                </a:lnTo>
                <a:lnTo>
                  <a:pt x="696" y="402"/>
                </a:lnTo>
                <a:cubicBezTo>
                  <a:pt x="696" y="402"/>
                  <a:pt x="695" y="314"/>
                  <a:pt x="694" y="226"/>
                </a:cubicBezTo>
                <a:cubicBezTo>
                  <a:pt x="687" y="160"/>
                  <a:pt x="616" y="150"/>
                  <a:pt x="616" y="150"/>
                </a:cubicBezTo>
                <a:cubicBezTo>
                  <a:pt x="556" y="137"/>
                  <a:pt x="473" y="153"/>
                  <a:pt x="335" y="149"/>
                </a:cubicBezTo>
                <a:cubicBezTo>
                  <a:pt x="110" y="126"/>
                  <a:pt x="69" y="0"/>
                  <a:pt x="69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s-MX"/>
          </a:p>
        </p:txBody>
      </p:sp>
      <p:sp>
        <p:nvSpPr>
          <p:cNvPr id="49" name="nuestro caja Text Box 41"/>
          <p:cNvSpPr txBox="1">
            <a:spLocks noChangeArrowheads="1"/>
          </p:cNvSpPr>
          <p:nvPr/>
        </p:nvSpPr>
        <p:spPr bwMode="auto">
          <a:xfrm>
            <a:off x="1207690" y="5037814"/>
            <a:ext cx="1905000" cy="1055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</a:pPr>
            <a:endParaRPr lang="en-US" sz="40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ial" charset="0"/>
            </a:endParaRPr>
          </a:p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sz="4000" b="1" dirty="0" i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charset="0"/>
                <a:latin typeface="Arial"/>
              </a:rPr>
              <a:t>NO</a:t>
            </a:r>
          </a:p>
        </p:txBody>
      </p:sp>
      <p:sp>
        <p:nvSpPr>
          <p:cNvPr id="52" name="nuestro caja Rectangle 27"/>
          <p:cNvSpPr txBox="1">
            <a:spLocks noChangeArrowheads="1"/>
          </p:cNvSpPr>
          <p:nvPr/>
        </p:nvSpPr>
        <p:spPr bwMode="black"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wrap="square" lIns="45720" tIns="0" rIns="45720" bIns="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600" b="1" i="0" u="none" strike="noStrike" kern="0" cap="none" spc="0" normalizeH="0" baseline="0" noProof="0" dirty="0">
                <a:solidFill>
                  <a:srgbClr val="F4F7FB"/>
                </a:solidFill>
                <a:uLnTx/>
                <a:uFillTx/>
                <a:latin typeface="Arial"/>
              </a:rPr>
              <a:t>EVALUACIÓN DE LA ESCENA</a:t>
            </a:r>
          </a:p>
        </p:txBody>
      </p:sp>
      <p:sp>
        <p:nvSpPr>
          <p:cNvPr id="53" name="nuestro caja 52 CuadroTexto"/>
          <p:cNvSpPr txBox="1"/>
          <p:nvPr/>
        </p:nvSpPr>
        <p:spPr>
          <a:xfrm>
            <a:off x="683568" y="1340768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i="0">
                <a:solidFill>
                  <a:srgbClr val="BFBFBF"/>
                </a:solidFill>
                <a:latin typeface="Arial" pitchFamily="66" charset="0"/>
              </a:rPr>
              <a:t>Reconocimiento </a:t>
            </a:r>
            <a:r>
              <a:rPr lang="es-MX" sz="2400" dirty="0" i="0">
                <a:solidFill>
                  <a:srgbClr val="BFBFBF"/>
                </a:solidFill>
                <a:latin typeface="Arial" pitchFamily="66" charset="0"/>
              </a:rPr>
              <a:t>del lugar o evaluación del mismo antes de brindar el apoyo.</a:t>
            </a:r>
          </a:p>
        </p:txBody>
      </p:sp>
      <p:sp>
        <p:nvSpPr>
          <p:cNvPr id="54" name="nuestro caja Rectangle 9"/>
          <p:cNvSpPr txBox="1">
            <a:spLocks noChangeArrowheads="1"/>
          </p:cNvSpPr>
          <p:nvPr/>
        </p:nvSpPr>
        <p:spPr>
          <a:xfrm>
            <a:off x="4376042" y="3933056"/>
            <a:ext cx="4536504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 sz="2200" dirty="0" i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66" charset="0"/>
              </a:rPr>
              <a:t>TU SEGURIDAD Y DESPUES   LA DE LA PERSONA DEL PROBLEMA</a:t>
            </a:r>
          </a:p>
        </p:txBody>
      </p:sp>
      <p:sp>
        <p:nvSpPr>
          <p:cNvPr id="55" name="nuestro caja 54 CuadroTexto"/>
          <p:cNvSpPr txBox="1"/>
          <p:nvPr/>
        </p:nvSpPr>
        <p:spPr>
          <a:xfrm>
            <a:off x="343594" y="4005064"/>
            <a:ext cx="2952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200" dirty="0" i="0">
                <a:solidFill>
                  <a:srgbClr val="BFBFBF"/>
                </a:solidFill>
                <a:latin typeface="Arial" pitchFamily="66" charset="0"/>
              </a:rPr>
              <a:t>¿El lugar es seguro para mi?</a:t>
            </a:r>
          </a:p>
        </p:txBody>
      </p:sp>
      <p:pic>
        <p:nvPicPr>
          <p:cNvPr id="108590" name="Logos K-9 ACC" descr="placa-principal.png"/>
          <p:cNvPicPr>
            <a:picLocks noChangeAspect="1"/>
          </p:cNvPicPr>
          <p:nvPr/>
        </p:nvPicPr>
        <p:blipFill>
          <a:blip r:embed="rIdL9n5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85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8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8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85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8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8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85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8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8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83" grpId="0"/>
      <p:bldP spid="108584" grpId="0"/>
      <p:bldP spid="108585" grpId="0"/>
      <p:bldP spid="49" grpId="0"/>
      <p:bldP spid="52" grpId="0"/>
      <p:bldP spid="53" grpId="0"/>
      <p:bldP spid="54" grpId="0"/>
      <p:bldP spid="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0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 txBox="1">
            <a:spLocks noChangeArrowheads="1"/>
          </p:cNvSpPr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lIns="45720" tIns="0" rIns="45720" bIns="0" rtlCol="0" anchor="ctr" wrap="square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indent="0" marL="0">
              <a:defRPr/>
              <a:buNone/>
            </a:pPr>
            <a:r>
              <a:rPr lang="es-ES" sz="2600" b="1" dirty="0" cap="none">
                <a:solidFill>
                  <a:srgbClr val="F4F7FB"/>
                </a:solidFill>
                <a:latin typeface="Arial"/>
              </a:rPr>
              <a:t>ACTIVACIÓN DEL SERVICIO DE EMERGENCIA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365760" y="1484784"/>
            <a:ext cx="8526720" cy="1280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s-MX" sz="2400" dirty="0">
                <a:solidFill>
                  <a:srgbClr val="BFBFBF"/>
                </a:solidFill>
                <a:latin typeface="Arial" pitchFamily="66" charset="0"/>
              </a:rPr>
              <a:t>Después del Reconocimiento primario, solicitar apoyo de la Cruz Roja, Bomberos, Ambulancia Particular o dependencia autorizada por la organización.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365760" y="4005064"/>
            <a:ext cx="5208654" cy="20482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s-MX" sz="2400" dirty="0">
                <a:solidFill>
                  <a:srgbClr val="BFBFBF"/>
                </a:solidFill>
                <a:latin typeface="Arial" pitchFamily="66" charset="0"/>
              </a:rPr>
              <a:t>Señalándole a una persona indíquele:</a:t>
            </a:r>
          </a:p>
          <a:p>
            <a:pPr algn="ctr"/>
            <a:r>
              <a:rPr lang="es-MX" sz="2400" b="1" dirty="0">
                <a:solidFill>
                  <a:srgbClr val="F1AEAE"/>
                </a:solidFill>
                <a:latin typeface="Arial" pitchFamily="66" charset="0"/>
              </a:rPr>
              <a:t>“Usted </a:t>
            </a:r>
            <a:r>
              <a:rPr lang="es-MX" sz="2400" dirty="0">
                <a:solidFill>
                  <a:srgbClr val="BFBFBF"/>
                </a:solidFill>
                <a:latin typeface="Arial" pitchFamily="66" charset="0"/>
              </a:rPr>
              <a:t>llámele a la ambulancia de la Cruz Roja y regrese de inmediato a informa”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6660232" y="5149641"/>
            <a:ext cx="1584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dirty="0">
                <a:solidFill>
                  <a:srgbClr val="BFBFBF"/>
                </a:solidFill>
              </a:rPr>
              <a:t>911</a:t>
            </a:r>
          </a:p>
        </p:txBody>
      </p:sp>
      <p:pic>
        <p:nvPicPr>
          <p:cNvPr id="175108" name="Logos K-9 ACC" descr="placa-principal.png"/>
          <p:cNvPicPr>
            <a:picLocks noChangeAspect="1"/>
          </p:cNvPicPr>
          <p:nvPr/>
        </p:nvPicPr>
        <p:blipFill>
          <a:blip r:embed="rIdL10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1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320040" y="2047778"/>
            <a:ext cx="8321040" cy="33575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l">
              <a:buFont typeface="Wingdings" pitchFamily="2" charset="2"/>
              <a:buChar char="§"/>
            </a:pPr>
            <a:r>
              <a:rPr lang="es-MX" sz="2700" dirty="0">
                <a:solidFill>
                  <a:srgbClr val="BFBFBF"/>
                </a:solidFill>
                <a:latin typeface="Arial" pitchFamily="66" charset="0"/>
              </a:rPr>
              <a:t>Nombre y Numero Telefónico.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s-MX" sz="2700" dirty="0">
                <a:solidFill>
                  <a:srgbClr val="BFBFBF"/>
                </a:solidFill>
                <a:latin typeface="Arial" pitchFamily="66" charset="0"/>
              </a:rPr>
              <a:t>Ubicación (Nombre del lugar, zona en que ocurrió, etc.).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s-MX" sz="2700" dirty="0">
                <a:solidFill>
                  <a:srgbClr val="BFBFBF"/>
                </a:solidFill>
                <a:latin typeface="Arial" pitchFamily="66" charset="0"/>
              </a:rPr>
              <a:t>Descripción de lo ocurrido.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s-MX" sz="2700" dirty="0">
                <a:solidFill>
                  <a:srgbClr val="BFBFBF"/>
                </a:solidFill>
                <a:latin typeface="Arial" pitchFamily="66" charset="0"/>
              </a:rPr>
              <a:t>Numero de Lesionados.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s-MX" sz="2700" dirty="0">
                <a:solidFill>
                  <a:srgbClr val="BFBFBF"/>
                </a:solidFill>
                <a:latin typeface="Arial" pitchFamily="66" charset="0"/>
              </a:rPr>
              <a:t>Estado en el que se encuentran.</a:t>
            </a:r>
          </a:p>
          <a:p>
            <a:pPr marL="342900" indent="-342900" algn="l">
              <a:buFont typeface="Wingdings" pitchFamily="2" charset="2"/>
              <a:buChar char="§"/>
            </a:pPr>
            <a:r>
              <a:rPr lang="es-MX" sz="2700" dirty="0">
                <a:solidFill>
                  <a:srgbClr val="BFBFBF"/>
                </a:solidFill>
                <a:latin typeface="Arial" pitchFamily="66" charset="0"/>
              </a:rPr>
              <a:t>Primeros Auxilios que han recibido.</a:t>
            </a:r>
          </a:p>
          <a:p>
            <a:pPr algn="l"/>
            <a:endParaRPr lang="es-MX" sz="1328" dirty="0">
              <a:latin typeface="Arial" pitchFamily="66" charset="0"/>
            </a:endParaRPr>
          </a:p>
        </p:txBody>
      </p:sp>
      <p:sp>
        <p:nvSpPr>
          <p:cNvPr id="3" name="Rectangle 9"/>
          <p:cNvSpPr txBox="1">
            <a:spLocks noChangeArrowheads="1"/>
          </p:cNvSpPr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lIns="45720" tIns="0" rIns="45720" bIns="0" rtlCol="0" anchor="ctr" wrap="square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indent="0" marL="0">
              <a:defRPr/>
              <a:buNone/>
            </a:pPr>
            <a:r>
              <a:rPr lang="es-ES" sz="2600" b="1" dirty="0" cap="none">
                <a:solidFill>
                  <a:srgbClr val="F4F7FB"/>
                </a:solidFill>
                <a:latin typeface="Arial"/>
              </a:rPr>
              <a:t>DATOS A PROPORCIONAR</a:t>
            </a:r>
          </a:p>
        </p:txBody>
      </p:sp>
      <p:pic>
        <p:nvPicPr>
          <p:cNvPr id="174083" name="Logos K-9 ACC" descr="placa-principal.png"/>
          <p:cNvPicPr>
            <a:picLocks noChangeAspect="1"/>
          </p:cNvPicPr>
          <p:nvPr/>
        </p:nvPicPr>
        <p:blipFill>
          <a:blip r:embed="rIdL11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2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AutoShape 2"/>
          <p:cNvSpPr>
            <a:spLocks noChangeArrowheads="1"/>
          </p:cNvSpPr>
          <p:nvPr/>
        </p:nvSpPr>
        <p:spPr bwMode="ltGray">
          <a:xfrm>
            <a:off x="6077471" y="1990880"/>
            <a:ext cx="2310953" cy="3710533"/>
          </a:xfrm>
          <a:prstGeom prst="roundRect">
            <a:avLst>
              <a:gd name="adj" fmla="val 12574"/>
            </a:avLst>
          </a:pr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s-MX"/>
          </a:p>
        </p:txBody>
      </p:sp>
      <p:sp>
        <p:nvSpPr>
          <p:cNvPr id="110598" name="AutoShape 6"/>
          <p:cNvSpPr>
            <a:spLocks noChangeArrowheads="1"/>
          </p:cNvSpPr>
          <p:nvPr/>
        </p:nvSpPr>
        <p:spPr bwMode="ltGray">
          <a:xfrm>
            <a:off x="3419872" y="2525048"/>
            <a:ext cx="2442569" cy="3176366"/>
          </a:xfrm>
          <a:prstGeom prst="roundRect">
            <a:avLst>
              <a:gd name="adj" fmla="val 12574"/>
            </a:avLst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s-MX"/>
          </a:p>
        </p:txBody>
      </p:sp>
      <p:sp>
        <p:nvSpPr>
          <p:cNvPr id="110599" name="AutoShape 7"/>
          <p:cNvSpPr>
            <a:spLocks noChangeArrowheads="1"/>
          </p:cNvSpPr>
          <p:nvPr/>
        </p:nvSpPr>
        <p:spPr bwMode="ltGray">
          <a:xfrm>
            <a:off x="3515944" y="4998151"/>
            <a:ext cx="2337309" cy="696912"/>
          </a:xfrm>
          <a:prstGeom prst="roundRect">
            <a:avLst>
              <a:gd name="adj" fmla="val 42588"/>
            </a:avLst>
          </a:prstGeom>
          <a:gradFill rotWithShape="1"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gamma/>
                  <a:tint val="41176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s-MX"/>
          </a:p>
        </p:txBody>
      </p:sp>
      <p:sp>
        <p:nvSpPr>
          <p:cNvPr id="110600" name="AutoShape 8"/>
          <p:cNvSpPr>
            <a:spLocks noChangeArrowheads="1"/>
          </p:cNvSpPr>
          <p:nvPr/>
        </p:nvSpPr>
        <p:spPr bwMode="ltGray">
          <a:xfrm>
            <a:off x="3486177" y="2710960"/>
            <a:ext cx="2318487" cy="696912"/>
          </a:xfrm>
          <a:prstGeom prst="roundRect">
            <a:avLst>
              <a:gd name="adj" fmla="val 35907"/>
            </a:avLst>
          </a:prstGeom>
          <a:gradFill rotWithShape="1">
            <a:gsLst>
              <a:gs pos="0">
                <a:schemeClr val="accent2">
                  <a:gamma/>
                  <a:tint val="33333"/>
                  <a:invGamma/>
                </a:schemeClr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s-MX"/>
          </a:p>
        </p:txBody>
      </p:sp>
      <p:grpSp>
        <p:nvGrpSpPr>
          <p:cNvPr id="110601" name="Group 9"/>
          <p:cNvGrpSpPr>
            <a:grpSpLocks/>
          </p:cNvGrpSpPr>
          <p:nvPr/>
        </p:nvGrpSpPr>
        <p:grpSpPr bwMode="auto">
          <a:xfrm>
            <a:off x="971970" y="2998992"/>
            <a:ext cx="2339617" cy="2702421"/>
            <a:chOff x="750" y="1945"/>
            <a:chExt cx="1535" cy="1584"/>
          </a:xfrm>
        </p:grpSpPr>
        <p:sp>
          <p:nvSpPr>
            <p:cNvPr id="110602" name="AutoShape 10"/>
            <p:cNvSpPr>
              <a:spLocks noChangeArrowheads="1"/>
            </p:cNvSpPr>
            <p:nvPr/>
          </p:nvSpPr>
          <p:spPr bwMode="ltGray">
            <a:xfrm>
              <a:off x="750" y="1945"/>
              <a:ext cx="1487" cy="1584"/>
            </a:xfrm>
            <a:prstGeom prst="roundRect">
              <a:avLst>
                <a:gd name="adj" fmla="val 12574"/>
              </a:avLst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MX"/>
            </a:p>
          </p:txBody>
        </p:sp>
        <p:sp>
          <p:nvSpPr>
            <p:cNvPr id="110603" name="AutoShape 11"/>
            <p:cNvSpPr>
              <a:spLocks noChangeArrowheads="1"/>
            </p:cNvSpPr>
            <p:nvPr/>
          </p:nvSpPr>
          <p:spPr bwMode="ltGray">
            <a:xfrm>
              <a:off x="797" y="3118"/>
              <a:ext cx="1488" cy="408"/>
            </a:xfrm>
            <a:prstGeom prst="roundRect">
              <a:avLst>
                <a:gd name="adj" fmla="val 49755"/>
              </a:avLst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tint val="41176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MX"/>
            </a:p>
          </p:txBody>
        </p:sp>
        <p:sp>
          <p:nvSpPr>
            <p:cNvPr id="110604" name="AutoShape 12"/>
            <p:cNvSpPr>
              <a:spLocks noChangeArrowheads="1"/>
            </p:cNvSpPr>
            <p:nvPr/>
          </p:nvSpPr>
          <p:spPr bwMode="ltGray">
            <a:xfrm>
              <a:off x="750" y="1950"/>
              <a:ext cx="1462" cy="408"/>
            </a:xfrm>
            <a:prstGeom prst="roundRect">
              <a:avLst>
                <a:gd name="adj" fmla="val 38727"/>
              </a:avLst>
            </a:prstGeom>
            <a:gradFill rotWithShape="1">
              <a:gsLst>
                <a:gs pos="0">
                  <a:schemeClr val="accent1">
                    <a:gamma/>
                    <a:tint val="33333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MX"/>
            </a:p>
          </p:txBody>
        </p:sp>
      </p:grpSp>
      <p:sp>
        <p:nvSpPr>
          <p:cNvPr id="110608" name="Text Box 16"/>
          <p:cNvSpPr txBox="1">
            <a:spLocks noChangeArrowheads="1"/>
          </p:cNvSpPr>
          <p:nvPr/>
        </p:nvSpPr>
        <p:spPr bwMode="black">
          <a:xfrm>
            <a:off x="971600" y="2494936"/>
            <a:ext cx="2232248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b="1" cap="all" dirty="0">
                <a:solidFill>
                  <a:srgbClr val="BFBFBF"/>
                </a:solidFill>
                <a:effectLst>
                  <a:reflection blurRad="12700" stA="28000" endPos="45000" dist="1000" dir="5400000" sy="-100000" algn="bl" rotWithShape="0"/>
                </a:effectLst>
                <a:cs typeface="Arial" charset="0"/>
              </a:rPr>
              <a:t>PREVENTIVOS</a:t>
            </a:r>
          </a:p>
        </p:txBody>
      </p:sp>
      <p:sp>
        <p:nvSpPr>
          <p:cNvPr id="110615" name="Rectangle 23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4818888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defRPr/>
              <a:buNone/>
            </a:pPr>
            <a:r>
              <a:rPr lang="es-ES" dirty="0" sz="2200" b="1" cap="none">
                <a:solidFill>
                  <a:srgbClr val="F4F7FB"/>
                </a:solidFill>
                <a:latin typeface="Arial"/>
              </a:rPr>
              <a:t>LETREROS Y SEÑALAMIENTOS DE PLAYA Y ALBERCAS</a:t>
            </a:r>
          </a:p>
        </p:txBody>
      </p:sp>
      <p:sp>
        <p:nvSpPr>
          <p:cNvPr id="110616" name="AutoShape 24"/>
          <p:cNvSpPr>
            <a:spLocks noChangeArrowheads="1"/>
          </p:cNvSpPr>
          <p:nvPr/>
        </p:nvSpPr>
        <p:spPr bwMode="ltGray">
          <a:xfrm>
            <a:off x="6079058" y="2134897"/>
            <a:ext cx="2294024" cy="1272580"/>
          </a:xfrm>
          <a:prstGeom prst="roundRect">
            <a:avLst>
              <a:gd name="adj" fmla="val 35907"/>
            </a:avLst>
          </a:prstGeom>
          <a:gradFill rotWithShape="1">
            <a:gsLst>
              <a:gs pos="0">
                <a:schemeClr val="folHlink">
                  <a:gamma/>
                  <a:tint val="33333"/>
                  <a:invGamma/>
                </a:schemeClr>
              </a:gs>
              <a:gs pos="100000">
                <a:schemeClr val="folHlink">
                  <a:alpha val="0"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s-MX"/>
          </a:p>
        </p:txBody>
      </p:sp>
      <p:sp>
        <p:nvSpPr>
          <p:cNvPr id="110617" name="AutoShape 25"/>
          <p:cNvSpPr>
            <a:spLocks noChangeArrowheads="1"/>
          </p:cNvSpPr>
          <p:nvPr/>
        </p:nvSpPr>
        <p:spPr bwMode="ltGray">
          <a:xfrm rot="10800000">
            <a:off x="6079057" y="5006087"/>
            <a:ext cx="2294024" cy="696913"/>
          </a:xfrm>
          <a:prstGeom prst="roundRect">
            <a:avLst>
              <a:gd name="adj" fmla="val 35907"/>
            </a:avLst>
          </a:prstGeom>
          <a:gradFill rotWithShape="1">
            <a:gsLst>
              <a:gs pos="0">
                <a:schemeClr val="folHlink">
                  <a:gamma/>
                  <a:tint val="33333"/>
                  <a:invGamma/>
                </a:schemeClr>
              </a:gs>
              <a:gs pos="100000">
                <a:schemeClr val="folHlink">
                  <a:alpha val="0"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s-MX"/>
          </a:p>
        </p:txBody>
      </p:sp>
      <p:sp>
        <p:nvSpPr>
          <p:cNvPr id="26" name="25 Rectángulo"/>
          <p:cNvSpPr/>
          <p:nvPr/>
        </p:nvSpPr>
        <p:spPr>
          <a:xfrm>
            <a:off x="1043608" y="3719072"/>
            <a:ext cx="2160240" cy="153619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s-MX" sz="2200" b="1" dirty="0">
                <a:solidFill>
                  <a:srgbClr val="FFFFFF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66" charset="0"/>
              </a:rPr>
              <a:t>Banderas,  Resacas, Línea de Vida.</a:t>
            </a:r>
          </a:p>
          <a:p>
            <a:pPr algn="ctr"/>
            <a:r>
              <a:rPr lang="es-MX" sz="2200" b="1" dirty="0">
                <a:solidFill>
                  <a:srgbClr val="FFFFFF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66" charset="0"/>
              </a:rPr>
              <a:t>Flora y fauna</a:t>
            </a:r>
            <a:endParaRPr lang="es-MX" sz="22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black">
          <a:xfrm>
            <a:off x="3419872" y="2062888"/>
            <a:ext cx="2376264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b="1" cap="all" dirty="0">
                <a:solidFill>
                  <a:srgbClr val="BFBFBF"/>
                </a:solidFill>
                <a:effectLst>
                  <a:reflection blurRad="12700" stA="28000" endPos="45000" dist="1000" dir="5400000" sy="-100000" algn="bl" rotWithShape="0"/>
                </a:effectLst>
                <a:cs typeface="Arial" charset="0"/>
              </a:rPr>
              <a:t>INFORMATIVOS</a:t>
            </a:r>
          </a:p>
        </p:txBody>
      </p:sp>
      <p:sp>
        <p:nvSpPr>
          <p:cNvPr id="28" name="27 Rectángulo"/>
          <p:cNvSpPr/>
          <p:nvPr/>
        </p:nvSpPr>
        <p:spPr>
          <a:xfrm>
            <a:off x="3510136" y="3215016"/>
            <a:ext cx="235800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200" b="1" cap="all" dirty="0">
                <a:solidFill>
                  <a:srgbClr val="FFFFFF"/>
                </a:solidFill>
                <a:effectLst>
                  <a:glow rad="101600">
                    <a:schemeClr val="accent3">
                      <a:alpha val="60000"/>
                    </a:schemeClr>
                  </a:glow>
                  <a:reflection blurRad="12700" stA="28000" endPos="45000" dist="1000" dir="5400000" sy="-100000" algn="bl" rotWithShape="0"/>
                </a:effectLst>
                <a:latin typeface="Arial" pitchFamily="66" charset="0"/>
              </a:rPr>
              <a:t> Horarios y Servicios.</a:t>
            </a:r>
          </a:p>
          <a:p>
            <a:r>
              <a:rPr lang="es-MX" sz="2200" b="1" cap="all" dirty="0" err="1">
                <a:solidFill>
                  <a:srgbClr val="FFFFFF"/>
                </a:solidFill>
                <a:effectLst>
                  <a:glow rad="101600">
                    <a:schemeClr val="accent3">
                      <a:alpha val="60000"/>
                    </a:schemeClr>
                  </a:glow>
                  <a:reflection blurRad="12700" stA="28000" endPos="45000" dist="1000" dir="5400000" sy="-100000" algn="bl" rotWithShape="0"/>
                </a:effectLst>
                <a:latin typeface="Arial" pitchFamily="66" charset="0"/>
              </a:rPr>
              <a:t>Profundidad.Reglamento</a:t>
            </a:r>
            <a:r>
              <a:rPr lang="es-MX" sz="2200" b="1" cap="all" dirty="0">
                <a:solidFill>
                  <a:srgbClr val="FFFFFF"/>
                </a:solidFill>
                <a:effectLst>
                  <a:glow rad="101600">
                    <a:schemeClr val="accent3">
                      <a:alpha val="60000"/>
                    </a:schemeClr>
                  </a:glow>
                  <a:reflection blurRad="12700" stA="28000" endPos="45000" dist="1000" dir="5400000" sy="-100000" algn="bl" rotWithShape="0"/>
                </a:effectLst>
                <a:latin typeface="Arial" pitchFamily="66" charset="0"/>
              </a:rPr>
              <a:t>.</a:t>
            </a:r>
            <a:endParaRPr lang="es-MX" sz="22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glow rad="101600">
                  <a:schemeClr val="accent3">
                    <a:alpha val="60000"/>
                  </a:schemeClr>
                </a:glow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1" name="30 Rectángulo"/>
          <p:cNvSpPr/>
          <p:nvPr/>
        </p:nvSpPr>
        <p:spPr>
          <a:xfrm>
            <a:off x="6300192" y="2782968"/>
            <a:ext cx="2088232" cy="172821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s-MX" sz="2500" dirty="0">
                <a:solidFill>
                  <a:srgbClr val="FFFFFF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66" charset="0"/>
              </a:rPr>
              <a:t>No nadar, áreas de No clavados, etc.</a:t>
            </a:r>
            <a:endParaRPr lang="es-MX" sz="25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2" name="Text Box 16"/>
          <p:cNvSpPr txBox="1">
            <a:spLocks noChangeArrowheads="1"/>
          </p:cNvSpPr>
          <p:nvPr/>
        </p:nvSpPr>
        <p:spPr bwMode="black">
          <a:xfrm>
            <a:off x="6084168" y="1557953"/>
            <a:ext cx="2376264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b="1" cap="all" dirty="0">
                <a:solidFill>
                  <a:srgbClr val="BFBFBF"/>
                </a:solidFill>
                <a:effectLst>
                  <a:reflection blurRad="12700" stA="28000" endPos="45000" dist="1000" dir="5400000" sy="-100000" algn="bl" rotWithShape="0"/>
                </a:effectLst>
                <a:cs typeface="Arial" charset="0"/>
              </a:rPr>
              <a:t>RESTRICTIVOS</a:t>
            </a:r>
          </a:p>
        </p:txBody>
      </p:sp>
      <p:pic>
        <p:nvPicPr>
          <p:cNvPr id="110618" name="Logos K-9 ACC" descr="placa-principal.png"/>
          <p:cNvPicPr>
            <a:picLocks noChangeAspect="1"/>
          </p:cNvPicPr>
          <p:nvPr/>
        </p:nvPicPr>
        <p:blipFill>
          <a:blip r:embed="rIdL12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6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06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8" grpId="0"/>
      <p:bldP spid="110615" grpId="0"/>
      <p:bldP spid="26" grpId="0"/>
      <p:bldP spid="27" grpId="0"/>
      <p:bldP spid="28" grpId="0"/>
      <p:bldP spid="31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3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Logos K-9 ACC" descr="placa-principal.png"/>
          <p:cNvPicPr>
            <a:picLocks noChangeAspect="1"/>
          </p:cNvPicPr>
          <p:nvPr/>
        </p:nvPicPr>
        <p:blipFill>
          <a:blip r:embed="rIdL13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19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Colores de banderas en áreas acuáticas</a:t>
            </a:r>
          </a:p>
        </p:txBody>
      </p:sp>
      <p:sp>
        <p:nvSpPr>
          <p:cNvPr id="20" name="Wave 19"/>
          <p:cNvSpPr/>
          <p:nvPr/>
        </p:nvSpPr>
        <p:spPr>
          <a:xfrm>
            <a:off x="548640" y="1874520"/>
            <a:ext cx="1645920" cy="1188720"/>
          </a:xfrm>
          <a:prstGeom prst="wave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1737360"/>
            <a:ext cx="91440" cy="18288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uestro caja"/>
          <p:cNvSpPr/>
          <p:nvPr/>
        </p:nvSpPr>
        <p:spPr>
          <a:xfrm>
            <a:off x="2560320" y="1737360"/>
            <a:ext cx="6172200" cy="1828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B2545"/>
                </a:solidFill>
                <a:latin typeface="Arial"/>
              </a:rPr>
              <a:t>ROJO</a:t>
            </a:r>
          </a:p>
          <a:p>
            <a:pPr algn="ctr"/>
            <a:r>
              <a:rPr sz="2000" b="0">
                <a:solidFill>
                  <a:srgbClr val="0B2545"/>
                </a:solidFill>
                <a:latin typeface="Arial"/>
              </a:rPr>
              <a:t>Prohibición total de acceso a área acuática</a:t>
            </a:r>
          </a:p>
        </p:txBody>
      </p:sp>
      <p:sp>
        <p:nvSpPr>
          <p:cNvPr id="23" name="Wave 22"/>
          <p:cNvSpPr/>
          <p:nvPr/>
        </p:nvSpPr>
        <p:spPr>
          <a:xfrm>
            <a:off x="548640" y="4251960"/>
            <a:ext cx="1645920" cy="1188720"/>
          </a:xfrm>
          <a:prstGeom prst="wav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91440" cy="18288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uestro caja"/>
          <p:cNvSpPr/>
          <p:nvPr/>
        </p:nvSpPr>
        <p:spPr>
          <a:xfrm>
            <a:off x="2560320" y="4114800"/>
            <a:ext cx="6172200" cy="1828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B2545"/>
                </a:solidFill>
                <a:latin typeface="Arial"/>
              </a:rPr>
              <a:t>AMARILLO</a:t>
            </a:r>
          </a:p>
          <a:p>
            <a:pPr algn="ctr"/>
            <a:r>
              <a:rPr sz="2000" b="0">
                <a:solidFill>
                  <a:srgbClr val="0B2545"/>
                </a:solidFill>
                <a:latin typeface="Arial"/>
              </a:rPr>
              <a:t>Nadar con precaución considerando limites y habilidades para la práctica de actividades acuáticas.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4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5"/>
          <p:cNvSpPr>
            <a:spLocks noChangeArrowheads="1"/>
          </p:cNvSpPr>
          <p:nvPr/>
        </p:nvSpPr>
        <p:spPr bwMode="ltGray">
          <a:xfrm>
            <a:off x="1007604" y="2492896"/>
            <a:ext cx="7632848" cy="2381169"/>
          </a:xfrm>
          <a:prstGeom prst="roundRect">
            <a:avLst>
              <a:gd name="adj" fmla="val 16667"/>
            </a:avLst>
          </a:prstGeom>
          <a:solidFill>
            <a:schemeClr val="hlink">
              <a:alpha val="5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s-MX"/>
          </a:p>
        </p:txBody>
      </p:sp>
      <p:sp>
        <p:nvSpPr>
          <p:cNvPr id="23" name="22 Rectángulo"/>
          <p:cNvSpPr/>
          <p:nvPr/>
        </p:nvSpPr>
        <p:spPr>
          <a:xfrm>
            <a:off x="1187624" y="2496959"/>
            <a:ext cx="7272808" cy="28163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s-MX" sz="2800" dirty="0">
                <a:solidFill>
                  <a:srgbClr val="FFFFFF"/>
                </a:solidFill>
              </a:rPr>
              <a:t>Actividad encaminada a la recuperación de una persona con vida cuando la victima carece de la aparente habilidad de hacerlo por su propia cuenta – librar a una persona de un peligro, riesgo o daño. </a:t>
            </a:r>
          </a:p>
        </p:txBody>
      </p:sp>
      <p:sp>
        <p:nvSpPr>
          <p:cNvPr id="26" name="Rectangle 29"/>
          <p:cNvSpPr txBox="1">
            <a:spLocks noChangeArrowheads="1"/>
          </p:cNvSpPr>
          <p:nvPr/>
        </p:nvSpPr>
        <p:spPr bwMode="black"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wrap="square" lIns="45720" tIns="0" rIns="45720" bIns="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600" b="1" i="0" u="none" strike="noStrike" kern="0" cap="none" spc="0" normalizeH="0" baseline="0" noProof="0" dirty="0">
                <a:solidFill>
                  <a:srgbClr val="F4F7FB"/>
                </a:solidFill>
                <a:uLnTx/>
                <a:uFillTx/>
                <a:latin typeface="Arial"/>
              </a:rPr>
              <a:t>Salvamento</a:t>
            </a:r>
            <a:r>
              <a:rPr kumimoji="0" lang="es-MX" sz="2600" b="1" i="0" u="none" strike="noStrike" kern="0" cap="none" spc="0" normalizeH="0" baseline="0" noProof="0" dirty="0">
                <a:solidFill>
                  <a:srgbClr val="F4F7FB"/>
                </a:solidFill>
                <a:uLnTx/>
                <a:uFillTx/>
                <a:latin typeface="Arial"/>
              </a:rPr>
              <a:t> </a:t>
            </a:r>
            <a:r>
              <a:rPr kumimoji="0" lang="es-MX" sz="2600" b="1" i="0" u="none" strike="noStrike" kern="0" cap="none" spc="0" normalizeH="0" baseline="0" noProof="0" dirty="0">
                <a:solidFill>
                  <a:srgbClr val="F4F7FB"/>
                </a:solidFill>
                <a:uLnTx/>
                <a:uFillTx/>
                <a:latin typeface="Arial"/>
              </a:rPr>
              <a:t>Acuático</a:t>
            </a:r>
          </a:p>
        </p:txBody>
      </p:sp>
      <p:pic>
        <p:nvPicPr>
          <p:cNvPr id="27" name="Logos K-9 ACC" descr="placa-principal.png"/>
          <p:cNvPicPr>
            <a:picLocks noChangeAspect="1"/>
          </p:cNvPicPr>
          <p:nvPr/>
        </p:nvPicPr>
        <p:blipFill>
          <a:blip r:embed="rIdL14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5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/>
          <p:cNvSpPr txBox="1">
            <a:spLocks noChangeArrowheads="1"/>
          </p:cNvSpPr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lIns="45720" tIns="0" rIns="45720" bIns="0" rtlCol="0" anchor="ctr" wrap="square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indent="0" marL="0">
              <a:defRPr/>
              <a:buNone/>
            </a:pPr>
            <a:r>
              <a:rPr lang="es-ES" sz="2600" b="1" dirty="0" cap="none">
                <a:solidFill>
                  <a:srgbClr val="F4F7FB"/>
                </a:solidFill>
                <a:latin typeface="Arial"/>
              </a:rPr>
              <a:t>DESCRIPCION DEL ENTORNO ACUÁTICO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67544" y="1340768"/>
            <a:ext cx="8280027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C00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s-ES" sz="250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La importancia</a:t>
            </a:r>
            <a:r>
              <a:rPr kumimoji="0" lang="es-ES" sz="2500" i="0" u="none" strike="noStrike" kern="0" cap="none" spc="0" normalizeH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 de conocer nuestra área de trabajo ya sea aguas abiertas (playa) o aguas confinadas (albercas) o parque acuáticos, nos dará un buen desempeño de nuestras labores como guardavidas y personal de la brigada de seguridad, salvamento y rescate acuático.</a:t>
            </a:r>
            <a:endParaRPr kumimoji="0" lang="es-ES" sz="2800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</a:endParaRPr>
          </a:p>
        </p:txBody>
      </p:sp>
      <p:pic>
        <p:nvPicPr>
          <p:cNvPr id="14338" name="Picture 2" descr="http://www.vendoencancun.com/imagenes/fotosdeinmuebles/2500221899_c0afe30e30.jpg"/>
          <p:cNvPicPr>
            <a:picLocks noChangeAspect="1" noChangeArrowheads="1"/>
          </p:cNvPicPr>
          <p:nvPr/>
        </p:nvPicPr>
        <p:blipFill>
          <a:blip r:embed="rIdL15n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425" y="4004138"/>
            <a:ext cx="3805149" cy="2853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9" name="Logos K-9 ACC" descr="placa-principal.png"/>
          <p:cNvPicPr>
            <a:picLocks noChangeAspect="1"/>
          </p:cNvPicPr>
          <p:nvPr/>
        </p:nvPicPr>
        <p:blipFill>
          <a:blip r:embed="rIdL15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6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://www.turismocarek.com/images/Imagenes%20CANCUN/beach.jpg"/>
          <p:cNvPicPr>
            <a:picLocks noChangeAspect="1" noChangeArrowheads="1"/>
          </p:cNvPicPr>
          <p:nvPr/>
        </p:nvPicPr>
        <p:blipFill rotWithShape="1">
          <a:blip r:embed="rIdL16n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6" r="12126"/>
          <a:stretch>
            <a:fillRect/>
          </a:stretch>
        </p:blipFill>
        <p:spPr bwMode="auto">
          <a:xfrm>
            <a:off x="5985390" y="1547331"/>
            <a:ext cx="2757716" cy="474174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ectangle 9"/>
          <p:cNvSpPr txBox="1">
            <a:spLocks noChangeArrowheads="1"/>
          </p:cNvSpPr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lIns="45720" tIns="0" rIns="45720" bIns="0" rtlCol="0" anchor="ctr" wrap="square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indent="0" marL="0">
              <a:defRPr/>
              <a:buNone/>
            </a:pPr>
            <a:r>
              <a:rPr lang="es-ES" sz="2600" b="1" dirty="0" cap="none">
                <a:solidFill>
                  <a:srgbClr val="F4F7FB"/>
                </a:solidFill>
                <a:latin typeface="Arial"/>
              </a:rPr>
              <a:t>PUNTOS IMPORTANTES QUE DEBES SABER</a:t>
            </a:r>
          </a:p>
        </p:txBody>
      </p:sp>
      <p:sp>
        <p:nvSpPr>
          <p:cNvPr id="62" name="Rectangle 10"/>
          <p:cNvSpPr>
            <a:spLocks noChangeArrowheads="1"/>
          </p:cNvSpPr>
          <p:nvPr/>
        </p:nvSpPr>
        <p:spPr bwMode="auto">
          <a:xfrm>
            <a:off x="400893" y="1207008"/>
            <a:ext cx="5447337" cy="563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C00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s-ES" sz="2600" b="1" i="0" u="sng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PLAYA:</a:t>
            </a: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6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Longitud y limites o colindancia de playa.</a:t>
            </a: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kumimoji="0" lang="es-ES" sz="260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Características de la playa (rocas, arrecifes, relieve,</a:t>
            </a:r>
            <a:r>
              <a:rPr kumimoji="0" lang="es-ES" sz="2600" i="0" u="none" strike="noStrike" kern="0" cap="none" spc="0" normalizeH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 etc.).</a:t>
            </a: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600" kern="0" baseline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Tipo de oleaje, corriente (dirección),</a:t>
            </a:r>
            <a:r>
              <a:rPr lang="es-ES" sz="26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resacas.</a:t>
            </a: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kumimoji="0" lang="es-ES" sz="260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Plano de playa y batimetría</a:t>
            </a:r>
            <a:r>
              <a:rPr kumimoji="0" lang="es-ES" sz="2600" i="0" u="none" strike="noStrike" kern="0" cap="none" spc="0" normalizeH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 de la zona.</a:t>
            </a: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600" kern="0" noProof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Señalización: Número, Localización, Contenido y Banderas.</a:t>
            </a:r>
            <a:endParaRPr kumimoji="0" lang="es-ES" sz="2648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</a:endParaRPr>
          </a:p>
        </p:txBody>
      </p:sp>
      <p:pic>
        <p:nvPicPr>
          <p:cNvPr id="20483" name="Logos K-9 ACC" descr="placa-principal.png"/>
          <p:cNvPicPr>
            <a:picLocks noChangeAspect="1"/>
          </p:cNvPicPr>
          <p:nvPr/>
        </p:nvPicPr>
        <p:blipFill>
          <a:blip r:embed="rIdL16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7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://www.mundopano.com/wp-content/uploads/2009/06/cancun_alberca_07.jpg"/>
          <p:cNvPicPr>
            <a:picLocks noChangeAspect="1" noChangeArrowheads="1"/>
          </p:cNvPicPr>
          <p:nvPr/>
        </p:nvPicPr>
        <p:blipFill rotWithShape="1">
          <a:blip r:embed="rIdL17n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0" r="17789"/>
          <a:stretch>
            <a:fillRect/>
          </a:stretch>
        </p:blipFill>
        <p:spPr bwMode="auto">
          <a:xfrm>
            <a:off x="4995862" y="2000534"/>
            <a:ext cx="3761306" cy="3606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386830" y="1410347"/>
            <a:ext cx="4473473" cy="5219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marL="1143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4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Longitud , anchura, profundidades, superficie de metros cuadrados.</a:t>
            </a:r>
          </a:p>
          <a:p>
            <a:pPr marL="1143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kumimoji="0" lang="es-ES" sz="240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Ubicación</a:t>
            </a:r>
            <a:r>
              <a:rPr kumimoji="0" lang="es-ES" sz="2400" i="0" u="none" strike="noStrike" kern="0" cap="none" spc="0" normalizeH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 y Número.</a:t>
            </a: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400" kern="0" baseline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Equipamiento (Trampolín, escalones, estructuras, juegos,</a:t>
            </a:r>
            <a:r>
              <a:rPr lang="es-ES" sz="24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etc.)</a:t>
            </a:r>
          </a:p>
          <a:p>
            <a:pPr marL="1143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kumimoji="0" lang="es-ES" sz="240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Material de pisos, luces, señalización, letreros etc. </a:t>
            </a:r>
            <a:endParaRPr kumimoji="0" lang="es-ES" sz="2353" i="0" u="none" strike="noStrike" kern="0" cap="none" spc="0" normalizeH="0" noProof="0" dirty="0">
              <a:ln>
                <a:noFill/>
              </a:ln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</a:endParaRPr>
          </a:p>
          <a:p>
            <a:pPr marL="1143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400" kern="0" noProof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Camastro y similares, su localización fuera del  perímetro de la alberca.</a:t>
            </a:r>
            <a:endParaRPr kumimoji="0" lang="es-ES" sz="2353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wrap="square" lIns="45720" rIns="45720" tIns="0" bIns="0" anchor="ctr">
            <a:normAutofit/>
          </a:bodyPr>
          <a:lstStyle/>
          <a:p>
            <a:pPr marR="0" lvl="0" indent="0" algn="l" defTabSz="914400" eaLnBrk="1" fontAlgn="auto" latinLnBrk="0" hangingPunct="1" marL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C00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lang="es-ES" sz="2600" b="1" kern="0" dirty="0" cap="none">
                <a:solidFill>
                  <a:srgbClr val="F4F7FB"/>
                </a:solidFill>
                <a:latin typeface="Arial"/>
              </a:rPr>
              <a:t>ALBERCAS:</a:t>
            </a:r>
          </a:p>
        </p:txBody>
      </p:sp>
      <p:pic>
        <p:nvPicPr>
          <p:cNvPr id="21507" name="Logos K-9 ACC" descr="placa-principal.png"/>
          <p:cNvPicPr>
            <a:picLocks noChangeAspect="1"/>
          </p:cNvPicPr>
          <p:nvPr/>
        </p:nvPicPr>
        <p:blipFill>
          <a:blip r:embed="rIdL17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8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 txBox="1">
            <a:spLocks noChangeArrowheads="1"/>
          </p:cNvSpPr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lIns="45720" tIns="0" rIns="45720" bIns="0" rtlCol="0" anchor="ctr" wrap="square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indent="0" marL="0">
              <a:defRPr/>
              <a:buNone/>
            </a:pPr>
            <a:r>
              <a:rPr lang="es-ES" sz="2600" b="1" dirty="0" cap="none">
                <a:solidFill>
                  <a:srgbClr val="F4F7FB"/>
                </a:solidFill>
                <a:latin typeface="Arial"/>
              </a:rPr>
              <a:t>ÁREAS DE RIESGO</a:t>
            </a: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468437" y="1359024"/>
            <a:ext cx="8280027" cy="3339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C00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s-ES" sz="280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Existen zonas de riesgos comunes a todas las instalaciones acuáticas, las medidas de prevención y seguridad consisten el identificar estas zonas con el fin de disminuir y/o eliminar estos riesgos, ayudar a los usuarios a evitarlos y proporcionar supervisión constante en estas zonas. </a:t>
            </a:r>
          </a:p>
        </p:txBody>
      </p:sp>
      <p:pic>
        <p:nvPicPr>
          <p:cNvPr id="18434" name="Picture 2" descr="http://poolnatural.es/blog/wp-content/uploads/2012/08/Piscinas-en-el-parque-acuatico.jpg"/>
          <p:cNvPicPr>
            <a:picLocks noChangeAspect="1" noChangeArrowheads="1"/>
          </p:cNvPicPr>
          <p:nvPr/>
        </p:nvPicPr>
        <p:blipFill>
          <a:blip r:embed="rIdL18n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6" y="3933056"/>
            <a:ext cx="4968554" cy="279288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5" name="Logos K-9 ACC" descr="placa-principal.png"/>
          <p:cNvPicPr>
            <a:picLocks noChangeAspect="1"/>
          </p:cNvPicPr>
          <p:nvPr/>
        </p:nvPicPr>
        <p:blipFill>
          <a:blip r:embed="rIdL18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9n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274" name="Picture 2" descr="http://images.oyster.com/costa-rica/hotels/los-suenos-marriott-ocean-and-golf-resort/photos/restaurants-bars--v755989-1600.jpg"/>
          <p:cNvPicPr>
            <a:picLocks noChangeAspect="1" noChangeArrowheads="1"/>
          </p:cNvPicPr>
          <p:nvPr/>
        </p:nvPicPr>
        <p:blipFill>
          <a:blip r:embed="rIdL19n2" cstate="print"/>
          <a:srcRect/>
          <a:stretch>
            <a:fillRect/>
          </a:stretch>
        </p:blipFill>
        <p:spPr bwMode="auto">
          <a:xfrm>
            <a:off x="5836770" y="5190243"/>
            <a:ext cx="1888352" cy="14082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2276" name="Picture 4" descr="http://turista.me/hoteles/f/jalisco/puerto-vallarta-zona-hotelera/crown-paradise-club-puerto-vallarta/105actividades-acuaticas.jpg"/>
          <p:cNvPicPr>
            <a:picLocks noChangeAspect="1" noChangeArrowheads="1"/>
          </p:cNvPicPr>
          <p:nvPr/>
        </p:nvPicPr>
        <p:blipFill>
          <a:blip r:embed="rIdL19n3" cstate="print"/>
          <a:srcRect/>
          <a:stretch>
            <a:fillRect/>
          </a:stretch>
        </p:blipFill>
        <p:spPr bwMode="auto">
          <a:xfrm>
            <a:off x="4172597" y="5190243"/>
            <a:ext cx="1942419" cy="14128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2278" name="Picture 6" descr="http://t3.gstatic.com/images?q=tbn:ANd9GcSCQIz3idKZFi4gop4mcErwqi0-bZRv4LWji5wVaJmidro0Icxb"/>
          <p:cNvPicPr>
            <a:picLocks noChangeAspect="1" noChangeArrowheads="1"/>
          </p:cNvPicPr>
          <p:nvPr/>
        </p:nvPicPr>
        <p:blipFill>
          <a:blip r:embed="rIdL19n4" cstate="print"/>
          <a:srcRect/>
          <a:stretch>
            <a:fillRect/>
          </a:stretch>
        </p:blipFill>
        <p:spPr bwMode="auto">
          <a:xfrm>
            <a:off x="2242158" y="5476128"/>
            <a:ext cx="2173303" cy="8607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2280" name="Picture 8" descr="http://t3.gstatic.com/images?q=tbn:ANd9GcQs1fuZW_sI_t6YVlbJNl8q0_5mSYjik2JJhXBFTJpMJXr8Y2AOpQ"/>
          <p:cNvPicPr>
            <a:picLocks noChangeAspect="1" noChangeArrowheads="1"/>
          </p:cNvPicPr>
          <p:nvPr/>
        </p:nvPicPr>
        <p:blipFill>
          <a:blip r:embed="rIdL19n5" cstate="print"/>
          <a:srcRect/>
          <a:stretch>
            <a:fillRect/>
          </a:stretch>
        </p:blipFill>
        <p:spPr bwMode="auto">
          <a:xfrm>
            <a:off x="345472" y="5445163"/>
            <a:ext cx="2029820" cy="9293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2282" name="Picture 10" descr="http://www.ideal.es/granada/prensa/noticias/200905/05/fotos/803933.jpg"/>
          <p:cNvPicPr>
            <a:picLocks noChangeAspect="1" noChangeArrowheads="1"/>
          </p:cNvPicPr>
          <p:nvPr/>
        </p:nvPicPr>
        <p:blipFill>
          <a:blip r:embed="rIdL19n6" cstate="print"/>
          <a:srcRect/>
          <a:stretch>
            <a:fillRect/>
          </a:stretch>
        </p:blipFill>
        <p:spPr bwMode="auto">
          <a:xfrm>
            <a:off x="7668660" y="5190243"/>
            <a:ext cx="1028713" cy="13702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781024" y="1207008"/>
            <a:ext cx="3724408" cy="4257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3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Escaleras y Escalones.</a:t>
            </a: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kumimoji="0" lang="es-ES" sz="230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El bar dentro de la alberca (pool bar)</a:t>
            </a:r>
            <a:endParaRPr kumimoji="0" lang="es-ES" sz="2311" i="0" u="none" strike="noStrike" kern="0" cap="none" spc="0" normalizeH="0" noProof="0" dirty="0">
              <a:ln>
                <a:noFill/>
              </a:ln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</a:endParaRP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300" kern="0" baseline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Pisos</a:t>
            </a:r>
            <a:r>
              <a:rPr lang="es-ES" sz="23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húmedos.</a:t>
            </a: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kumimoji="0" lang="es-ES" sz="230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La</a:t>
            </a:r>
            <a:r>
              <a:rPr kumimoji="0" lang="es-ES" sz="2300" i="0" u="none" strike="noStrike" kern="0" cap="none" spc="0" normalizeH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 Profundidad.</a:t>
            </a: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300" kern="0" baseline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Las coladeras,</a:t>
            </a:r>
            <a:r>
              <a:rPr lang="es-ES" sz="23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salidas de agua y entrada de agua.</a:t>
            </a: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300" kern="0" baseline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Zonas de Regaderas.</a:t>
            </a: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300" kern="0" baseline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Fauna Marina.</a:t>
            </a:r>
            <a:endParaRPr kumimoji="0" lang="es-ES" sz="231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</a:endParaRPr>
          </a:p>
        </p:txBody>
      </p:sp>
      <p:sp>
        <p:nvSpPr>
          <p:cNvPr id="3" name="Rectangle 9"/>
          <p:cNvSpPr txBox="1">
            <a:spLocks noChangeArrowheads="1"/>
          </p:cNvSpPr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lIns="45720" tIns="0" rIns="45720" bIns="0" rtlCol="0" anchor="ctr" wrap="square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indent="0" marL="0">
              <a:defRPr/>
              <a:buNone/>
            </a:pPr>
            <a:r>
              <a:rPr lang="es-ES" sz="2600" b="1" dirty="0" cap="none">
                <a:solidFill>
                  <a:srgbClr val="F4F7FB"/>
                </a:solidFill>
                <a:latin typeface="Arial"/>
              </a:rPr>
              <a:t>ÁREAS DE RIESGO</a:t>
            </a: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5041305" y="1207008"/>
            <a:ext cx="3724408" cy="4411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marL="114300" indent="-457200" fontAlgn="auto"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defRPr/>
            </a:pPr>
            <a:r>
              <a:rPr lang="es-ES" sz="23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Zonas de actividades náuticas recreativas.</a:t>
            </a:r>
            <a:endParaRPr lang="es-ES" sz="2311" kern="0" baseline="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300" kern="0" baseline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Zona de fondeo</a:t>
            </a:r>
            <a:r>
              <a:rPr lang="es-ES" sz="23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(entradas y salidas de embarcaciones).</a:t>
            </a: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300" kern="0" baseline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Zona</a:t>
            </a:r>
            <a:r>
              <a:rPr lang="es-ES" sz="23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rocosas.</a:t>
            </a: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300" kern="0" baseline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Olas,</a:t>
            </a:r>
            <a:r>
              <a:rPr lang="es-ES" sz="23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arrecifes, corrientes.</a:t>
            </a: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300" kern="0" baseline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Azulejo.</a:t>
            </a: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r>
              <a:rPr lang="es-ES" sz="23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Jacuzzi</a:t>
            </a:r>
            <a:endParaRPr lang="es-ES" sz="2311" kern="0" baseline="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1143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itchFamily="34" charset="0"/>
              <a:buChar char="•"/>
              <a:tabLst/>
              <a:defRPr/>
            </a:pPr>
            <a:endParaRPr kumimoji="0" lang="es-ES" sz="1155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</a:endParaRPr>
          </a:p>
        </p:txBody>
      </p:sp>
      <p:pic>
        <p:nvPicPr>
          <p:cNvPr id="182283" name="Logos K-9 ACC" descr="placa-principal.png"/>
          <p:cNvPicPr>
            <a:picLocks noChangeAspect="1"/>
          </p:cNvPicPr>
          <p:nvPr/>
        </p:nvPicPr>
        <p:blipFill>
          <a:blip r:embed="rIdL19n8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0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Logos K-9 ACC" descr="placa-principal.png"/>
          <p:cNvPicPr>
            <a:picLocks noChangeAspect="1"/>
          </p:cNvPicPr>
          <p:nvPr/>
        </p:nvPicPr>
        <p:blipFill>
          <a:blip r:embed="rIdL20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19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Fauna nociva</a:t>
            </a:r>
          </a:p>
        </p:txBody>
      </p:sp>
      <p:sp>
        <p:nvSpPr>
          <p:cNvPr id="20" name="nuestro texto"/>
          <p:cNvSpPr txBox="1"/>
          <p:nvPr/>
        </p:nvSpPr>
        <p:spPr>
          <a:xfrm>
            <a:off x="411480" y="1325880"/>
            <a:ext cx="3108960" cy="5212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Las esponjas.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Las medusas campana o agua mala.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Fragata portuguesa.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Coral de fuego.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Coral fuego de alce.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Cubo medusa o dedal.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Pulga Marina.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Los erizos y estrellas de mar.</a:t>
            </a:r>
          </a:p>
        </p:txBody>
      </p:sp>
      <p:sp>
        <p:nvSpPr>
          <p:cNvPr id="21" name="nuestro texto"/>
          <p:cNvSpPr txBox="1"/>
          <p:nvPr/>
        </p:nvSpPr>
        <p:spPr>
          <a:xfrm>
            <a:off x="3657600" y="1325880"/>
            <a:ext cx="2286000" cy="5212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F2C14E"/>
                </a:solidFill>
                <a:latin typeface="Arial"/>
              </a:rPr>
              <a:t>PECES: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Raya pinta o águila de mar.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Pez escorpión.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La anguila.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Barracudas, etc.</a:t>
            </a:r>
          </a:p>
        </p:txBody>
      </p:sp>
      <p:sp>
        <p:nvSpPr>
          <p:cNvPr id="22" name="Tarjeta"/>
          <p:cNvSpPr/>
          <p:nvPr/>
        </p:nvSpPr>
        <p:spPr>
          <a:xfrm>
            <a:off x="5971032" y="2919959"/>
            <a:ext cx="2916936" cy="2023922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n-medusa.jpg"/>
          <p:cNvPicPr>
            <a:picLocks noChangeAspect="1"/>
          </p:cNvPicPr>
          <p:nvPr/>
        </p:nvPicPr>
        <p:blipFill>
          <a:blip r:embed="rIdL20n4"/>
          <a:stretch>
            <a:fillRect/>
          </a:stretch>
        </p:blipFill>
        <p:spPr>
          <a:xfrm>
            <a:off x="6080760" y="3029687"/>
            <a:ext cx="2697480" cy="1804466"/>
          </a:xfrm>
          <a:prstGeom prst="round2DiagRect">
            <a:avLst>
              <a:gd name="adj1" fmla="val 12000"/>
              <a:gd name="adj2" fmla="val 0"/>
            </a:avLst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1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/>
          <p:cNvSpPr txBox="1">
            <a:spLocks noChangeArrowheads="1"/>
          </p:cNvSpPr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lIns="45720" tIns="0" rIns="45720" bIns="0" rtlCol="0" anchor="ctr" wrap="square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indent="0" marL="0">
              <a:defRPr/>
              <a:buNone/>
            </a:pPr>
            <a:r>
              <a:rPr lang="es-ES" sz="2600" b="1" dirty="0" cap="none">
                <a:solidFill>
                  <a:srgbClr val="F4F7FB"/>
                </a:solidFill>
                <a:latin typeface="Arial"/>
              </a:rPr>
              <a:t>PLAYA DE MAR ABIERTO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57200" y="1647056"/>
            <a:ext cx="4937760" cy="516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C00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s-ES" sz="2100" i="0" u="none" strike="noStrike" kern="0" normalizeH="0" baseline="0" noProof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</a:rPr>
              <a:t>El 80% de los rescates en playas de mar abierto se realizan en resacas.</a:t>
            </a:r>
            <a:r>
              <a:rPr kumimoji="0" lang="es-ES" sz="2100" i="0" u="none" strike="noStrike" kern="0" normalizeH="0" noProof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</a:rPr>
              <a:t> Se refiere a las resacas como la maquina de cansar a los bañistas al punto de la fatiga y consecuentemente, produce el ahogamiento.</a:t>
            </a:r>
          </a:p>
          <a:p>
            <a:pPr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C00"/>
              </a:buClr>
              <a:buSzPct val="120000"/>
              <a:buFont typeface="Wingdings" pitchFamily="2" charset="2"/>
              <a:buNone/>
              <a:tabLst/>
              <a:defRPr/>
            </a:pPr>
            <a:endParaRPr lang="es-ES" sz="1400" kern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C00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s-ES" sz="2100" i="0" u="none" strike="noStrike" kern="0" normalizeH="0" noProof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</a:rPr>
              <a:t>Es necesario tener conocimientos del entorno marino y de la playa, entender su dinámica y peligros para poder evitar que los bañistas y nadadores puedan caer en una situación de peligro. </a:t>
            </a:r>
            <a:endParaRPr kumimoji="0" lang="es-ES" sz="2800" i="0" u="none" strike="noStrike" kern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</a:endParaRPr>
          </a:p>
        </p:txBody>
      </p:sp>
      <p:pic>
        <p:nvPicPr>
          <p:cNvPr id="16" name="Logos K-9 ACC" descr="placa-principal.png"/>
          <p:cNvPicPr>
            <a:picLocks noChangeAspect="1"/>
          </p:cNvPicPr>
          <p:nvPr/>
        </p:nvPicPr>
        <p:blipFill>
          <a:blip r:embed="rIdL21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17" name="Tarjeta"/>
          <p:cNvSpPr/>
          <p:nvPr/>
        </p:nvSpPr>
        <p:spPr>
          <a:xfrm>
            <a:off x="5559552" y="2739646"/>
            <a:ext cx="3328416" cy="2293108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n-olarocas.jpg"/>
          <p:cNvPicPr>
            <a:picLocks noChangeAspect="1"/>
          </p:cNvPicPr>
          <p:nvPr/>
        </p:nvPicPr>
        <p:blipFill>
          <a:blip r:embed="rIdL21n4"/>
          <a:stretch>
            <a:fillRect/>
          </a:stretch>
        </p:blipFill>
        <p:spPr>
          <a:xfrm>
            <a:off x="5669280" y="2849374"/>
            <a:ext cx="3108960" cy="2073652"/>
          </a:xfrm>
          <a:prstGeom prst="round2DiagRect">
            <a:avLst>
              <a:gd name="adj1" fmla="val 12000"/>
              <a:gd name="adj2" fmla="val 0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2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203" name="Logos K-9 ACC" descr="placa-principal.png"/>
          <p:cNvPicPr>
            <a:picLocks noChangeAspect="1"/>
          </p:cNvPicPr>
          <p:nvPr/>
        </p:nvPicPr>
        <p:blipFill>
          <a:blip r:embed="rIdL22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179204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Las olas</a:t>
            </a:r>
          </a:p>
        </p:txBody>
      </p:sp>
      <p:sp>
        <p:nvSpPr>
          <p:cNvPr id="179205" name="nuestro texto"/>
          <p:cNvSpPr txBox="1"/>
          <p:nvPr/>
        </p:nvSpPr>
        <p:spPr>
          <a:xfrm>
            <a:off x="411480" y="1325880"/>
            <a:ext cx="3931920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Las olas son formadas por la fuerza del viento contra el agua. Las olas calmadas en un momento pueden volverse violentas y peligrosas.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F2C14E"/>
                </a:solidFill>
                <a:latin typeface="Arial"/>
              </a:rPr>
              <a:t>Los factores que las afectan son: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1. La velocidad del viento.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2. Distancia que viaja sobre el mar.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3. Duración del viento.</a:t>
            </a:r>
          </a:p>
        </p:txBody>
      </p:sp>
      <p:pic>
        <p:nvPicPr>
          <p:cNvPr id="179206" name="Picture 179205" descr="n-olamonstruo.jpg"/>
          <p:cNvPicPr>
            <a:picLocks noChangeAspect="1"/>
          </p:cNvPicPr>
          <p:nvPr/>
        </p:nvPicPr>
        <p:blipFill>
          <a:blip r:embed="rIdL22n4"/>
          <a:stretch>
            <a:fillRect/>
          </a:stretch>
        </p:blipFill>
        <p:spPr>
          <a:xfrm>
            <a:off x="4526280" y="2691245"/>
            <a:ext cx="4251960" cy="2389909"/>
          </a:xfrm>
          <a:prstGeom prst="round2DiagRect">
            <a:avLst>
              <a:gd name="adj1" fmla="val 16000"/>
              <a:gd name="adj2" fmla="val 0"/>
            </a:avLst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3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4818888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dirty="0" sz="2600" b="1" cap="none">
                <a:solidFill>
                  <a:srgbClr val="F4F7FB"/>
                </a:solidFill>
                <a:latin typeface="Arial"/>
              </a:rPr>
              <a:t>Reconocimiento de las Victimas</a:t>
            </a: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85800" y="1645920"/>
            <a:ext cx="7772400" cy="452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noAutofit/>
          </a:bodyPr>
          <a:lstStyle/>
          <a:p>
            <a:pPr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C00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s-ES" sz="300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Cuando nos enfrentamos a tener victimas expuestas a</a:t>
            </a:r>
            <a:r>
              <a:rPr kumimoji="0" lang="es-ES" sz="3000" i="0" u="none" strike="noStrike" kern="0" cap="none" spc="0" normalizeH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 riesgos acuáticos podemos encontrar victimas activas o victimas pasivas</a:t>
            </a:r>
            <a:endParaRPr lang="es-ES" sz="2800" kern="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196610" name="Logos K-9 ACC" descr="placa-principal.png"/>
          <p:cNvPicPr>
            <a:picLocks noChangeAspect="1"/>
          </p:cNvPicPr>
          <p:nvPr/>
        </p:nvPicPr>
        <p:blipFill>
          <a:blip r:embed="rIdL23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4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uestro adorno"/>
          <p:cNvSpPr/>
          <p:nvPr/>
        </p:nvSpPr>
        <p:spPr>
          <a:xfrm>
            <a:off x="8549640" y="525780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uestro adorno"/>
          <p:cNvSpPr/>
          <p:nvPr/>
        </p:nvSpPr>
        <p:spPr>
          <a:xfrm>
            <a:off x="8549640" y="498348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uestro adorno"/>
          <p:cNvSpPr/>
          <p:nvPr/>
        </p:nvSpPr>
        <p:spPr>
          <a:xfrm>
            <a:off x="8549640" y="470916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uestro adorno"/>
          <p:cNvSpPr/>
          <p:nvPr/>
        </p:nvSpPr>
        <p:spPr>
          <a:xfrm>
            <a:off x="8275320" y="525780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uestro adorno"/>
          <p:cNvSpPr/>
          <p:nvPr/>
        </p:nvSpPr>
        <p:spPr>
          <a:xfrm>
            <a:off x="8275320" y="498348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uestro adorno"/>
          <p:cNvSpPr/>
          <p:nvPr/>
        </p:nvSpPr>
        <p:spPr>
          <a:xfrm>
            <a:off x="8275320" y="470916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uestro adorno"/>
          <p:cNvSpPr/>
          <p:nvPr/>
        </p:nvSpPr>
        <p:spPr>
          <a:xfrm>
            <a:off x="8001000" y="525780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uestro adorno"/>
          <p:cNvSpPr/>
          <p:nvPr/>
        </p:nvSpPr>
        <p:spPr>
          <a:xfrm>
            <a:off x="8001000" y="498348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uestro adorno"/>
          <p:cNvSpPr/>
          <p:nvPr/>
        </p:nvSpPr>
        <p:spPr>
          <a:xfrm>
            <a:off x="8001000" y="470916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uestro adorno"/>
          <p:cNvSpPr/>
          <p:nvPr/>
        </p:nvSpPr>
        <p:spPr>
          <a:xfrm>
            <a:off x="7726680" y="525780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uestro adorno"/>
          <p:cNvSpPr/>
          <p:nvPr/>
        </p:nvSpPr>
        <p:spPr>
          <a:xfrm>
            <a:off x="7726680" y="498348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uestro adorno"/>
          <p:cNvSpPr/>
          <p:nvPr/>
        </p:nvSpPr>
        <p:spPr>
          <a:xfrm>
            <a:off x="7726680" y="470916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uestro adorno"/>
          <p:cNvSpPr/>
          <p:nvPr/>
        </p:nvSpPr>
        <p:spPr>
          <a:xfrm>
            <a:off x="-1691640" y="5440680"/>
            <a:ext cx="3017520" cy="3017520"/>
          </a:xfrm>
          <a:prstGeom prst="donut">
            <a:avLst>
              <a:gd name="adj" fmla="val 7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uestro adorno"/>
          <p:cNvSpPr/>
          <p:nvPr/>
        </p:nvSpPr>
        <p:spPr>
          <a:xfrm>
            <a:off x="-2103120" y="5029200"/>
            <a:ext cx="3840480" cy="3840480"/>
          </a:xfrm>
          <a:prstGeom prst="donut">
            <a:avLst>
              <a:gd name="adj" fmla="val 5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Group 3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555335"/>
              </p:ext>
            </p:extLst>
          </p:nvPr>
        </p:nvGraphicFramePr>
        <p:xfrm>
          <a:off x="420263" y="1276782"/>
          <a:ext cx="8303472" cy="5351571"/>
        </p:xfrm>
        <a:graphic>
          <a:graphicData uri="http://schemas.openxmlformats.org/drawingml/2006/table">
            <a:tbl>
              <a:tblPr/>
              <a:tblGrid>
                <a:gridCol w="166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8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28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29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5DFD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29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5DFD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367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5DFD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75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5DFD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44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5DFD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744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2713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Group 3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941914"/>
              </p:ext>
            </p:extLst>
          </p:nvPr>
        </p:nvGraphicFramePr>
        <p:xfrm>
          <a:off x="2164327" y="1276782"/>
          <a:ext cx="1395193" cy="5352616"/>
        </p:xfrm>
        <a:graphic>
          <a:graphicData uri="http://schemas.openxmlformats.org/drawingml/2006/table">
            <a:tbl>
              <a:tblPr/>
              <a:tblGrid>
                <a:gridCol w="139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030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47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xotc350 DmBd BT"/>
                        </a:rPr>
                        <a:t>Nadador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85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47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xotc350 DmBd BT"/>
                        </a:rPr>
                        <a:t>Rítmica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74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47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xotc350 DmBd BT"/>
                        </a:rPr>
                        <a:t>Relativa coordinación de movimientos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47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xotc350 DmBd BT"/>
                        </a:rPr>
                        <a:t>Horizontal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51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47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xotc350 DmBd BT"/>
                        </a:rPr>
                        <a:t>Avance Reconocible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Group 3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61844"/>
              </p:ext>
            </p:extLst>
          </p:nvPr>
        </p:nvGraphicFramePr>
        <p:xfrm>
          <a:off x="3607793" y="1256797"/>
          <a:ext cx="1814075" cy="5372602"/>
        </p:xfrm>
        <a:graphic>
          <a:graphicData uri="http://schemas.openxmlformats.org/drawingml/2006/table">
            <a:tbl>
              <a:tblPr/>
              <a:tblGrid>
                <a:gridCol w="181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72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5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Exotc350 DmBd BT"/>
                        </a:rPr>
                        <a:t>Nadador en Problema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7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50" b="0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Exotc350 DmBd BT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5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Exotc350 DmBd BT"/>
                        </a:rPr>
                        <a:t>Puede continuar respirando y pedir ayuda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5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53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Exotc350 DmBd BT"/>
                        </a:rPr>
                        <a:t>Flotando, manoteando, tratando de mantenerse a flote, puede pedir ayuda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5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Exotc350 DmBd BT"/>
                        </a:rPr>
                        <a:t>Horizontal, vertical o diagonal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47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53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Exotc350 DmBd BT"/>
                        </a:rPr>
                        <a:t>Poco o ningún avance, pierde rápidamente la flotabilidad Reconocible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roup 3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495862"/>
              </p:ext>
            </p:extLst>
          </p:nvPr>
        </p:nvGraphicFramePr>
        <p:xfrm>
          <a:off x="5443875" y="1207008"/>
          <a:ext cx="1604395" cy="5356562"/>
        </p:xfrm>
        <a:graphic>
          <a:graphicData uri="http://schemas.openxmlformats.org/drawingml/2006/table">
            <a:tbl>
              <a:tblPr/>
              <a:tblGrid>
                <a:gridCol w="1604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9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5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xotc350 DmBd BT"/>
                        </a:rPr>
                        <a:t>Víctima Activa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97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5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xotc350 DmBd BT"/>
                        </a:rPr>
                        <a:t>Lucha para respirar, no puede pedir ayuda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0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5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xotc350 DmBd BT"/>
                        </a:rPr>
                        <a:t>Brazos a los lados, empujando el agua sin patada de apoyo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2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5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xotc350 DmBd BT"/>
                        </a:rPr>
                        <a:t>Vertical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5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xotc350 DmBd BT"/>
                        </a:rPr>
                        <a:t>Ningún avance, tiene solo 20 a 60 segundos para sumergirse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Group 3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335937"/>
              </p:ext>
            </p:extLst>
          </p:nvPr>
        </p:nvGraphicFramePr>
        <p:xfrm>
          <a:off x="7049159" y="1276782"/>
          <a:ext cx="1604802" cy="5073520"/>
        </p:xfrm>
        <a:graphic>
          <a:graphicData uri="http://schemas.openxmlformats.org/drawingml/2006/table">
            <a:tbl>
              <a:tblPr/>
              <a:tblGrid>
                <a:gridCol w="1604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94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5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Exotc350 DmBd BT"/>
                        </a:rPr>
                        <a:t>Víctima Pasiva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66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5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Exotc350 DmBd BT"/>
                        </a:rPr>
                        <a:t>No respira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53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5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Exotc350 DmBd BT"/>
                        </a:rPr>
                        <a:t>Ninguno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61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5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Exotc350 DmBd BT"/>
                        </a:rPr>
                        <a:t>Boca abajo, sumergido o cercano a la superficie</a:t>
                      </a: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9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5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Exotc350 DmBd BT"/>
                        </a:rPr>
                        <a:t>Ningún avance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Group 3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399834"/>
              </p:ext>
            </p:extLst>
          </p:nvPr>
        </p:nvGraphicFramePr>
        <p:xfrm>
          <a:off x="420625" y="1207008"/>
          <a:ext cx="1744351" cy="5352617"/>
        </p:xfrm>
        <a:graphic>
          <a:graphicData uri="http://schemas.openxmlformats.org/drawingml/2006/table">
            <a:tbl>
              <a:tblPr/>
              <a:tblGrid>
                <a:gridCol w="1744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438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47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Exotc350 DmBd BT" pitchFamily="82" charset="0"/>
                        </a:rPr>
                        <a:t>Comportamiento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54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47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Exotc350 DmBd BT" pitchFamily="82" charset="0"/>
                        </a:rPr>
                        <a:t>Respiración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40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47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Exotc350 DmBd BT" pitchFamily="82" charset="0"/>
                        </a:rPr>
                        <a:t>Relativo al Movimiento de Piernas y Brazos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54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47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Exotc350 DmBd BT" pitchFamily="82" charset="0"/>
                        </a:rPr>
                        <a:t>Posición del Cuerpo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38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47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Exotc350 DmBd BT" pitchFamily="82" charset="0"/>
                        </a:rPr>
                        <a:t>Locomoción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47" b="0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Exotc350 DmBd BT" pitchFamily="82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 txBox="1">
            <a:spLocks noChangeArrowheads="1"/>
          </p:cNvSpPr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lIns="45720" tIns="0" rIns="45720" bIns="0" rtlCol="0" anchor="ctr" wrap="square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indent="0" marL="0">
              <a:defRPr/>
              <a:buNone/>
            </a:pPr>
            <a:r>
              <a:rPr lang="es-ES" sz="2400" b="1" dirty="0" cap="none">
                <a:solidFill>
                  <a:srgbClr val="F4F7FB"/>
                </a:solidFill>
                <a:latin typeface="Arial"/>
              </a:rPr>
              <a:t>CARACTERISTICAS DE NADADORES EN </a:t>
            </a:r>
            <a:endParaRPr lang="es-MX" sz="2800" dirty="0">
              <a:solidFill>
                <a:srgbClr val="FF0000"/>
              </a:solidFill>
            </a:endParaRPr>
          </a:p>
          <a:p>
            <a:pPr algn="l" indent="0" marL="0">
              <a:defRPr/>
              <a:buNone/>
            </a:pPr>
            <a:r>
              <a:rPr lang="es-ES" sz="2400" b="1" dirty="0" cap="none">
                <a:solidFill>
                  <a:srgbClr val="F4F7FB"/>
                </a:solidFill>
                <a:latin typeface="Arial"/>
              </a:rPr>
              <a:t>PROBLEMAS</a:t>
            </a:r>
          </a:p>
        </p:txBody>
      </p:sp>
      <p:pic>
        <p:nvPicPr>
          <p:cNvPr id="36" name="Logos K-9 ACC" descr="placa-principal.png"/>
          <p:cNvPicPr>
            <a:picLocks noChangeAspect="1"/>
          </p:cNvPicPr>
          <p:nvPr/>
        </p:nvPicPr>
        <p:blipFill>
          <a:blip r:embed="rIdL24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4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5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 txBox="1">
            <a:spLocks noChangeArrowheads="1"/>
          </p:cNvSpPr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lIns="45720" tIns="0" rIns="45720" bIns="0" rtlCol="0" anchor="ctr" wrap="square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indent="0" marL="0">
              <a:defRPr/>
              <a:buNone/>
            </a:pPr>
            <a:r>
              <a:rPr lang="es-ES" sz="2600" b="1" dirty="0" cap="none">
                <a:solidFill>
                  <a:srgbClr val="F4F7FB"/>
                </a:solidFill>
                <a:latin typeface="Arial"/>
              </a:rPr>
              <a:t>VICTIMA ACTIVA CONSCIENTE</a:t>
            </a: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511098" y="1207008"/>
            <a:ext cx="8121803" cy="2829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C00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s-ES" sz="270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Una</a:t>
            </a:r>
            <a:r>
              <a:rPr kumimoji="0" lang="es-ES" sz="2700" i="0" u="none" strike="noStrike" kern="0" cap="none" spc="0" normalizeH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 victima de ahogamiento activo lucha en la superficie del agua en una forma altamente predecible. Debido a que el comportamiento de una persona que se esta ahogando es universal. Se le ha llamado la respuesta instintiva de ahogamiento.</a:t>
            </a:r>
            <a:endParaRPr lang="es-ES" sz="2738" kern="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195586" name="Picture 2" descr="http://2.bp.blogspot.com/-2ETssHPtNFI/UBL-sIgMdVI/AAAAAAAAA4c/WotLgRmSi5U/s1600/AHOGAMIENTO.jpg"/>
          <p:cNvPicPr>
            <a:picLocks noChangeAspect="1" noChangeArrowheads="1"/>
          </p:cNvPicPr>
          <p:nvPr/>
        </p:nvPicPr>
        <p:blipFill>
          <a:blip r:embed="rIdL25n2" cstate="print"/>
          <a:srcRect/>
          <a:stretch>
            <a:fillRect/>
          </a:stretch>
        </p:blipFill>
        <p:spPr bwMode="auto">
          <a:xfrm>
            <a:off x="3536668" y="3460469"/>
            <a:ext cx="4558811" cy="31689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5587" name="Logos K-9 ACC" descr="placa-principal.png"/>
          <p:cNvPicPr>
            <a:picLocks noChangeAspect="1"/>
          </p:cNvPicPr>
          <p:nvPr/>
        </p:nvPicPr>
        <p:blipFill>
          <a:blip r:embed="rIdL25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9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6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 txBox="1">
            <a:spLocks noChangeArrowheads="1"/>
          </p:cNvSpPr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lIns="45720" tIns="0" rIns="45720" bIns="0" rtlCol="0" anchor="ctr" wrap="square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indent="0" marL="0">
              <a:defRPr/>
              <a:buNone/>
            </a:pPr>
            <a:r>
              <a:rPr lang="es-ES" sz="2600" b="1" dirty="0" cap="none">
                <a:solidFill>
                  <a:srgbClr val="F4F7FB"/>
                </a:solidFill>
                <a:latin typeface="Arial"/>
              </a:rPr>
              <a:t>PUNTO IMPORTANTE</a:t>
            </a: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685800" y="1645920"/>
            <a:ext cx="7772400" cy="452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noAutofit/>
          </a:bodyPr>
          <a:lstStyle/>
          <a:p>
            <a:pPr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C00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s-ES" sz="260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Una</a:t>
            </a:r>
            <a:r>
              <a:rPr kumimoji="0" lang="es-ES" sz="2600" i="0" u="none" strike="noStrike" kern="0" cap="none" spc="0" normalizeH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 persona activa ahogándose, puede llamar para pedir auxilio, pero este no es el caso, la victima apenas tiende a inhalar aire para respirar, así que no hay aire adicional a los pulmones para pedir ayuda. Nuestros cuerpos nos obligan a respirar antes de que podamos hablar.</a:t>
            </a:r>
            <a:endParaRPr lang="es-ES" sz="2684" kern="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1027" name="Logos K-9 ACC" descr="placa-principal.png"/>
          <p:cNvPicPr>
            <a:picLocks noChangeAspect="1"/>
          </p:cNvPicPr>
          <p:nvPr/>
        </p:nvPicPr>
        <p:blipFill>
          <a:blip r:embed="rIdL26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7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 txBox="1">
            <a:spLocks noChangeArrowheads="1"/>
          </p:cNvSpPr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lIns="45720" tIns="0" rIns="45720" bIns="0" rtlCol="0" anchor="ctr" wrap="square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indent="0" marL="0">
              <a:defRPr/>
              <a:buNone/>
            </a:pPr>
            <a:r>
              <a:rPr lang="es-ES" sz="2600" b="1" dirty="0" cap="none">
                <a:solidFill>
                  <a:srgbClr val="F4F7FB"/>
                </a:solidFill>
                <a:latin typeface="Arial"/>
              </a:rPr>
              <a:t>VICTIMA PASIVA INCONSCIENTE</a:t>
            </a: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1187624" y="4210145"/>
            <a:ext cx="7128792" cy="256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C00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s-ES" sz="320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La victima puede flotar boca abajo o cerca de la</a:t>
            </a:r>
            <a:r>
              <a:rPr kumimoji="0" lang="es-ES" sz="3200" i="0" u="none" strike="noStrike" kern="0" cap="none" spc="0" normalizeH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 superficie, o el cuerpo puede hundirse hasta el fondo.</a:t>
            </a:r>
          </a:p>
          <a:p>
            <a:pPr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C00"/>
              </a:buClr>
              <a:buSzPct val="120000"/>
              <a:buFont typeface="Wingdings" pitchFamily="2" charset="2"/>
              <a:buNone/>
              <a:tabLst/>
              <a:defRPr/>
            </a:pPr>
            <a:endParaRPr kumimoji="0" lang="es-ES" sz="1600" i="0" u="none" strike="noStrike" kern="0" cap="none" spc="0" normalizeH="0" noProof="0" dirty="0">
              <a:ln>
                <a:noFill/>
              </a:ln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L27n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617" y="1484784"/>
            <a:ext cx="3866807" cy="2482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Logos K-9 ACC" descr="placa-principal.png"/>
          <p:cNvPicPr>
            <a:picLocks noChangeAspect="1"/>
          </p:cNvPicPr>
          <p:nvPr/>
        </p:nvPicPr>
        <p:blipFill>
          <a:blip r:embed="rIdL27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8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 txBox="1">
            <a:spLocks noChangeArrowheads="1"/>
          </p:cNvSpPr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lIns="45720" tIns="0" rIns="45720" bIns="0" rtlCol="0" anchor="ctr" wrap="square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indent="0" marL="0">
              <a:defRPr/>
              <a:buNone/>
            </a:pPr>
            <a:r>
              <a:rPr lang="es-ES" sz="2600" b="1" dirty="0" cap="none">
                <a:solidFill>
                  <a:srgbClr val="F4F7FB"/>
                </a:solidFill>
                <a:latin typeface="Arial"/>
              </a:rPr>
              <a:t>EL PÁNICO</a:t>
            </a: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539552" y="2564904"/>
            <a:ext cx="8016842" cy="2891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C00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s-ES" sz="280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Es la primera causa de muerte que influye en casi todos los accidentes de tipo acuático, es un </a:t>
            </a:r>
            <a:r>
              <a:rPr kumimoji="0" lang="es-ES" sz="2800" i="0" u="none" strike="noStrike" kern="0" cap="none" spc="0" normalizeH="0" baseline="0" noProof="0" dirty="0">
                <a:ln>
                  <a:noFill/>
                </a:ln>
                <a:solidFill>
                  <a:srgbClr val="C6AFE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terror repentino irracional</a:t>
            </a:r>
            <a:r>
              <a:rPr kumimoji="0" lang="es-ES" sz="2800" i="0" u="none" strike="noStrike" kern="0" cap="none" spc="0" normalizeH="0" noProof="0" dirty="0">
                <a:ln>
                  <a:noFill/>
                </a:ln>
                <a:solidFill>
                  <a:srgbClr val="C6AFE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 y aplastante que destruye la capacidad de la persona de pensar para auto ayudarse. Perdida de contro</a:t>
            </a:r>
            <a:r>
              <a:rPr lang="es-ES" sz="2800" kern="0" dirty="0">
                <a:solidFill>
                  <a:srgbClr val="C6AFE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 debido al miedo.</a:t>
            </a:r>
            <a:r>
              <a:rPr kumimoji="0" lang="es-ES" sz="2800" i="0" u="none" strike="noStrike" kern="0" cap="none" spc="0" normalizeH="0" noProof="0" dirty="0">
                <a:ln>
                  <a:noFill/>
                </a:ln>
                <a:solidFill>
                  <a:srgbClr val="C6AFE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 </a:t>
            </a:r>
            <a:endParaRPr lang="es-ES" sz="2800" kern="0" dirty="0">
              <a:solidFill>
                <a:schemeClr val="accent2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8" name="Logos K-9 ACC" descr="placa-principal.png"/>
          <p:cNvPicPr>
            <a:picLocks noChangeAspect="1"/>
          </p:cNvPicPr>
          <p:nvPr/>
        </p:nvPicPr>
        <p:blipFill>
          <a:blip r:embed="rIdL28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9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 txBox="1">
            <a:spLocks noChangeArrowheads="1"/>
          </p:cNvSpPr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lIns="45720" tIns="0" rIns="45720" bIns="0" rtlCol="0" anchor="ctr" wrap="square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indent="0" marL="0">
              <a:defRPr/>
              <a:buNone/>
            </a:pPr>
            <a:r>
              <a:rPr lang="es-MX" sz="2600" b="1" dirty="0" cap="none">
                <a:solidFill>
                  <a:srgbClr val="F4F7FB"/>
                </a:solidFill>
                <a:latin typeface="Arial"/>
              </a:rPr>
              <a:t>CONDICIONES DE LA PERDIDA DE CONSCIENCIA</a:t>
            </a:r>
            <a:endParaRPr lang="es-ES" sz="2600" b="1" dirty="0">
              <a:solidFill>
                <a:srgbClr val="FF0000"/>
              </a:solidFill>
              <a:latin typeface="Arial" pitchFamily="66" charset="0"/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457200" y="1207008"/>
            <a:ext cx="5120640" cy="5422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marL="1143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Wingdings" pitchFamily="2" charset="2"/>
              <a:buChar char="Ø"/>
              <a:tabLst/>
              <a:defRPr/>
            </a:pPr>
            <a:r>
              <a:rPr lang="es-ES" sz="19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Un infarto o embolia.</a:t>
            </a:r>
          </a:p>
          <a:p>
            <a:pPr marL="1143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Wingdings" pitchFamily="2" charset="2"/>
              <a:buChar char="Ø"/>
              <a:tabLst/>
              <a:defRPr/>
            </a:pPr>
            <a:r>
              <a:rPr lang="es-ES" sz="1900" kern="0" baseline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Un ataque</a:t>
            </a:r>
            <a:r>
              <a:rPr lang="es-ES" sz="19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tipo epiléptico</a:t>
            </a:r>
            <a:endParaRPr lang="es-ES" sz="2589" kern="0" baseline="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1143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Wingdings" pitchFamily="2" charset="2"/>
              <a:buChar char="Ø"/>
              <a:tabLst/>
              <a:defRPr/>
            </a:pPr>
            <a:r>
              <a:rPr lang="es-ES" sz="19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Una herida en la cabeza.</a:t>
            </a:r>
          </a:p>
          <a:p>
            <a:pPr marL="1143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Wingdings" pitchFamily="2" charset="2"/>
              <a:buChar char="Ø"/>
              <a:tabLst/>
              <a:defRPr/>
            </a:pPr>
            <a:r>
              <a:rPr lang="es-ES" sz="1900" kern="0" baseline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Hiperventilación</a:t>
            </a:r>
            <a:r>
              <a:rPr lang="es-ES" sz="19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(Tomando grandes inspiraciones de aire en sucesión rápida con exhalación forzada).</a:t>
            </a:r>
          </a:p>
          <a:p>
            <a:pPr marL="1143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Wingdings" pitchFamily="2" charset="2"/>
              <a:buChar char="Ø"/>
              <a:tabLst/>
              <a:defRPr/>
            </a:pPr>
            <a:r>
              <a:rPr lang="es-ES" sz="1900" kern="0" baseline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Hipertermia (Una condición que ocurre cuando la temperatura interna de una persona se incrementa por encima de lo normal-golpe de calor).</a:t>
            </a:r>
          </a:p>
          <a:p>
            <a:pPr marL="1143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Wingdings" pitchFamily="2" charset="2"/>
              <a:buChar char="Ø"/>
              <a:tabLst/>
              <a:defRPr/>
            </a:pPr>
            <a:r>
              <a:rPr lang="es-ES" sz="19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Hipotermia ( una condición de amenaza a la sobrevivencia en el cual el cuerpo es incapaz de mantener el calor y el cuerpo entero se enfría). </a:t>
            </a:r>
          </a:p>
          <a:p>
            <a:pPr marL="1143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Wingdings" pitchFamily="2" charset="2"/>
              <a:buChar char="Ø"/>
              <a:tabLst/>
              <a:defRPr/>
            </a:pPr>
            <a:endParaRPr lang="es-ES" sz="1294" kern="0" baseline="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1143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Wingdings" pitchFamily="2" charset="2"/>
              <a:buChar char="Ø"/>
              <a:tabLst/>
              <a:defRPr/>
            </a:pPr>
            <a:endParaRPr lang="es-ES" sz="1294" kern="0" baseline="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1143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Wingdings" pitchFamily="2" charset="2"/>
              <a:buChar char="Ø"/>
              <a:tabLst/>
              <a:defRPr/>
            </a:pPr>
            <a:endParaRPr kumimoji="0" lang="es-ES" sz="1294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</a:endParaRPr>
          </a:p>
        </p:txBody>
      </p:sp>
      <p:pic>
        <p:nvPicPr>
          <p:cNvPr id="13" name="Logos K-9 ACC" descr="placa-principal.png"/>
          <p:cNvPicPr>
            <a:picLocks noChangeAspect="1"/>
          </p:cNvPicPr>
          <p:nvPr/>
        </p:nvPicPr>
        <p:blipFill>
          <a:blip r:embed="rIdL29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14" name="Tarjeta"/>
          <p:cNvSpPr/>
          <p:nvPr/>
        </p:nvSpPr>
        <p:spPr>
          <a:xfrm>
            <a:off x="5742432" y="2516314"/>
            <a:ext cx="3145536" cy="2739771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xt-lienzo.jpg"/>
          <p:cNvPicPr>
            <a:picLocks noChangeAspect="1"/>
          </p:cNvPicPr>
          <p:nvPr/>
        </p:nvPicPr>
        <p:blipFill>
          <a:blip r:embed="rIdL29n4"/>
          <a:stretch>
            <a:fillRect/>
          </a:stretch>
        </p:blipFill>
        <p:spPr>
          <a:xfrm>
            <a:off x="5852160" y="2626042"/>
            <a:ext cx="2926080" cy="2520315"/>
          </a:xfrm>
          <a:prstGeom prst="round2DiagRect">
            <a:avLst>
              <a:gd name="adj1" fmla="val 12000"/>
              <a:gd name="adj2" fmla="val 0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0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 txBox="1">
            <a:spLocks noChangeArrowheads="1"/>
          </p:cNvSpPr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vert="horz" lIns="45720" tIns="0" rIns="45720" bIns="0" rtlCol="0" anchor="ctr" wrap="square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indent="0" marL="0">
              <a:defRPr/>
              <a:buNone/>
            </a:pPr>
            <a:r>
              <a:rPr lang="es-ES" sz="2600" b="1" dirty="0" cap="none">
                <a:solidFill>
                  <a:srgbClr val="F4F7FB"/>
                </a:solidFill>
                <a:latin typeface="Arial"/>
              </a:rPr>
              <a:t>AHOGAMIENTO / ASFIXIA</a:t>
            </a: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320040" y="1207008"/>
            <a:ext cx="8503920" cy="96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marR="0" lvl="0" indent="-34290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C00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s-ES" sz="240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En la suspensiones de la funciones respiratorias o ventilatorias</a:t>
            </a:r>
            <a:endParaRPr lang="es-ES" sz="2400" kern="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873140" y="2085910"/>
            <a:ext cx="7744836" cy="455224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indent="-342900" algn="l">
              <a:spcBef>
                <a:spcPct val="20000"/>
              </a:spcBef>
              <a:buClr>
                <a:srgbClr val="FFCC00"/>
              </a:buClr>
              <a:buSzPct val="120000"/>
              <a:defRPr/>
            </a:pPr>
            <a:r>
              <a:rPr lang="es-ES" sz="23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Proceso de Ahogamiento: </a:t>
            </a:r>
          </a:p>
          <a:p>
            <a:pPr marL="171450" lvl="0" indent="-514350" algn="l">
              <a:spcBef>
                <a:spcPct val="20000"/>
              </a:spcBef>
              <a:buSzPct val="100000"/>
              <a:buFont typeface="+mj-lt"/>
              <a:buAutoNum type="arabicPeriod"/>
              <a:defRPr/>
            </a:pPr>
            <a:r>
              <a:rPr lang="es-ES" sz="23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La victima lucha en el agua, traga agua y bocanadas de aire </a:t>
            </a:r>
          </a:p>
          <a:p>
            <a:pPr marL="171450" lvl="0" indent="-514350" algn="l">
              <a:spcBef>
                <a:spcPct val="20000"/>
              </a:spcBef>
              <a:buSzPct val="100000"/>
              <a:buFont typeface="+mj-lt"/>
              <a:buAutoNum type="arabicPeriod"/>
              <a:defRPr/>
            </a:pPr>
            <a:r>
              <a:rPr lang="es-ES" sz="23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Realiza apneas involuntarias.</a:t>
            </a:r>
          </a:p>
          <a:p>
            <a:pPr marL="171450" lvl="0" indent="-514350" algn="l">
              <a:spcBef>
                <a:spcPct val="20000"/>
              </a:spcBef>
              <a:buSzPct val="100000"/>
              <a:buFont typeface="+mj-lt"/>
              <a:buAutoNum type="arabicPeriod"/>
              <a:defRPr/>
            </a:pPr>
            <a:r>
              <a:rPr lang="es-ES" sz="23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Pierde la respiración / ventilación por un espasmo laríngeo, al cerrarse el paso del aire por la epiglotis (asfixia) .</a:t>
            </a:r>
          </a:p>
          <a:p>
            <a:pPr marL="171450" lvl="0" indent="-514350" algn="l">
              <a:spcBef>
                <a:spcPct val="20000"/>
              </a:spcBef>
              <a:buSzPct val="100000"/>
              <a:buFont typeface="+mj-lt"/>
              <a:buAutoNum type="arabicPeriod"/>
              <a:defRPr/>
            </a:pPr>
            <a:r>
              <a:rPr lang="es-ES" sz="23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La victima se hunde y libera todo el aire  que tenia en los pulmones y el estomago.</a:t>
            </a:r>
          </a:p>
          <a:p>
            <a:pPr marL="171450" lvl="0" indent="-514350" algn="l">
              <a:spcBef>
                <a:spcPct val="20000"/>
              </a:spcBef>
              <a:buSzPct val="100000"/>
              <a:buFont typeface="+mj-lt"/>
              <a:buAutoNum type="arabicPeriod"/>
              <a:defRPr/>
            </a:pPr>
            <a:r>
              <a:rPr lang="es-ES" sz="2300" kern="0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Lesión y muerte cerebral por mas de 10 minutos en el fondo.</a:t>
            </a:r>
          </a:p>
        </p:txBody>
      </p:sp>
      <p:pic>
        <p:nvPicPr>
          <p:cNvPr id="8" name="Logos K-9 ACC" descr="placa-principal.png"/>
          <p:cNvPicPr>
            <a:picLocks noChangeAspect="1"/>
          </p:cNvPicPr>
          <p:nvPr/>
        </p:nvPicPr>
        <p:blipFill>
          <a:blip r:embed="rIdL30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6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1n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4818888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dirty="0" sz="2600" b="1" cap="none">
                <a:solidFill>
                  <a:srgbClr val="F4F7FB"/>
                </a:solidFill>
                <a:latin typeface="Arial"/>
              </a:rPr>
              <a:t>Salvamento Acuático</a:t>
            </a:r>
          </a:p>
        </p:txBody>
      </p:sp>
      <p:sp>
        <p:nvSpPr>
          <p:cNvPr id="3" name="Rectangle 9"/>
          <p:cNvSpPr txBox="1">
            <a:spLocks noChangeArrowheads="1"/>
          </p:cNvSpPr>
          <p:nvPr/>
        </p:nvSpPr>
        <p:spPr>
          <a:xfrm>
            <a:off x="725941" y="1207008"/>
            <a:ext cx="4109637" cy="762976"/>
          </a:xfrm>
          <a:prstGeom prst="rect">
            <a:avLst/>
          </a:prstGeom>
        </p:spPr>
        <p:txBody>
          <a:bodyPr vert="horz" lIns="85834" tIns="42917" rIns="85834" bIns="42917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13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 sz="2300" b="1" u="sng" dirty="0"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66" charset="0"/>
              </a:rPr>
              <a:t>SALVAMENTO ELEMENTAL</a:t>
            </a: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892643" y="1950541"/>
            <a:ext cx="7525415" cy="2535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marR="0" lvl="0" indent="-3429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C00"/>
              </a:buClr>
              <a:buSzPct val="120000"/>
              <a:buFont typeface="Wingdings" pitchFamily="2" charset="2"/>
              <a:buNone/>
              <a:tabLst/>
              <a:defRPr/>
            </a:pPr>
            <a:r>
              <a:rPr kumimoji="0" lang="es-ES" sz="240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El salvamento elemental, son técnicas que</a:t>
            </a:r>
            <a:r>
              <a:rPr kumimoji="0" lang="es-ES" sz="2400" i="0" u="none" strike="noStrike" kern="0" cap="none" spc="0" normalizeH="0" noProof="0" dirty="0">
                <a:ln>
                  <a:noFill/>
                </a:ln>
                <a:solidFill>
                  <a:srgbClr val="BFBFB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</a:rPr>
              <a:t> constituyen la mas efectiva y mas segura forma de asistir a una persona sin emplear técnicas de nado de salvamiento (Los tipos de nado utilizados comúnmente en rescate acuático Crawl, pecho).</a:t>
            </a:r>
            <a:endParaRPr lang="es-ES" sz="2440" kern="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5" name="WhatsApp Video 2026-01-22 at 8.35.39 PM">
            <a:hlinkClick r:id="" action="ppaction://media"/>
            <a:extLst>
              <a:ext uri="{FF2B5EF4-FFF2-40B4-BE49-F238E27FC236}">
                <a16:creationId xmlns:a16="http://schemas.microsoft.com/office/drawing/2014/main" id="{B1D26B46-942B-ECBE-530A-553DBC29FCDF}"/>
              </a:ext>
            </a:extLst>
          </p:cNvPr>
          <p:cNvPicPr>
            <a:picLocks noChangeAspect="1"/>
          </p:cNvPicPr>
          <p:nvPr>
            <a:videoFile r:link="rIdL31n2"/>
            <p:extLst>
              <p:ext uri="{DAA4B4D4-6D71-4841-9C94-3DE7FCFB9230}">
                <p14:media xmlns:p14="http://schemas.microsoft.com/office/powerpoint/2010/main" r:embed="rIdL31n1"/>
              </p:ext>
            </p:extLst>
          </p:nvPr>
        </p:nvPicPr>
        <p:blipFill>
          <a:blip r:embed="rIdL31n4"/>
          <a:srcRect t="30552"/>
          <a:stretch>
            <a:fillRect/>
          </a:stretch>
        </p:blipFill>
        <p:spPr>
          <a:xfrm>
            <a:off x="2563047" y="3910766"/>
            <a:ext cx="4184605" cy="2718633"/>
          </a:xfrm>
          <a:prstGeom prst="rect">
            <a:avLst/>
          </a:prstGeom>
        </p:spPr>
      </p:pic>
      <p:pic>
        <p:nvPicPr>
          <p:cNvPr id="17" name="Logos K-9 ACC" descr="placa-principal.png"/>
          <p:cNvPicPr>
            <a:picLocks noChangeAspect="1"/>
          </p:cNvPicPr>
          <p:nvPr/>
        </p:nvPicPr>
        <p:blipFill>
          <a:blip r:embed="rIdL31n6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45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27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2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Logos K-9 ACC" descr="placa-principal.png"/>
          <p:cNvPicPr>
            <a:picLocks noChangeAspect="1"/>
          </p:cNvPicPr>
          <p:nvPr/>
        </p:nvPicPr>
        <p:blipFill>
          <a:blip r:embed="rIdL32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14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Equipo de salvamento</a:t>
            </a:r>
          </a:p>
        </p:txBody>
      </p:sp>
      <p:sp>
        <p:nvSpPr>
          <p:cNvPr id="15" name="nuestro texto"/>
          <p:cNvSpPr txBox="1"/>
          <p:nvPr/>
        </p:nvSpPr>
        <p:spPr>
          <a:xfrm>
            <a:off x="411480" y="1234440"/>
            <a:ext cx="8321040" cy="1097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Tener el equipo apropiado de salvamento y contar con la capacitación apropiada para su uso nos dará resultados favorables bajando un 80% en caso de accidentes acuáticos: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377440"/>
            <a:ext cx="1517904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quipo-aro.jpg"/>
          <p:cNvPicPr>
            <a:picLocks noChangeAspect="1"/>
          </p:cNvPicPr>
          <p:nvPr/>
        </p:nvPicPr>
        <p:blipFill>
          <a:blip r:embed="rIdL32n4"/>
          <a:stretch>
            <a:fillRect/>
          </a:stretch>
        </p:blipFill>
        <p:spPr>
          <a:xfrm>
            <a:off x="502920" y="2500386"/>
            <a:ext cx="1335024" cy="1308587"/>
          </a:xfrm>
          <a:prstGeom prst="rect">
            <a:avLst/>
          </a:prstGeom>
        </p:spPr>
      </p:pic>
      <p:sp>
        <p:nvSpPr>
          <p:cNvPr id="18" name="nuestro texto"/>
          <p:cNvSpPr txBox="1"/>
          <p:nvPr/>
        </p:nvSpPr>
        <p:spPr>
          <a:xfrm>
            <a:off x="457200" y="3931920"/>
            <a:ext cx="142646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000" b="1">
                <a:solidFill>
                  <a:srgbClr val="0B2545"/>
                </a:solidFill>
                <a:latin typeface="Arial"/>
              </a:rPr>
              <a:t>Salvavidas con cuerda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12264" y="2377440"/>
            <a:ext cx="1517904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quipo-tubo.jpg"/>
          <p:cNvPicPr>
            <a:picLocks noChangeAspect="1"/>
          </p:cNvPicPr>
          <p:nvPr/>
        </p:nvPicPr>
        <p:blipFill>
          <a:blip r:embed="rIdL32n5"/>
          <a:stretch>
            <a:fillRect/>
          </a:stretch>
        </p:blipFill>
        <p:spPr>
          <a:xfrm>
            <a:off x="2109248" y="2514627"/>
            <a:ext cx="1523935" cy="1280105"/>
          </a:xfrm>
          <a:prstGeom prst="rect">
            <a:avLst/>
          </a:prstGeom>
        </p:spPr>
      </p:pic>
      <p:sp>
        <p:nvSpPr>
          <p:cNvPr id="21" name="nuestro texto"/>
          <p:cNvSpPr txBox="1"/>
          <p:nvPr/>
        </p:nvSpPr>
        <p:spPr>
          <a:xfrm>
            <a:off x="2157984" y="3931920"/>
            <a:ext cx="142646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000" b="1">
                <a:solidFill>
                  <a:srgbClr val="0B2545"/>
                </a:solidFill>
                <a:latin typeface="Arial"/>
              </a:rPr>
              <a:t>Tubo de Rescate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3048" y="2377440"/>
            <a:ext cx="1517904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quipo-boya.jpg"/>
          <p:cNvPicPr>
            <a:picLocks noChangeAspect="1"/>
          </p:cNvPicPr>
          <p:nvPr/>
        </p:nvPicPr>
        <p:blipFill>
          <a:blip r:embed="rIdL32n6"/>
          <a:stretch>
            <a:fillRect/>
          </a:stretch>
        </p:blipFill>
        <p:spPr>
          <a:xfrm>
            <a:off x="3904488" y="2487168"/>
            <a:ext cx="1335024" cy="1335024"/>
          </a:xfrm>
          <a:prstGeom prst="rect">
            <a:avLst/>
          </a:prstGeom>
        </p:spPr>
      </p:pic>
      <p:sp>
        <p:nvSpPr>
          <p:cNvPr id="24" name="nuestro texto"/>
          <p:cNvSpPr txBox="1"/>
          <p:nvPr/>
        </p:nvSpPr>
        <p:spPr>
          <a:xfrm>
            <a:off x="3858768" y="3931920"/>
            <a:ext cx="142646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000" b="1">
                <a:solidFill>
                  <a:srgbClr val="0B2545"/>
                </a:solidFill>
                <a:latin typeface="Arial"/>
              </a:rPr>
              <a:t>Boya de Rescate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13832" y="2377440"/>
            <a:ext cx="1517904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quipo-pertiga.jpg"/>
          <p:cNvPicPr>
            <a:picLocks noChangeAspect="1"/>
          </p:cNvPicPr>
          <p:nvPr/>
        </p:nvPicPr>
        <p:blipFill>
          <a:blip r:embed="rIdL32n7"/>
          <a:stretch>
            <a:fillRect/>
          </a:stretch>
        </p:blipFill>
        <p:spPr>
          <a:xfrm>
            <a:off x="5605272" y="2908442"/>
            <a:ext cx="1335024" cy="492475"/>
          </a:xfrm>
          <a:prstGeom prst="rect">
            <a:avLst/>
          </a:prstGeom>
        </p:spPr>
      </p:pic>
      <p:sp>
        <p:nvSpPr>
          <p:cNvPr id="27" name="nuestro texto"/>
          <p:cNvSpPr txBox="1"/>
          <p:nvPr/>
        </p:nvSpPr>
        <p:spPr>
          <a:xfrm>
            <a:off x="5559552" y="3931920"/>
            <a:ext cx="142646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Arial"/>
              </a:rPr>
              <a:t>Pertiga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14616" y="2377440"/>
            <a:ext cx="1517904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quipo-camilla.jpg"/>
          <p:cNvPicPr>
            <a:picLocks noChangeAspect="1"/>
          </p:cNvPicPr>
          <p:nvPr/>
        </p:nvPicPr>
        <p:blipFill>
          <a:blip r:embed="rIdL32n8"/>
          <a:stretch>
            <a:fillRect/>
          </a:stretch>
        </p:blipFill>
        <p:spPr>
          <a:xfrm>
            <a:off x="7168919" y="2662681"/>
            <a:ext cx="1609297" cy="983997"/>
          </a:xfrm>
          <a:prstGeom prst="rect">
            <a:avLst/>
          </a:prstGeom>
        </p:spPr>
      </p:pic>
      <p:sp>
        <p:nvSpPr>
          <p:cNvPr id="30" name="nuestro texto"/>
          <p:cNvSpPr txBox="1"/>
          <p:nvPr/>
        </p:nvSpPr>
        <p:spPr>
          <a:xfrm>
            <a:off x="7260336" y="3931920"/>
            <a:ext cx="142646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000" b="1">
                <a:solidFill>
                  <a:srgbClr val="0B2545"/>
                </a:solidFill>
                <a:latin typeface="Arial"/>
              </a:rPr>
              <a:t>Tabla de Rescate</a:t>
            </a:r>
          </a:p>
        </p:txBody>
      </p:sp>
      <p:sp>
        <p:nvSpPr>
          <p:cNvPr id="31" name="nuestro texto"/>
          <p:cNvSpPr txBox="1"/>
          <p:nvPr/>
        </p:nvSpPr>
        <p:spPr>
          <a:xfrm>
            <a:off x="411480" y="4892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•  Línea de Vida</a:t>
            </a:r>
          </a:p>
        </p:txBody>
      </p:sp>
      <p:sp>
        <p:nvSpPr>
          <p:cNvPr id="32" name="nuestro texto"/>
          <p:cNvSpPr txBox="1"/>
          <p:nvPr/>
        </p:nvSpPr>
        <p:spPr>
          <a:xfrm>
            <a:off x="3200400" y="4892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•  Binoculares</a:t>
            </a:r>
          </a:p>
        </p:txBody>
      </p:sp>
      <p:sp>
        <p:nvSpPr>
          <p:cNvPr id="33" name="nuestro texto"/>
          <p:cNvSpPr txBox="1"/>
          <p:nvPr/>
        </p:nvSpPr>
        <p:spPr>
          <a:xfrm>
            <a:off x="5989320" y="4892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•  Cuerda</a:t>
            </a:r>
          </a:p>
        </p:txBody>
      </p:sp>
      <p:sp>
        <p:nvSpPr>
          <p:cNvPr id="34" name="nuestro texto"/>
          <p:cNvSpPr txBox="1"/>
          <p:nvPr/>
        </p:nvSpPr>
        <p:spPr>
          <a:xfrm>
            <a:off x="411480" y="539495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•  Megáfono</a:t>
            </a:r>
          </a:p>
        </p:txBody>
      </p:sp>
      <p:sp>
        <p:nvSpPr>
          <p:cNvPr id="35" name="nuestro texto"/>
          <p:cNvSpPr txBox="1"/>
          <p:nvPr/>
        </p:nvSpPr>
        <p:spPr>
          <a:xfrm>
            <a:off x="3200400" y="539495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•  Línea de Carrete o de vida</a:t>
            </a:r>
          </a:p>
        </p:txBody>
      </p:sp>
      <p:sp>
        <p:nvSpPr>
          <p:cNvPr id="36" name="nuestro texto"/>
          <p:cNvSpPr txBox="1"/>
          <p:nvPr/>
        </p:nvSpPr>
        <p:spPr>
          <a:xfrm>
            <a:off x="5989320" y="539495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rial"/>
              </a:rPr>
              <a:t>•  Silla de Guardavidas</a:t>
            </a:r>
          </a:p>
        </p:txBody>
      </p:sp>
    </p:spTree>
    <p:extLst>
      <p:ext uri="{BB962C8B-B14F-4D97-AF65-F5344CB8AC3E}">
        <p14:creationId xmlns:p14="http://schemas.microsoft.com/office/powerpoint/2010/main" val="2981547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3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611560" y="1340768"/>
            <a:ext cx="8208912" cy="526297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s-MX" sz="2600" dirty="0">
                <a:solidFill>
                  <a:srgbClr val="BFBFBF"/>
                </a:solidFill>
              </a:rPr>
              <a:t>Salvamento es la asistencia inmediata que se le da a una victima. </a:t>
            </a:r>
          </a:p>
          <a:p>
            <a:pPr algn="l"/>
            <a:endParaRPr lang="es-MX" sz="1300" dirty="0"/>
          </a:p>
          <a:p>
            <a:pPr algn="l"/>
            <a:r>
              <a:rPr lang="es-MX" sz="2800" b="1" dirty="0">
                <a:solidFill>
                  <a:srgbClr val="BFBFBF"/>
                </a:solidFill>
              </a:rPr>
              <a:t>Victima consciente (activa): </a:t>
            </a:r>
          </a:p>
          <a:p>
            <a:pPr algn="l"/>
            <a:endParaRPr lang="es-MX" sz="1300" dirty="0"/>
          </a:p>
          <a:p>
            <a:pPr algn="l"/>
            <a:r>
              <a:rPr lang="es-MX" sz="2600" dirty="0">
                <a:solidFill>
                  <a:srgbClr val="BFBFBF"/>
                </a:solidFill>
              </a:rPr>
              <a:t>Se le hablara y dará instrucciones, sin dejar de mirarla, debemos extenderle nuestro equipo de salvamento (tubo, boya etc.) y se le remolca aun lugar seguro. </a:t>
            </a:r>
          </a:p>
          <a:p>
            <a:pPr algn="l"/>
            <a:endParaRPr lang="es-MX" sz="1300" dirty="0"/>
          </a:p>
          <a:p>
            <a:pPr algn="ctr"/>
            <a:r>
              <a:rPr lang="es-MX" sz="2800" b="1" dirty="0">
                <a:solidFill>
                  <a:srgbClr val="F0A8A8"/>
                </a:solidFill>
              </a:rPr>
              <a:t>“Nunca se hace contacto directo con una victima consciente”</a:t>
            </a:r>
            <a:endParaRPr lang="es-MX" sz="2800" dirty="0">
              <a:solidFill>
                <a:srgbClr val="FF0000"/>
              </a:solidFill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wrap="square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2600" b="1" dirty="0" cap="none">
                <a:solidFill>
                  <a:srgbClr val="F4F7FB"/>
                </a:solidFill>
                <a:latin typeface="Arial"/>
              </a:rPr>
              <a:t>Salvamento de una victima pasiva- activa </a:t>
            </a:r>
            <a:endParaRPr lang="es-MX" sz="3200" dirty="0">
              <a:solidFill>
                <a:srgbClr val="FF0000"/>
              </a:solidFill>
            </a:endParaRPr>
          </a:p>
        </p:txBody>
      </p:sp>
      <p:pic>
        <p:nvPicPr>
          <p:cNvPr id="15" name="Logos K-9 ACC" descr="placa-principal.png"/>
          <p:cNvPicPr>
            <a:picLocks noChangeAspect="1"/>
          </p:cNvPicPr>
          <p:nvPr/>
        </p:nvPicPr>
        <p:blipFill>
          <a:blip r:embed="rIdL33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0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4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s K-9 ACC" descr="placa-principal.png"/>
          <p:cNvPicPr>
            <a:picLocks noChangeAspect="1"/>
          </p:cNvPicPr>
          <p:nvPr/>
        </p:nvPicPr>
        <p:blipFill>
          <a:blip r:embed="rIdL34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6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Métodos de salvamento</a:t>
            </a:r>
          </a:p>
        </p:txBody>
      </p:sp>
      <p:sp>
        <p:nvSpPr>
          <p:cNvPr id="7" name="nuestro texto"/>
          <p:cNvSpPr txBox="1"/>
          <p:nvPr/>
        </p:nvSpPr>
        <p:spPr>
          <a:xfrm>
            <a:off x="411480" y="1234440"/>
            <a:ext cx="832104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Nunca se debe arriesgar la vida innecesariamente. Por supuesto, siempre es importante poder y saber actuar rápidamente en una emergencia, pero no se debe hacer sin pensar. Hay que ocupar unos cuantos segundos para compenetrarse de la situación y encontrar algún método seguro fácil y adecuado para ayudar.</a:t>
            </a:r>
          </a:p>
        </p:txBody>
      </p:sp>
      <p:sp>
        <p:nvSpPr>
          <p:cNvPr id="8" name="nuestro caja"/>
          <p:cNvSpPr/>
          <p:nvPr/>
        </p:nvSpPr>
        <p:spPr>
          <a:xfrm>
            <a:off x="411480" y="2788920"/>
            <a:ext cx="8321040" cy="640080"/>
          </a:xfrm>
          <a:prstGeom prst="roundRect">
            <a:avLst>
              <a:gd name="adj" fmla="val 18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PROCURE NO METERSE AL AGUA A MENOS QUE SEA ABSOLUTAMENTE NECESARIO</a:t>
            </a:r>
          </a:p>
        </p:txBody>
      </p:sp>
      <p:sp>
        <p:nvSpPr>
          <p:cNvPr id="9" name="nuestro texto"/>
          <p:cNvSpPr txBox="1"/>
          <p:nvPr/>
        </p:nvSpPr>
        <p:spPr>
          <a:xfrm>
            <a:off x="411480" y="361188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2300" b="1">
                <a:solidFill>
                  <a:srgbClr val="F2C14E"/>
                </a:solidFill>
                <a:latin typeface="Arial"/>
              </a:rPr>
              <a:t>Extensión Corporal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Si la víctima se encuentra sola a unos cuantos centímetros de un sitio seguro, se puede rescatar extendiéndole un brazo o la pierna. Pero, antes de hacer esto hay que asegurarse de estar firmemente plantado, de modo que no lo puedan jalar al agua también.</a:t>
            </a:r>
          </a:p>
        </p:txBody>
      </p:sp>
      <p:sp>
        <p:nvSpPr>
          <p:cNvPr id="10" name="Tarjeta"/>
          <p:cNvSpPr/>
          <p:nvPr/>
        </p:nvSpPr>
        <p:spPr>
          <a:xfrm>
            <a:off x="4599432" y="3961638"/>
            <a:ext cx="4242816" cy="2180844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xtension-corte.png"/>
          <p:cNvPicPr>
            <a:picLocks noChangeAspect="1"/>
          </p:cNvPicPr>
          <p:nvPr/>
        </p:nvPicPr>
        <p:blipFill>
          <a:blip r:embed="rIdL34n4"/>
          <a:stretch>
            <a:fillRect/>
          </a:stretch>
        </p:blipFill>
        <p:spPr>
          <a:xfrm>
            <a:off x="4709160" y="4071366"/>
            <a:ext cx="4023360" cy="196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3397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5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35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8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Métodos de extensión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25880"/>
            <a:ext cx="265176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xt-cuerda.jpg"/>
          <p:cNvPicPr>
            <a:picLocks noChangeAspect="1"/>
          </p:cNvPicPr>
          <p:nvPr/>
        </p:nvPicPr>
        <p:blipFill>
          <a:blip r:embed="rIdL35n4"/>
          <a:stretch>
            <a:fillRect/>
          </a:stretch>
        </p:blipFill>
        <p:spPr>
          <a:xfrm>
            <a:off x="521208" y="1606049"/>
            <a:ext cx="2432304" cy="1817102"/>
          </a:xfrm>
          <a:prstGeom prst="round2DiagRect">
            <a:avLst>
              <a:gd name="adj1" fmla="val 12000"/>
              <a:gd name="adj2" fmla="val 0"/>
            </a:avLst>
          </a:prstGeom>
        </p:spPr>
      </p:pic>
      <p:sp>
        <p:nvSpPr>
          <p:cNvPr id="11" name="nuestro fijo"/>
          <p:cNvSpPr txBox="1"/>
          <p:nvPr/>
        </p:nvSpPr>
        <p:spPr>
          <a:xfrm>
            <a:off x="576072" y="3703320"/>
            <a:ext cx="2331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100" b="1">
                <a:solidFill>
                  <a:srgbClr val="1D63B8"/>
                </a:solidFill>
                <a:latin typeface="Arial"/>
              </a:rPr>
              <a:t>Extensión con cuerda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B2545"/>
                </a:solidFill>
                <a:latin typeface="Arial"/>
              </a:rPr>
              <a:t>Un pedazo de cuerda o una reata son excelentes para un rescate, particularmente si llevan algo que flote en su extremo libre.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8688" y="1325880"/>
            <a:ext cx="265176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xt-remo.jpg"/>
          <p:cNvPicPr>
            <a:picLocks noChangeAspect="1"/>
          </p:cNvPicPr>
          <p:nvPr/>
        </p:nvPicPr>
        <p:blipFill>
          <a:blip r:embed="rIdL35n5"/>
          <a:stretch>
            <a:fillRect/>
          </a:stretch>
        </p:blipFill>
        <p:spPr>
          <a:xfrm>
            <a:off x="3328416" y="1557355"/>
            <a:ext cx="2432304" cy="1914489"/>
          </a:xfrm>
          <a:prstGeom prst="round2DiagRect">
            <a:avLst>
              <a:gd name="adj1" fmla="val 12000"/>
              <a:gd name="adj2" fmla="val 0"/>
            </a:avLst>
          </a:prstGeom>
        </p:spPr>
      </p:pic>
      <p:sp>
        <p:nvSpPr>
          <p:cNvPr id="14" name="nuestro fijo"/>
          <p:cNvSpPr txBox="1"/>
          <p:nvPr/>
        </p:nvSpPr>
        <p:spPr>
          <a:xfrm>
            <a:off x="3383280" y="3703320"/>
            <a:ext cx="2331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100" b="1">
                <a:solidFill>
                  <a:srgbClr val="1D63B8"/>
                </a:solidFill>
                <a:latin typeface="Arial"/>
              </a:rPr>
              <a:t>Extensión con un objeto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B2545"/>
                </a:solidFill>
                <a:latin typeface="Arial"/>
              </a:rPr>
              <a:t>Para detenerlo y sostenerlo mientras se le jala a la orilla.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25896" y="1325880"/>
            <a:ext cx="2651760" cy="5166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xt-lienzo.jpg"/>
          <p:cNvPicPr>
            <a:picLocks noChangeAspect="1"/>
          </p:cNvPicPr>
          <p:nvPr/>
        </p:nvPicPr>
        <p:blipFill>
          <a:blip r:embed="rIdL35n6"/>
          <a:stretch>
            <a:fillRect/>
          </a:stretch>
        </p:blipFill>
        <p:spPr>
          <a:xfrm>
            <a:off x="6135624" y="1467094"/>
            <a:ext cx="2432304" cy="2095011"/>
          </a:xfrm>
          <a:prstGeom prst="round2DiagRect">
            <a:avLst>
              <a:gd name="adj1" fmla="val 12000"/>
              <a:gd name="adj2" fmla="val 0"/>
            </a:avLst>
          </a:prstGeom>
        </p:spPr>
      </p:pic>
      <p:sp>
        <p:nvSpPr>
          <p:cNvPr id="17" name="nuestro fijo"/>
          <p:cNvSpPr txBox="1"/>
          <p:nvPr/>
        </p:nvSpPr>
        <p:spPr>
          <a:xfrm>
            <a:off x="6190488" y="3703320"/>
            <a:ext cx="2331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100" b="1">
                <a:solidFill>
                  <a:srgbClr val="1D63B8"/>
                </a:solidFill>
                <a:latin typeface="Arial"/>
              </a:rPr>
              <a:t>Extensión por Lienzo o Ropa o cualquier objeto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B2545"/>
                </a:solidFill>
                <a:latin typeface="Arial"/>
              </a:rPr>
              <a:t>Puede anudarse varias piezas de ropa para hacerlas llegar a él y jalarlo a la orilla.</a:t>
            </a:r>
          </a:p>
        </p:txBody>
      </p:sp>
    </p:spTree>
    <p:extLst>
      <p:ext uri="{BB962C8B-B14F-4D97-AF65-F5344CB8AC3E}">
        <p14:creationId xmlns:p14="http://schemas.microsoft.com/office/powerpoint/2010/main" val="357532271"/>
      </p:ext>
    </p:extLst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L36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36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8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Técnicas de rescate</a:t>
            </a:r>
          </a:p>
        </p:txBody>
      </p:sp>
      <p:sp>
        <p:nvSpPr>
          <p:cNvPr id="9" name="Tarjeta"/>
          <p:cNvSpPr/>
          <p:nvPr/>
        </p:nvSpPr>
        <p:spPr>
          <a:xfrm>
            <a:off x="301752" y="1259952"/>
            <a:ext cx="8540496" cy="5298215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scate-acuatico-cab.jpg"/>
          <p:cNvPicPr>
            <a:picLocks noChangeAspect="1"/>
          </p:cNvPicPr>
          <p:nvPr/>
        </p:nvPicPr>
        <p:blipFill>
          <a:blip r:embed="rIdL36n4"/>
          <a:stretch>
            <a:fillRect/>
          </a:stretch>
        </p:blipFill>
        <p:spPr>
          <a:xfrm>
            <a:off x="411480" y="1369680"/>
            <a:ext cx="8321040" cy="5078759"/>
          </a:xfrm>
          <a:prstGeom prst="round2DiagRect">
            <a:avLst>
              <a:gd name="adj1" fmla="val 12000"/>
              <a:gd name="adj2" fmla="val 0"/>
            </a:avLst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7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37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8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Entrada al agua</a:t>
            </a:r>
          </a:p>
        </p:txBody>
      </p:sp>
      <p:sp>
        <p:nvSpPr>
          <p:cNvPr id="9" name="nuestro texto"/>
          <p:cNvSpPr txBox="1"/>
          <p:nvPr/>
        </p:nvSpPr>
        <p:spPr>
          <a:xfrm>
            <a:off x="411480" y="1280160"/>
            <a:ext cx="8321040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2C14E"/>
                </a:solidFill>
                <a:latin typeface="Arial"/>
              </a:rPr>
              <a:t>Entrada Larga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Se utiliza cuando la víctima se encuentra demasiado lejos del lugar seguro y debe llegarse con rapidez a ella. Se realiza tirándose de frente rompiendo la superficie del agua emergiendo inmediatamente (dando la impresión de un panzazo) y ubicando visualmente a la victima para nadar hacia ella.</a:t>
            </a:r>
          </a:p>
        </p:txBody>
      </p:sp>
      <p:sp>
        <p:nvSpPr>
          <p:cNvPr id="10" name="Tarjeta"/>
          <p:cNvSpPr/>
          <p:nvPr/>
        </p:nvSpPr>
        <p:spPr>
          <a:xfrm>
            <a:off x="777579" y="3273552"/>
            <a:ext cx="7588842" cy="3328416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ntrada-larga.jpg"/>
          <p:cNvPicPr>
            <a:picLocks noChangeAspect="1"/>
          </p:cNvPicPr>
          <p:nvPr/>
        </p:nvPicPr>
        <p:blipFill>
          <a:blip r:embed="rIdL37n4"/>
          <a:stretch>
            <a:fillRect/>
          </a:stretch>
        </p:blipFill>
        <p:spPr>
          <a:xfrm>
            <a:off x="887307" y="3383280"/>
            <a:ext cx="7369386" cy="3108960"/>
          </a:xfrm>
          <a:prstGeom prst="round2DiagRect">
            <a:avLst>
              <a:gd name="adj1" fmla="val 12000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11800816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8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s K-9 ACC" descr="placa-principal.png"/>
          <p:cNvPicPr>
            <a:picLocks noChangeAspect="1"/>
          </p:cNvPicPr>
          <p:nvPr/>
        </p:nvPicPr>
        <p:blipFill>
          <a:blip r:embed="rIdL38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6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Entrada al agua</a:t>
            </a:r>
          </a:p>
        </p:txBody>
      </p:sp>
      <p:sp>
        <p:nvSpPr>
          <p:cNvPr id="7" name="nuestro texto"/>
          <p:cNvSpPr txBox="1"/>
          <p:nvPr/>
        </p:nvSpPr>
        <p:spPr>
          <a:xfrm>
            <a:off x="411480" y="1325880"/>
            <a:ext cx="4206240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F2C14E"/>
                </a:solidFill>
                <a:latin typeface="Arial"/>
              </a:rPr>
              <a:t>Entrada de Muelle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Se utiliza cuando la víctima se encuentra a algunos metros del lugar seguro en parte profunda.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Se realiza lanzándose al agua de pie con zancada larga y brazos abiertos; al hacer contacto con el agua se cierran los brazos y los pies con energía para evitar hundirse, manteniendo la cabeza fuera para no perder de vista a la víctima.</a:t>
            </a:r>
          </a:p>
        </p:txBody>
      </p:sp>
      <p:sp>
        <p:nvSpPr>
          <p:cNvPr id="8" name="Tarjeta"/>
          <p:cNvSpPr/>
          <p:nvPr/>
        </p:nvSpPr>
        <p:spPr>
          <a:xfrm>
            <a:off x="4690872" y="2289527"/>
            <a:ext cx="4197095" cy="3239066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trada-muelle.jpg"/>
          <p:cNvPicPr>
            <a:picLocks noChangeAspect="1"/>
          </p:cNvPicPr>
          <p:nvPr/>
        </p:nvPicPr>
        <p:blipFill>
          <a:blip r:embed="rIdL38n4"/>
          <a:stretch>
            <a:fillRect/>
          </a:stretch>
        </p:blipFill>
        <p:spPr>
          <a:xfrm>
            <a:off x="4800600" y="2399255"/>
            <a:ext cx="3977639" cy="3019610"/>
          </a:xfrm>
          <a:prstGeom prst="round2DiagRect">
            <a:avLst>
              <a:gd name="adj1" fmla="val 12000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4725249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9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s K-9 ACC" descr="placa-principal.png"/>
          <p:cNvPicPr>
            <a:picLocks noChangeAspect="1"/>
          </p:cNvPicPr>
          <p:nvPr/>
        </p:nvPicPr>
        <p:blipFill>
          <a:blip r:embed="rIdL39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6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Entrada al agua</a:t>
            </a:r>
          </a:p>
        </p:txBody>
      </p:sp>
      <p:sp>
        <p:nvSpPr>
          <p:cNvPr id="7" name="nuestro texto"/>
          <p:cNvSpPr txBox="1"/>
          <p:nvPr/>
        </p:nvSpPr>
        <p:spPr>
          <a:xfrm>
            <a:off x="411480" y="1325880"/>
            <a:ext cx="4206240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F2C14E"/>
                </a:solidFill>
                <a:latin typeface="Arial"/>
              </a:rPr>
              <a:t>Entrada de boya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Se utiliza cuando la víctima se encuentra a escasos metros de la orilla pero no es posible auxiliarla por métodos de extensión, al caer en el agua la ola que se produce al caer mantiene a distancia del auxiliador a la víctima.</a:t>
            </a:r>
          </a:p>
        </p:txBody>
      </p:sp>
      <p:sp>
        <p:nvSpPr>
          <p:cNvPr id="8" name="Tarjeta"/>
          <p:cNvSpPr/>
          <p:nvPr/>
        </p:nvSpPr>
        <p:spPr>
          <a:xfrm>
            <a:off x="4690872" y="1575982"/>
            <a:ext cx="4197095" cy="4666156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trada-boya.jpg"/>
          <p:cNvPicPr>
            <a:picLocks noChangeAspect="1"/>
          </p:cNvPicPr>
          <p:nvPr/>
        </p:nvPicPr>
        <p:blipFill>
          <a:blip r:embed="rIdL39n4"/>
          <a:stretch>
            <a:fillRect/>
          </a:stretch>
        </p:blipFill>
        <p:spPr>
          <a:xfrm>
            <a:off x="4800600" y="1685710"/>
            <a:ext cx="3977639" cy="4446700"/>
          </a:xfrm>
          <a:prstGeom prst="round2DiagRect">
            <a:avLst>
              <a:gd name="adj1" fmla="val 12000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1434010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0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s K-9 ACC" descr="placa-principal.png"/>
          <p:cNvPicPr>
            <a:picLocks noChangeAspect="1"/>
          </p:cNvPicPr>
          <p:nvPr/>
        </p:nvPicPr>
        <p:blipFill>
          <a:blip r:embed="rIdL40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6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Entrada al agua</a:t>
            </a:r>
          </a:p>
        </p:txBody>
      </p:sp>
      <p:sp>
        <p:nvSpPr>
          <p:cNvPr id="7" name="nuestro texto"/>
          <p:cNvSpPr txBox="1"/>
          <p:nvPr/>
        </p:nvSpPr>
        <p:spPr>
          <a:xfrm>
            <a:off x="411480" y="1280160"/>
            <a:ext cx="8321040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F2C14E"/>
                </a:solidFill>
                <a:latin typeface="Arial"/>
              </a:rPr>
              <a:t>Controlada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Es la entrada más segura pero la más lenta para el rescatista, se utiliza cuando se desconoce la profundidad del área.</a:t>
            </a:r>
          </a:p>
        </p:txBody>
      </p:sp>
      <p:sp>
        <p:nvSpPr>
          <p:cNvPr id="8" name="Tarjeta"/>
          <p:cNvSpPr/>
          <p:nvPr/>
        </p:nvSpPr>
        <p:spPr>
          <a:xfrm>
            <a:off x="1821120" y="2404872"/>
            <a:ext cx="5501760" cy="4197095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trada-controlada.jpg"/>
          <p:cNvPicPr>
            <a:picLocks noChangeAspect="1"/>
          </p:cNvPicPr>
          <p:nvPr/>
        </p:nvPicPr>
        <p:blipFill>
          <a:blip r:embed="rIdL40n4"/>
          <a:stretch>
            <a:fillRect/>
          </a:stretch>
        </p:blipFill>
        <p:spPr>
          <a:xfrm>
            <a:off x="1930848" y="2514600"/>
            <a:ext cx="5282304" cy="3977639"/>
          </a:xfrm>
          <a:prstGeom prst="round2DiagRect">
            <a:avLst>
              <a:gd name="adj1" fmla="val 12000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15812134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1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65760" y="1772816"/>
            <a:ext cx="8778240" cy="470458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s-MX" sz="2200" dirty="0">
                <a:solidFill>
                  <a:srgbClr val="C6AFE9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La prioridad es la vía aérea. Si se encuentra en posición boca abajo, debemos invertir esa posición por medio de una nivelación, quedando la victima boca arriba.</a:t>
            </a:r>
          </a:p>
          <a:p>
            <a:pPr algn="l"/>
            <a:endParaRPr lang="es-MX" sz="1100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accent2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l"/>
            <a:r>
              <a:rPr lang="es-MX" sz="2200" dirty="0">
                <a:solidFill>
                  <a:srgbClr val="C6AFE9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Si respira se debe iniciar un remolque a la orilla previamente asignada. </a:t>
            </a:r>
          </a:p>
          <a:p>
            <a:pPr algn="l"/>
            <a:endParaRPr lang="es-MX" sz="1100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accent2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l"/>
            <a:r>
              <a:rPr lang="es-MX" sz="2200" dirty="0">
                <a:solidFill>
                  <a:srgbClr val="C6AFE9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Si no respira, remolcar a la playa rápidamente</a:t>
            </a:r>
          </a:p>
          <a:p>
            <a:pPr algn="l"/>
            <a:endParaRPr lang="es-MX" sz="1100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accent2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l"/>
            <a:r>
              <a:rPr lang="es-MX" sz="2200" dirty="0">
                <a:solidFill>
                  <a:srgbClr val="C6AFE9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Activar el servicio de emergencia e iniciar con la reanimación</a:t>
            </a:r>
          </a:p>
          <a:p>
            <a:pPr algn="l"/>
            <a:endParaRPr lang="es-MX" sz="1100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accent2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l"/>
            <a:r>
              <a:rPr lang="es-MX" sz="2200" dirty="0">
                <a:solidFill>
                  <a:srgbClr val="C6AFE9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Dar 30 compresiones torácicas, abrir </a:t>
            </a:r>
            <a:r>
              <a:rPr lang="es-MX" sz="2200" dirty="0" err="1">
                <a:solidFill>
                  <a:srgbClr val="C6AFE9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via</a:t>
            </a:r>
            <a:r>
              <a:rPr lang="es-MX" sz="2200" dirty="0">
                <a:solidFill>
                  <a:srgbClr val="C6AFE9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aérea y dar 2 ventilaciones.</a:t>
            </a:r>
          </a:p>
          <a:p>
            <a:pPr algn="l"/>
            <a:endParaRPr lang="es-MX" sz="11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l"/>
            <a:r>
              <a:rPr lang="es-MX" sz="11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endParaRPr sz="1100"/>
          </a:p>
        </p:txBody>
      </p:sp>
      <p:sp>
        <p:nvSpPr>
          <p:cNvPr id="3" name="2 Rectángulo"/>
          <p:cNvSpPr/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wrap="square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2600" b="1" dirty="0" cap="none">
                <a:solidFill>
                  <a:srgbClr val="F4F7FB"/>
                </a:solidFill>
                <a:latin typeface="Arial"/>
              </a:rPr>
              <a:t>Victima inconsciente (pasiva): </a:t>
            </a:r>
            <a:endParaRPr lang="es-MX" sz="3200" dirty="0">
              <a:solidFill>
                <a:srgbClr val="FF0000"/>
              </a:solidFill>
            </a:endParaRPr>
          </a:p>
        </p:txBody>
      </p:sp>
      <p:pic>
        <p:nvPicPr>
          <p:cNvPr id="15" name="Logos K-9 ACC" descr="placa-principal.png"/>
          <p:cNvPicPr>
            <a:picLocks noChangeAspect="1"/>
          </p:cNvPicPr>
          <p:nvPr/>
        </p:nvPicPr>
        <p:blipFill>
          <a:blip r:embed="rIdL41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1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2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04" name="Rectangle 88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4818888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dirty="0" sz="2600" b="1" cap="none">
                <a:solidFill>
                  <a:srgbClr val="F4F7FB"/>
                </a:solidFill>
                <a:latin typeface="Arial"/>
              </a:rPr>
              <a:t>Técnicas de Salvamento Acuático</a:t>
            </a:r>
          </a:p>
        </p:txBody>
      </p:sp>
      <p:sp>
        <p:nvSpPr>
          <p:cNvPr id="2" name="1 Rectángulo"/>
          <p:cNvSpPr/>
          <p:nvPr/>
        </p:nvSpPr>
        <p:spPr>
          <a:xfrm>
            <a:off x="914974" y="4504471"/>
            <a:ext cx="4104456" cy="22402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s-MX" sz="2400" b="1" dirty="0">
                <a:solidFill>
                  <a:srgbClr val="BFBFBF"/>
                </a:solidFill>
              </a:rPr>
              <a:t>Reconocimiento.</a:t>
            </a:r>
          </a:p>
          <a:p>
            <a:endParaRPr lang="es-MX" sz="1200" b="1" dirty="0"/>
          </a:p>
          <a:p>
            <a:pPr marL="285750" indent="-285750">
              <a:buFont typeface="Wingdings" pitchFamily="2" charset="2"/>
              <a:buChar char="Ø"/>
            </a:pPr>
            <a:r>
              <a:rPr lang="es-MX" sz="2400" b="1" dirty="0">
                <a:solidFill>
                  <a:srgbClr val="BFBFBF"/>
                </a:solidFill>
              </a:rPr>
              <a:t>Alerta.</a:t>
            </a:r>
          </a:p>
          <a:p>
            <a:endParaRPr lang="es-MX" sz="1200" b="1" dirty="0"/>
          </a:p>
          <a:p>
            <a:pPr marL="285750" indent="-285750">
              <a:buFont typeface="Wingdings" pitchFamily="2" charset="2"/>
              <a:buChar char="Ø"/>
            </a:pPr>
            <a:r>
              <a:rPr lang="es-MX" sz="2400" b="1" dirty="0">
                <a:solidFill>
                  <a:srgbClr val="BFBFBF"/>
                </a:solidFill>
              </a:rPr>
              <a:t>Selección de Equipo</a:t>
            </a:r>
          </a:p>
          <a:p>
            <a:endParaRPr lang="es-MX" sz="1200" b="1" dirty="0"/>
          </a:p>
          <a:p>
            <a:pPr marL="285750" indent="-285750">
              <a:buFont typeface="Wingdings" pitchFamily="2" charset="2"/>
              <a:buChar char="Ø"/>
            </a:pPr>
            <a:r>
              <a:rPr lang="es-MX" sz="2400" b="1" dirty="0">
                <a:solidFill>
                  <a:srgbClr val="BFBFBF"/>
                </a:solidFill>
              </a:rPr>
              <a:t>Entrada</a:t>
            </a:r>
            <a:endParaRPr lang="es-MX" sz="2400" dirty="0"/>
          </a:p>
        </p:txBody>
      </p:sp>
      <p:sp>
        <p:nvSpPr>
          <p:cNvPr id="3" name="2 Rectángulo"/>
          <p:cNvSpPr/>
          <p:nvPr/>
        </p:nvSpPr>
        <p:spPr>
          <a:xfrm>
            <a:off x="365760" y="3903439"/>
            <a:ext cx="44723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rgbClr val="F0A8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RECONOCER Y RESPONDER </a:t>
            </a:r>
            <a:endParaRPr lang="es-MX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1706" name="Picture 111705" descr="torre.jpg"/>
          <p:cNvPicPr>
            <a:picLocks noChangeAspect="1"/>
          </p:cNvPicPr>
          <p:nvPr/>
        </p:nvPicPr>
        <p:blipFill>
          <a:blip r:embed="rIdL42n4"/>
          <a:srcRect l="26974" r="26974"/>
          <a:stretch>
            <a:fillRect/>
          </a:stretch>
        </p:blipFill>
        <p:spPr>
          <a:xfrm>
            <a:off x="5508104" y="1798240"/>
            <a:ext cx="3438128" cy="4943128"/>
          </a:xfrm>
          <a:prstGeom prst="round2DiagRect">
            <a:avLst>
              <a:gd name="adj1" fmla="val 12000"/>
              <a:gd name="adj2" fmla="val 0"/>
            </a:avLst>
          </a:prstGeom>
        </p:spPr>
      </p:pic>
      <p:pic>
        <p:nvPicPr>
          <p:cNvPr id="111705" name="Logos K-9 ACC" descr="placa-principal.png"/>
          <p:cNvPicPr>
            <a:picLocks noChangeAspect="1"/>
          </p:cNvPicPr>
          <p:nvPr/>
        </p:nvPicPr>
        <p:blipFill>
          <a:blip r:embed="rIdL42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3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55" name="Logos K-9 ACC" descr="placa-principal.png"/>
          <p:cNvPicPr>
            <a:picLocks noChangeAspect="1"/>
          </p:cNvPicPr>
          <p:nvPr/>
        </p:nvPicPr>
        <p:blipFill>
          <a:blip r:embed="rIdL43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181256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ALERTA: Código de Señalización auditiva (Fuera del Agua)</a:t>
            </a:r>
          </a:p>
        </p:txBody>
      </p:sp>
      <p:sp>
        <p:nvSpPr>
          <p:cNvPr id="181257" name="Rounded Rectangle 181256"/>
          <p:cNvSpPr/>
          <p:nvPr/>
        </p:nvSpPr>
        <p:spPr>
          <a:xfrm>
            <a:off x="411480" y="1325880"/>
            <a:ext cx="8321040" cy="1170432"/>
          </a:xfrm>
          <a:prstGeom prst="roundRect">
            <a:avLst>
              <a:gd name="adj" fmla="val 12000"/>
            </a:avLst>
          </a:prstGeom>
          <a:solidFill>
            <a:srgbClr val="13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58" name="Rounded Rectangle 181257"/>
          <p:cNvSpPr/>
          <p:nvPr/>
        </p:nvSpPr>
        <p:spPr>
          <a:xfrm>
            <a:off x="685800" y="176479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59" name="nuestro texto"/>
          <p:cNvSpPr txBox="1"/>
          <p:nvPr/>
        </p:nvSpPr>
        <p:spPr>
          <a:xfrm>
            <a:off x="2743200" y="1435608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2500" b="1">
                <a:solidFill>
                  <a:srgbClr val="F2C14E"/>
                </a:solidFill>
                <a:latin typeface="Arial"/>
              </a:rPr>
              <a:t>Un silbido corto: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Arial"/>
              </a:rPr>
              <a:t>Llamar la atención de un nadador o bañista.</a:t>
            </a:r>
          </a:p>
        </p:txBody>
      </p:sp>
      <p:sp>
        <p:nvSpPr>
          <p:cNvPr id="181260" name="Rounded Rectangle 181259"/>
          <p:cNvSpPr/>
          <p:nvPr/>
        </p:nvSpPr>
        <p:spPr>
          <a:xfrm>
            <a:off x="411480" y="2651760"/>
            <a:ext cx="8321040" cy="1170432"/>
          </a:xfrm>
          <a:prstGeom prst="roundRect">
            <a:avLst>
              <a:gd name="adj" fmla="val 12000"/>
            </a:avLst>
          </a:prstGeom>
          <a:solidFill>
            <a:srgbClr val="13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61" name="Rounded Rectangle 181260"/>
          <p:cNvSpPr/>
          <p:nvPr/>
        </p:nvSpPr>
        <p:spPr>
          <a:xfrm>
            <a:off x="685800" y="309067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62" name="Rounded Rectangle 181261"/>
          <p:cNvSpPr/>
          <p:nvPr/>
        </p:nvSpPr>
        <p:spPr>
          <a:xfrm>
            <a:off x="1307592" y="309067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63" name="nuestro texto"/>
          <p:cNvSpPr txBox="1"/>
          <p:nvPr/>
        </p:nvSpPr>
        <p:spPr>
          <a:xfrm>
            <a:off x="2743200" y="2761488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2500" b="1">
                <a:solidFill>
                  <a:srgbClr val="F2C14E"/>
                </a:solidFill>
                <a:latin typeface="Arial"/>
              </a:rPr>
              <a:t>Dos silbidos cortos: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Arial"/>
              </a:rPr>
              <a:t>Alertar aun compañero</a:t>
            </a:r>
          </a:p>
        </p:txBody>
      </p:sp>
      <p:sp>
        <p:nvSpPr>
          <p:cNvPr id="181264" name="Rounded Rectangle 181263"/>
          <p:cNvSpPr/>
          <p:nvPr/>
        </p:nvSpPr>
        <p:spPr>
          <a:xfrm>
            <a:off x="411480" y="3977639"/>
            <a:ext cx="8321040" cy="1170432"/>
          </a:xfrm>
          <a:prstGeom prst="roundRect">
            <a:avLst>
              <a:gd name="adj" fmla="val 12000"/>
            </a:avLst>
          </a:prstGeom>
          <a:solidFill>
            <a:srgbClr val="13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65" name="Rounded Rectangle 181264"/>
          <p:cNvSpPr/>
          <p:nvPr/>
        </p:nvSpPr>
        <p:spPr>
          <a:xfrm>
            <a:off x="685800" y="4416551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66" name="Rounded Rectangle 181265"/>
          <p:cNvSpPr/>
          <p:nvPr/>
        </p:nvSpPr>
        <p:spPr>
          <a:xfrm>
            <a:off x="1307592" y="4416551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67" name="Rounded Rectangle 181266"/>
          <p:cNvSpPr/>
          <p:nvPr/>
        </p:nvSpPr>
        <p:spPr>
          <a:xfrm>
            <a:off x="1929384" y="4416551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68" name="nuestro texto"/>
          <p:cNvSpPr txBox="1"/>
          <p:nvPr/>
        </p:nvSpPr>
        <p:spPr>
          <a:xfrm>
            <a:off x="2743200" y="4087367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2500" b="1">
                <a:solidFill>
                  <a:srgbClr val="F2C14E"/>
                </a:solidFill>
                <a:latin typeface="Arial"/>
              </a:rPr>
              <a:t>Tres cortos: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Arial"/>
              </a:rPr>
              <a:t>Anunciar emergencia o se requiere apoyo</a:t>
            </a:r>
          </a:p>
        </p:txBody>
      </p:sp>
      <p:sp>
        <p:nvSpPr>
          <p:cNvPr id="181269" name="Rounded Rectangle 181268"/>
          <p:cNvSpPr/>
          <p:nvPr/>
        </p:nvSpPr>
        <p:spPr>
          <a:xfrm>
            <a:off x="411480" y="5303520"/>
            <a:ext cx="8321040" cy="1170432"/>
          </a:xfrm>
          <a:prstGeom prst="roundRect">
            <a:avLst>
              <a:gd name="adj" fmla="val 12000"/>
            </a:avLst>
          </a:prstGeom>
          <a:solidFill>
            <a:srgbClr val="13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70" name="Rounded Rectangle 181269"/>
          <p:cNvSpPr/>
          <p:nvPr/>
        </p:nvSpPr>
        <p:spPr>
          <a:xfrm>
            <a:off x="685800" y="574243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71" name="nuestro texto"/>
          <p:cNvSpPr txBox="1"/>
          <p:nvPr/>
        </p:nvSpPr>
        <p:spPr>
          <a:xfrm>
            <a:off x="2743200" y="5413248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2500" b="1">
                <a:solidFill>
                  <a:srgbClr val="F2C14E"/>
                </a:solidFill>
                <a:latin typeface="Arial"/>
              </a:rPr>
              <a:t>Uno largo: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FFFFFF"/>
                </a:solidFill>
                <a:latin typeface="Arial"/>
              </a:rPr>
              <a:t>Desalojar el área o regresar a los usuarios</a:t>
            </a:r>
          </a:p>
        </p:txBody>
      </p:sp>
    </p:spTree>
    <p:extLst>
      <p:ext uri="{BB962C8B-B14F-4D97-AF65-F5344CB8AC3E}">
        <p14:creationId xmlns:p14="http://schemas.microsoft.com/office/powerpoint/2010/main" val="1179698137"/>
      </p:ext>
    </p:extLst>
  </p:cSld>
  <p:clrMapOvr>
    <a:masterClrMapping/>
  </p:clrMapOvr>
  <p:transition>
    <p:pull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4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71600" y="146304"/>
            <a:ext cx="4818888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marL="0" indent="0" algn="l">
              <a:buNone/>
            </a:pPr>
            <a:r>
              <a:rPr lang="es-MX" dirty="0" sz="2600" b="1" cap="none">
                <a:solidFill>
                  <a:srgbClr val="F4F7FB"/>
                </a:solidFill>
                <a:latin typeface="Arial"/>
              </a:rPr>
              <a:t>CONTACTO Y CONTROL: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11560" y="3068960"/>
            <a:ext cx="8229600" cy="2376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MX" sz="2400" dirty="0">
                <a:solidFill>
                  <a:srgbClr val="74C3E7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TIPOS DE NADO:</a:t>
            </a:r>
          </a:p>
          <a:p>
            <a:pPr>
              <a:buClrTx/>
              <a:buFont typeface="Wingdings" pitchFamily="2" charset="2"/>
              <a:buChar char="§"/>
            </a:pPr>
            <a:r>
              <a:rPr lang="es-MX" sz="2000" b="0" dirty="0">
                <a:solidFill>
                  <a:srgbClr val="BFBFBF"/>
                </a:solidFill>
              </a:rPr>
              <a:t>DELFINEO.</a:t>
            </a:r>
          </a:p>
          <a:p>
            <a:pPr>
              <a:buClrTx/>
              <a:buFont typeface="Wingdings" pitchFamily="2" charset="2"/>
              <a:buChar char="§"/>
            </a:pPr>
            <a:r>
              <a:rPr lang="es-MX" sz="2000" b="0" dirty="0">
                <a:solidFill>
                  <a:srgbClr val="BFBFBF"/>
                </a:solidFill>
              </a:rPr>
              <a:t>CRAWL MODIFICADO.</a:t>
            </a:r>
          </a:p>
          <a:p>
            <a:pPr>
              <a:buClrTx/>
              <a:buFont typeface="Wingdings" pitchFamily="2" charset="2"/>
              <a:buChar char="§"/>
            </a:pPr>
            <a:r>
              <a:rPr lang="es-MX" sz="2000" b="0" dirty="0">
                <a:solidFill>
                  <a:srgbClr val="BFBFBF"/>
                </a:solidFill>
              </a:rPr>
              <a:t>PECHO MODIFICADO</a:t>
            </a:r>
          </a:p>
          <a:p>
            <a:pPr>
              <a:buClrTx/>
              <a:buFont typeface="Wingdings" pitchFamily="2" charset="2"/>
              <a:buChar char="§"/>
            </a:pPr>
            <a:r>
              <a:rPr lang="es-MX" sz="2000" b="0" dirty="0">
                <a:solidFill>
                  <a:srgbClr val="BFBFBF"/>
                </a:solidFill>
              </a:rPr>
              <a:t>FRENO Y REVERSA.</a:t>
            </a:r>
            <a:endParaRPr lang="es-MX" b="0" dirty="0">
              <a:solidFill>
                <a:schemeClr val="tx1"/>
              </a:solidFill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467544" y="1383159"/>
            <a:ext cx="26132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rgbClr val="BFBFB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APROXIMACION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539552" y="1837273"/>
            <a:ext cx="7704856" cy="108813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buNone/>
            </a:pPr>
            <a:r>
              <a:rPr lang="es-MX" sz="2000" dirty="0">
                <a:solidFill>
                  <a:srgbClr val="BFBFBF"/>
                </a:solidFill>
              </a:rPr>
              <a:t>EL NADO TIENE QUE SER EL MEJOR Y EL MAS VELOZ QUE NOS PERMITA VERIFICAR FRECUENTEMENTE LA POSICION DE LA VICTIMA.</a:t>
            </a:r>
          </a:p>
        </p:txBody>
      </p:sp>
      <p:pic>
        <p:nvPicPr>
          <p:cNvPr id="11266" name="Picture 2" descr="G:\RECERTIFICACION GVS2012\DSC00025.JPG"/>
          <p:cNvPicPr>
            <a:picLocks noChangeAspect="1" noChangeArrowheads="1"/>
          </p:cNvPicPr>
          <p:nvPr/>
        </p:nvPicPr>
        <p:blipFill>
          <a:blip r:embed="rIdL44n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2787343"/>
            <a:ext cx="4896544" cy="367240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Logos K-9 ACC" descr="placa-principal.png"/>
          <p:cNvPicPr>
            <a:picLocks noChangeAspect="1"/>
          </p:cNvPicPr>
          <p:nvPr/>
        </p:nvPicPr>
        <p:blipFill>
          <a:blip r:embed="rIdL44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2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5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22531" descr="n-salvavidas8.jpg"/>
          <p:cNvPicPr>
            <a:picLocks noChangeAspect="1"/>
          </p:cNvPicPr>
          <p:nvPr/>
        </p:nvPicPr>
        <p:blipFill>
          <a:blip r:embed="rIdL45n5"/>
          <a:srcRect t="5560" b="5560"/>
          <a:stretch>
            <a:fillRect/>
          </a:stretch>
        </p:blipFill>
        <p:spPr>
          <a:xfrm>
            <a:off x="4834335" y="4744800"/>
            <a:ext cx="3532778" cy="1884599"/>
          </a:xfrm>
          <a:prstGeom prst="round2DiagRect">
            <a:avLst>
              <a:gd name="adj1" fmla="val 12000"/>
              <a:gd name="adj2" fmla="val 0"/>
            </a:avLst>
          </a:prstGeom>
        </p:spPr>
      </p:pic>
      <p:sp>
        <p:nvSpPr>
          <p:cNvPr id="5" name="4 Rectángulo"/>
          <p:cNvSpPr/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wrap="square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2600" b="1" dirty="0" cap="none">
                <a:solidFill>
                  <a:srgbClr val="F4F7FB"/>
                </a:solidFill>
                <a:latin typeface="Arial"/>
              </a:rPr>
              <a:t>CONTACTO:</a:t>
            </a:r>
          </a:p>
        </p:txBody>
      </p:sp>
      <p:sp>
        <p:nvSpPr>
          <p:cNvPr id="6" name="5 Rectángulo"/>
          <p:cNvSpPr/>
          <p:nvPr/>
        </p:nvSpPr>
        <p:spPr>
          <a:xfrm>
            <a:off x="916798" y="1207008"/>
            <a:ext cx="7345382" cy="81194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buNone/>
            </a:pPr>
            <a:r>
              <a:rPr lang="es-MX" sz="2100" dirty="0">
                <a:solidFill>
                  <a:srgbClr val="BFBFBF"/>
                </a:solidFill>
              </a:rPr>
              <a:t>SE INICIA CUANDO LA VICTIMA AGARRA LA BOYA DE RESCATE O ELEMENTOS FLOTANTES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776885" y="2046480"/>
            <a:ext cx="2576684" cy="5083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s-MX" sz="2720" b="1" dirty="0">
                <a:solidFill>
                  <a:srgbClr val="F0A8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ESTABILIZAR:</a:t>
            </a:r>
          </a:p>
        </p:txBody>
      </p:sp>
      <p:sp>
        <p:nvSpPr>
          <p:cNvPr id="8" name="7 Rectángulo"/>
          <p:cNvSpPr/>
          <p:nvPr/>
        </p:nvSpPr>
        <p:spPr>
          <a:xfrm>
            <a:off x="846841" y="2676084"/>
            <a:ext cx="7364986" cy="239204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buNone/>
            </a:pPr>
            <a:r>
              <a:rPr lang="es-MX" sz="2100" dirty="0">
                <a:solidFill>
                  <a:srgbClr val="BFBFBF"/>
                </a:solidFill>
              </a:rPr>
              <a:t>CUANDO EL GUARDAVIDAS TIENE EL CONTROL DEL SALVAMENTO, LA VICTIMA PUEDE RECOBRAR CONFIANZA Y LA RESPIRACION NORMAL AL REDUCIR EL PANICO, Y LA SITUACION CONTROLADA , SE PODRA REALIZAR EL TRASLADO AUN LUGAR MAS CERCANO Y SEGURO.</a:t>
            </a:r>
          </a:p>
          <a:p>
            <a:pPr algn="l">
              <a:buNone/>
            </a:pPr>
            <a:r>
              <a:rPr lang="es-MX" sz="1100" dirty="0">
                <a:solidFill>
                  <a:srgbClr val="BFBFBF"/>
                </a:solidFill>
              </a:rPr>
              <a:t>    </a:t>
            </a:r>
            <a:endParaRPr sz="1068"/>
          </a:p>
        </p:txBody>
      </p:sp>
      <p:pic>
        <p:nvPicPr>
          <p:cNvPr id="22530" name="Picture 2" descr="C:\Users\Capacitacion\Downloads\images (11).jpg"/>
          <p:cNvPicPr>
            <a:picLocks noChangeAspect="1" noChangeArrowheads="1"/>
          </p:cNvPicPr>
          <p:nvPr/>
        </p:nvPicPr>
        <p:blipFill>
          <a:blip r:embed="rIdL45n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763" y="4744800"/>
            <a:ext cx="2824409" cy="187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1" name="Logos K-9 ACC" descr="placa-principal.png"/>
          <p:cNvPicPr>
            <a:picLocks noChangeAspect="1"/>
          </p:cNvPicPr>
          <p:nvPr/>
        </p:nvPicPr>
        <p:blipFill>
          <a:blip r:embed="rIdL45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9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6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71600" y="146304"/>
            <a:ext cx="4818888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dirty="0" sz="2600" b="1" cap="none">
                <a:solidFill>
                  <a:srgbClr val="F4F7FB"/>
                </a:solidFill>
                <a:latin typeface="Arial"/>
              </a:rPr>
              <a:t>SEÑALAR Y SALVAR</a:t>
            </a:r>
          </a:p>
        </p:txBody>
      </p:sp>
      <p:sp>
        <p:nvSpPr>
          <p:cNvPr id="4" name="3 Rectángulo"/>
          <p:cNvSpPr/>
          <p:nvPr/>
        </p:nvSpPr>
        <p:spPr>
          <a:xfrm>
            <a:off x="852696" y="2905780"/>
            <a:ext cx="20409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s-MX" sz="2800" b="1" cap="all" dirty="0">
                <a:solidFill>
                  <a:srgbClr val="BFBFBF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SEÑALAR:</a:t>
            </a:r>
          </a:p>
        </p:txBody>
      </p:sp>
      <p:sp>
        <p:nvSpPr>
          <p:cNvPr id="5" name="4 Rectángulo"/>
          <p:cNvSpPr/>
          <p:nvPr/>
        </p:nvSpPr>
        <p:spPr>
          <a:xfrm>
            <a:off x="827584" y="3415640"/>
            <a:ext cx="7632848" cy="32004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buNone/>
            </a:pPr>
            <a:r>
              <a:rPr lang="es-MX" sz="2400" b="1" dirty="0">
                <a:solidFill>
                  <a:srgbClr val="74C3E7"/>
                </a:solidFill>
              </a:rPr>
              <a:t>CUANDO EL CONTROL DE LA VICTIMA Y LA ESTABILIZACION SE LOGRA, ES IMPORTANTE COMUNICARLE A LOS DEMAS QUE SE ENCUENTRAN EN TIERRA LAS CONDICIONES DE LA VICTIMA , SI SE REQUIERE AYUDA ADICIONAL ASI COMO LA ACTIVACION DE LA BRIGADA DE SEGURIDAD ACUATICA.</a:t>
            </a:r>
          </a:p>
        </p:txBody>
      </p:sp>
      <p:pic>
        <p:nvPicPr>
          <p:cNvPr id="8" name="Logos K-9 ACC" descr="placa-principal.png"/>
          <p:cNvPicPr>
            <a:picLocks noChangeAspect="1"/>
          </p:cNvPicPr>
          <p:nvPr/>
        </p:nvPicPr>
        <p:blipFill>
          <a:blip r:embed="rIdL46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4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7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425" name="Logos K-9 ACC" descr="placa-principal.png"/>
          <p:cNvPicPr>
            <a:picLocks noChangeAspect="1"/>
          </p:cNvPicPr>
          <p:nvPr/>
        </p:nvPicPr>
        <p:blipFill>
          <a:blip r:embed="rIdL47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188426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Señalizaciones Visuales (Dentro del Agua) · Uso de Manos</a:t>
            </a:r>
          </a:p>
        </p:txBody>
      </p:sp>
      <p:sp>
        <p:nvSpPr>
          <p:cNvPr id="188427" name="Rounded Rectangle 188426"/>
          <p:cNvSpPr/>
          <p:nvPr/>
        </p:nvSpPr>
        <p:spPr>
          <a:xfrm>
            <a:off x="411480" y="1325880"/>
            <a:ext cx="4023360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8428" name="Picture 188427" descr="ok.png"/>
          <p:cNvPicPr>
            <a:picLocks noChangeAspect="1"/>
          </p:cNvPicPr>
          <p:nvPr/>
        </p:nvPicPr>
        <p:blipFill>
          <a:blip r:embed="rIdL47n4"/>
          <a:stretch>
            <a:fillRect/>
          </a:stretch>
        </p:blipFill>
        <p:spPr>
          <a:xfrm>
            <a:off x="1005840" y="1554480"/>
            <a:ext cx="2834640" cy="2834640"/>
          </a:xfrm>
          <a:prstGeom prst="rect">
            <a:avLst/>
          </a:prstGeom>
        </p:spPr>
      </p:pic>
      <p:sp>
        <p:nvSpPr>
          <p:cNvPr id="188429" name="nuestro texto"/>
          <p:cNvSpPr txBox="1"/>
          <p:nvPr/>
        </p:nvSpPr>
        <p:spPr>
          <a:xfrm>
            <a:off x="640080" y="45262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1">
                <a:solidFill>
                  <a:srgbClr val="0B2545"/>
                </a:solidFill>
                <a:latin typeface="Arial"/>
              </a:rPr>
              <a:t>Todo bajo control</a:t>
            </a:r>
          </a:p>
        </p:txBody>
      </p:sp>
      <p:sp>
        <p:nvSpPr>
          <p:cNvPr id="188430" name="nuestro texto"/>
          <p:cNvSpPr txBox="1"/>
          <p:nvPr/>
        </p:nvSpPr>
        <p:spPr>
          <a:xfrm>
            <a:off x="640080" y="507492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200" b="0">
                <a:solidFill>
                  <a:srgbClr val="33415C"/>
                </a:solidFill>
                <a:latin typeface="Arial"/>
              </a:rPr>
              <a:t>Uno o dos manos sobre la cabeza en forma de circulo.</a:t>
            </a:r>
          </a:p>
        </p:txBody>
      </p:sp>
      <p:sp>
        <p:nvSpPr>
          <p:cNvPr id="188431" name="Rounded Rectangle 188430"/>
          <p:cNvSpPr/>
          <p:nvPr/>
        </p:nvSpPr>
        <p:spPr>
          <a:xfrm>
            <a:off x="4709160" y="1325880"/>
            <a:ext cx="4023360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8432" name="Picture 188431" descr="ayuda.png"/>
          <p:cNvPicPr>
            <a:picLocks noChangeAspect="1"/>
          </p:cNvPicPr>
          <p:nvPr/>
        </p:nvPicPr>
        <p:blipFill>
          <a:blip r:embed="rIdL47n5"/>
          <a:stretch>
            <a:fillRect/>
          </a:stretch>
        </p:blipFill>
        <p:spPr>
          <a:xfrm>
            <a:off x="5303520" y="1554480"/>
            <a:ext cx="2834640" cy="2834640"/>
          </a:xfrm>
          <a:prstGeom prst="rect">
            <a:avLst/>
          </a:prstGeom>
        </p:spPr>
      </p:pic>
      <p:sp>
        <p:nvSpPr>
          <p:cNvPr id="188433" name="nuestro texto"/>
          <p:cNvSpPr txBox="1"/>
          <p:nvPr/>
        </p:nvSpPr>
        <p:spPr>
          <a:xfrm>
            <a:off x="4937760" y="45262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1">
                <a:solidFill>
                  <a:srgbClr val="0B2545"/>
                </a:solidFill>
                <a:latin typeface="Arial"/>
              </a:rPr>
              <a:t>Necesito ayuda</a:t>
            </a:r>
          </a:p>
        </p:txBody>
      </p:sp>
      <p:sp>
        <p:nvSpPr>
          <p:cNvPr id="188434" name="nuestro texto"/>
          <p:cNvSpPr txBox="1"/>
          <p:nvPr/>
        </p:nvSpPr>
        <p:spPr>
          <a:xfrm>
            <a:off x="4937760" y="507492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200" b="0">
                <a:solidFill>
                  <a:srgbClr val="33415C"/>
                </a:solidFill>
                <a:latin typeface="Arial"/>
              </a:rPr>
              <a:t>Puño levantado con el brazo bien estirado.</a:t>
            </a:r>
          </a:p>
        </p:txBody>
      </p:sp>
    </p:spTree>
    <p:extLst>
      <p:ext uri="{BB962C8B-B14F-4D97-AF65-F5344CB8AC3E}">
        <p14:creationId xmlns:p14="http://schemas.microsoft.com/office/powerpoint/2010/main" val="1635590150"/>
      </p:ext>
    </p:extLst>
  </p:cSld>
  <p:clrMapOvr>
    <a:masterClrMapping/>
  </p:clrMapOvr>
  <p:transition>
    <p:pull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8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401" name="Logos K-9 ACC" descr="placa-principal.png"/>
          <p:cNvPicPr>
            <a:picLocks noChangeAspect="1"/>
          </p:cNvPicPr>
          <p:nvPr/>
        </p:nvPicPr>
        <p:blipFill>
          <a:blip r:embed="rIdL48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187402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Señalizaciones Visuales (Dentro del Agua) · Uso de Manos</a:t>
            </a:r>
          </a:p>
        </p:txBody>
      </p:sp>
      <p:sp>
        <p:nvSpPr>
          <p:cNvPr id="187403" name="Rounded Rectangle 187402"/>
          <p:cNvSpPr/>
          <p:nvPr/>
        </p:nvSpPr>
        <p:spPr>
          <a:xfrm>
            <a:off x="411480" y="1325880"/>
            <a:ext cx="4023360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7404" name="Picture 187403" descr="rcp.png"/>
          <p:cNvPicPr>
            <a:picLocks noChangeAspect="1"/>
          </p:cNvPicPr>
          <p:nvPr/>
        </p:nvPicPr>
        <p:blipFill>
          <a:blip r:embed="rIdL48n4"/>
          <a:stretch>
            <a:fillRect/>
          </a:stretch>
        </p:blipFill>
        <p:spPr>
          <a:xfrm>
            <a:off x="1005840" y="1554480"/>
            <a:ext cx="2834640" cy="2834640"/>
          </a:xfrm>
          <a:prstGeom prst="rect">
            <a:avLst/>
          </a:prstGeom>
        </p:spPr>
      </p:pic>
      <p:sp>
        <p:nvSpPr>
          <p:cNvPr id="187405" name="nuestro texto"/>
          <p:cNvSpPr txBox="1"/>
          <p:nvPr/>
        </p:nvSpPr>
        <p:spPr>
          <a:xfrm>
            <a:off x="640080" y="45262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1">
                <a:solidFill>
                  <a:srgbClr val="0B2545"/>
                </a:solidFill>
                <a:latin typeface="Arial"/>
              </a:rPr>
              <a:t>Situación de R.C.P</a:t>
            </a:r>
          </a:p>
        </p:txBody>
      </p:sp>
      <p:sp>
        <p:nvSpPr>
          <p:cNvPr id="187406" name="nuestro texto"/>
          <p:cNvSpPr txBox="1"/>
          <p:nvPr/>
        </p:nvSpPr>
        <p:spPr>
          <a:xfrm>
            <a:off x="640080" y="507492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100" b="0">
                <a:solidFill>
                  <a:srgbClr val="33415C"/>
                </a:solidFill>
                <a:latin typeface="Arial"/>
              </a:rPr>
              <a:t>Mano o puño levantado con el brazo bien estirado se agita vigorosamente de lado a lado.</a:t>
            </a:r>
          </a:p>
        </p:txBody>
      </p:sp>
      <p:sp>
        <p:nvSpPr>
          <p:cNvPr id="187407" name="Rounded Rectangle 187406"/>
          <p:cNvSpPr/>
          <p:nvPr/>
        </p:nvSpPr>
        <p:spPr>
          <a:xfrm>
            <a:off x="4709160" y="1325880"/>
            <a:ext cx="4023360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7408" name="Picture 187407" descr="equis.png"/>
          <p:cNvPicPr>
            <a:picLocks noChangeAspect="1"/>
          </p:cNvPicPr>
          <p:nvPr/>
        </p:nvPicPr>
        <p:blipFill>
          <a:blip r:embed="rIdL48n5"/>
          <a:stretch>
            <a:fillRect/>
          </a:stretch>
        </p:blipFill>
        <p:spPr>
          <a:xfrm>
            <a:off x="5303520" y="1554480"/>
            <a:ext cx="2834640" cy="2834640"/>
          </a:xfrm>
          <a:prstGeom prst="rect">
            <a:avLst/>
          </a:prstGeom>
        </p:spPr>
      </p:pic>
      <p:sp>
        <p:nvSpPr>
          <p:cNvPr id="187409" name="nuestro texto"/>
          <p:cNvSpPr txBox="1"/>
          <p:nvPr/>
        </p:nvSpPr>
        <p:spPr>
          <a:xfrm>
            <a:off x="4937760" y="45262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b="1">
                <a:solidFill>
                  <a:srgbClr val="0B2545"/>
                </a:solidFill>
                <a:latin typeface="Arial"/>
              </a:rPr>
              <a:t>Código X (victima desaparecida)</a:t>
            </a:r>
          </a:p>
        </p:txBody>
      </p:sp>
      <p:sp>
        <p:nvSpPr>
          <p:cNvPr id="187410" name="nuestro texto"/>
          <p:cNvSpPr txBox="1"/>
          <p:nvPr/>
        </p:nvSpPr>
        <p:spPr>
          <a:xfrm>
            <a:off x="4937760" y="507492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200" b="0">
                <a:solidFill>
                  <a:srgbClr val="33415C"/>
                </a:solidFill>
                <a:latin typeface="Arial"/>
              </a:rPr>
              <a:t>Se colocan los brazos cruzados, formando una X.</a:t>
            </a:r>
          </a:p>
        </p:txBody>
      </p:sp>
    </p:spTree>
    <p:extLst>
      <p:ext uri="{BB962C8B-B14F-4D97-AF65-F5344CB8AC3E}">
        <p14:creationId xmlns:p14="http://schemas.microsoft.com/office/powerpoint/2010/main" val="481916152"/>
      </p:ext>
    </p:extLst>
  </p:cSld>
  <p:clrMapOvr>
    <a:masterClrMapping/>
  </p:clrMapOvr>
  <p:transition>
    <p:pull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9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383" name="Logos K-9 ACC" descr="placa-principal.png"/>
          <p:cNvPicPr>
            <a:picLocks noChangeAspect="1"/>
          </p:cNvPicPr>
          <p:nvPr/>
        </p:nvPicPr>
        <p:blipFill>
          <a:blip r:embed="rIdL49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186384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Señalizaciones Visuales (Dentro del Agua) · Manos y Equipo</a:t>
            </a:r>
          </a:p>
        </p:txBody>
      </p:sp>
      <p:sp>
        <p:nvSpPr>
          <p:cNvPr id="186385" name="Rounded Rectangle 186384"/>
          <p:cNvSpPr/>
          <p:nvPr/>
        </p:nvSpPr>
        <p:spPr>
          <a:xfrm>
            <a:off x="411480" y="1325880"/>
            <a:ext cx="4023360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6386" name="Picture 186385" descr="tubo-ok.png"/>
          <p:cNvPicPr>
            <a:picLocks noChangeAspect="1"/>
          </p:cNvPicPr>
          <p:nvPr/>
        </p:nvPicPr>
        <p:blipFill>
          <a:blip r:embed="rIdL49n4"/>
          <a:stretch>
            <a:fillRect/>
          </a:stretch>
        </p:blipFill>
        <p:spPr>
          <a:xfrm>
            <a:off x="1005840" y="1554480"/>
            <a:ext cx="2834640" cy="2834640"/>
          </a:xfrm>
          <a:prstGeom prst="rect">
            <a:avLst/>
          </a:prstGeom>
        </p:spPr>
      </p:pic>
      <p:sp>
        <p:nvSpPr>
          <p:cNvPr id="186387" name="nuestro texto"/>
          <p:cNvSpPr txBox="1"/>
          <p:nvPr/>
        </p:nvSpPr>
        <p:spPr>
          <a:xfrm>
            <a:off x="640080" y="45262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1">
                <a:solidFill>
                  <a:srgbClr val="0B2545"/>
                </a:solidFill>
                <a:latin typeface="Arial"/>
              </a:rPr>
              <a:t>Todo bajo control</a:t>
            </a:r>
          </a:p>
        </p:txBody>
      </p:sp>
      <p:sp>
        <p:nvSpPr>
          <p:cNvPr id="186388" name="nuestro texto"/>
          <p:cNvSpPr txBox="1"/>
          <p:nvPr/>
        </p:nvSpPr>
        <p:spPr>
          <a:xfrm>
            <a:off x="640080" y="507492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200" b="0">
                <a:solidFill>
                  <a:srgbClr val="33415C"/>
                </a:solidFill>
                <a:latin typeface="Arial"/>
              </a:rPr>
              <a:t>Tubo o boya en posición horizontal por encima de la cabeza</a:t>
            </a:r>
          </a:p>
        </p:txBody>
      </p:sp>
      <p:sp>
        <p:nvSpPr>
          <p:cNvPr id="186389" name="Rounded Rectangle 186388"/>
          <p:cNvSpPr/>
          <p:nvPr/>
        </p:nvSpPr>
        <p:spPr>
          <a:xfrm>
            <a:off x="4709160" y="1325880"/>
            <a:ext cx="4023360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6390" name="Picture 186389" descr="tubo-ayuda.png"/>
          <p:cNvPicPr>
            <a:picLocks noChangeAspect="1"/>
          </p:cNvPicPr>
          <p:nvPr/>
        </p:nvPicPr>
        <p:blipFill>
          <a:blip r:embed="rIdL49n5"/>
          <a:stretch>
            <a:fillRect/>
          </a:stretch>
        </p:blipFill>
        <p:spPr>
          <a:xfrm>
            <a:off x="5303520" y="1554480"/>
            <a:ext cx="2834640" cy="2834640"/>
          </a:xfrm>
          <a:prstGeom prst="rect">
            <a:avLst/>
          </a:prstGeom>
        </p:spPr>
      </p:pic>
      <p:sp>
        <p:nvSpPr>
          <p:cNvPr id="186391" name="nuestro texto"/>
          <p:cNvSpPr txBox="1"/>
          <p:nvPr/>
        </p:nvSpPr>
        <p:spPr>
          <a:xfrm>
            <a:off x="4937760" y="45262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1">
                <a:solidFill>
                  <a:srgbClr val="0B2545"/>
                </a:solidFill>
                <a:latin typeface="Arial"/>
              </a:rPr>
              <a:t>Necesito ayuda</a:t>
            </a:r>
          </a:p>
        </p:txBody>
      </p:sp>
      <p:sp>
        <p:nvSpPr>
          <p:cNvPr id="186392" name="nuestro texto"/>
          <p:cNvSpPr txBox="1"/>
          <p:nvPr/>
        </p:nvSpPr>
        <p:spPr>
          <a:xfrm>
            <a:off x="4937760" y="507492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200" b="0">
                <a:solidFill>
                  <a:srgbClr val="33415C"/>
                </a:solidFill>
                <a:latin typeface="Arial"/>
              </a:rPr>
              <a:t>Tubo o boya en posición vertical por encima de la cabeza</a:t>
            </a:r>
          </a:p>
        </p:txBody>
      </p:sp>
    </p:spTree>
    <p:extLst>
      <p:ext uri="{BB962C8B-B14F-4D97-AF65-F5344CB8AC3E}">
        <p14:creationId xmlns:p14="http://schemas.microsoft.com/office/powerpoint/2010/main" val="2360721237"/>
      </p:ext>
    </p:extLst>
  </p:cSld>
  <p:clrMapOvr>
    <a:masterClrMapping/>
  </p:clrMapOvr>
  <p:transition>
    <p:pull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0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451" name="Logos K-9 ACC" descr="placa-principal.png"/>
          <p:cNvPicPr>
            <a:picLocks noChangeAspect="1"/>
          </p:cNvPicPr>
          <p:nvPr/>
        </p:nvPicPr>
        <p:blipFill>
          <a:blip r:embed="rIdL50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  <p:sp>
        <p:nvSpPr>
          <p:cNvPr id="189452" name="nuestro texto"/>
          <p:cNvSpPr txBox="1"/>
          <p:nvPr/>
        </p:nvSpPr>
        <p:spPr>
          <a:xfrm>
            <a:off x="1371600" y="146304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Señalizaciones Visuales (Dentro del Agua) · Manos y Equipo</a:t>
            </a:r>
          </a:p>
        </p:txBody>
      </p:sp>
      <p:sp>
        <p:nvSpPr>
          <p:cNvPr id="189453" name="Rounded Rectangle 189452"/>
          <p:cNvSpPr/>
          <p:nvPr/>
        </p:nvSpPr>
        <p:spPr>
          <a:xfrm>
            <a:off x="411480" y="1325880"/>
            <a:ext cx="4023360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9454" name="Picture 189453" descr="tubo-rcp.png"/>
          <p:cNvPicPr>
            <a:picLocks noChangeAspect="1"/>
          </p:cNvPicPr>
          <p:nvPr/>
        </p:nvPicPr>
        <p:blipFill>
          <a:blip r:embed="rIdL50n4"/>
          <a:stretch>
            <a:fillRect/>
          </a:stretch>
        </p:blipFill>
        <p:spPr>
          <a:xfrm>
            <a:off x="1005840" y="1554480"/>
            <a:ext cx="2834640" cy="2834640"/>
          </a:xfrm>
          <a:prstGeom prst="rect">
            <a:avLst/>
          </a:prstGeom>
        </p:spPr>
      </p:pic>
      <p:sp>
        <p:nvSpPr>
          <p:cNvPr id="189455" name="nuestro texto"/>
          <p:cNvSpPr txBox="1"/>
          <p:nvPr/>
        </p:nvSpPr>
        <p:spPr>
          <a:xfrm>
            <a:off x="640080" y="45262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1">
                <a:solidFill>
                  <a:srgbClr val="0B2545"/>
                </a:solidFill>
                <a:latin typeface="Arial"/>
              </a:rPr>
              <a:t>Situación de R.P.C</a:t>
            </a:r>
          </a:p>
        </p:txBody>
      </p:sp>
      <p:sp>
        <p:nvSpPr>
          <p:cNvPr id="189456" name="nuestro texto"/>
          <p:cNvSpPr txBox="1"/>
          <p:nvPr/>
        </p:nvSpPr>
        <p:spPr>
          <a:xfrm>
            <a:off x="640080" y="507492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100" b="0">
                <a:solidFill>
                  <a:srgbClr val="33415C"/>
                </a:solidFill>
                <a:latin typeface="Arial"/>
              </a:rPr>
              <a:t>Tubo o boya en posición vertical se agita vigorosamente de lado a lado.</a:t>
            </a:r>
          </a:p>
        </p:txBody>
      </p:sp>
      <p:sp>
        <p:nvSpPr>
          <p:cNvPr id="189457" name="Rounded Rectangle 189456"/>
          <p:cNvSpPr/>
          <p:nvPr/>
        </p:nvSpPr>
        <p:spPr>
          <a:xfrm>
            <a:off x="4709160" y="1325880"/>
            <a:ext cx="4023360" cy="5257800"/>
          </a:xfrm>
          <a:prstGeom prst="roundRect">
            <a:avLst>
              <a:gd name="adj" fmla="val 6000"/>
            </a:avLst>
          </a:prstGeom>
          <a:solidFill>
            <a:srgbClr val="133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458" name="nuestro texto"/>
          <p:cNvSpPr txBox="1"/>
          <p:nvPr/>
        </p:nvSpPr>
        <p:spPr>
          <a:xfrm>
            <a:off x="5029200" y="1783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Cómo no confundirlas</a:t>
            </a:r>
          </a:p>
        </p:txBody>
      </p:sp>
      <p:sp>
        <p:nvSpPr>
          <p:cNvPr id="189459" name="nuestro texto"/>
          <p:cNvSpPr txBox="1"/>
          <p:nvPr/>
        </p:nvSpPr>
        <p:spPr>
          <a:xfrm>
            <a:off x="5029200" y="2788920"/>
            <a:ext cx="3383280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E6EDF7"/>
                </a:solidFill>
                <a:latin typeface="Arial"/>
              </a:rPr>
              <a:t>Ayuda y RCP se hacen en vertical.
La diferencia es el movimiento: la de RCP se agita de lado a lado; la de ayuda se queda quieta.
Horizontal siempre significa «todo bajo control».</a:t>
            </a:r>
          </a:p>
        </p:txBody>
      </p:sp>
    </p:spTree>
    <p:extLst>
      <p:ext uri="{BB962C8B-B14F-4D97-AF65-F5344CB8AC3E}">
        <p14:creationId xmlns:p14="http://schemas.microsoft.com/office/powerpoint/2010/main" val="2927045100"/>
      </p:ext>
    </p:extLst>
  </p:cSld>
  <p:clrMapOvr>
    <a:masterClrMapping/>
  </p:clrMapOvr>
  <p:transition>
    <p:pull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1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wrap="square" lIns="45720" rIns="45720" tIns="0" bIns="0" anchor="ctr">
            <a:normAutofit/>
          </a:bodyPr>
          <a:lstStyle/>
          <a:p>
            <a:pPr marL="0" indent="0" algn="l">
              <a:buNone/>
            </a:pPr>
            <a:r>
              <a:rPr lang="es-MX" sz="2600" b="1" cap="none" dirty="0">
                <a:solidFill>
                  <a:srgbClr val="F4F7FB"/>
                </a:solidFill>
                <a:latin typeface="Arial"/>
              </a:rPr>
              <a:t>TRASLADO:</a:t>
            </a:r>
          </a:p>
        </p:txBody>
      </p:sp>
      <p:sp>
        <p:nvSpPr>
          <p:cNvPr id="5" name="4 Rectángulo"/>
          <p:cNvSpPr/>
          <p:nvPr/>
        </p:nvSpPr>
        <p:spPr>
          <a:xfrm>
            <a:off x="449796" y="1761226"/>
            <a:ext cx="7272808" cy="25763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buNone/>
            </a:pPr>
            <a:r>
              <a:rPr lang="es-MX" b="1" dirty="0" sz="1800">
                <a:solidFill>
                  <a:srgbClr val="BFBFB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CUANDO LA VICTIMA SE HA ESTABILIZADO Y SE HA DADO LA SEÑAL SE DEBE PLANEAR EL TRASLADO DEPENDIENDO DE LAS CONDICIONES  DEL LUGAR DE TRABAJO.</a:t>
            </a:r>
          </a:p>
          <a:p>
            <a:pPr algn="l">
              <a:buNone/>
            </a:pPr>
            <a:endParaRPr lang="es-MX" b="1" dirty="0" sz="90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l">
              <a:buFont typeface="Wingdings" pitchFamily="2" charset="2"/>
              <a:buChar char="Ø"/>
            </a:pPr>
            <a:r>
              <a:rPr lang="es-MX" b="1" dirty="0" sz="1800">
                <a:solidFill>
                  <a:srgbClr val="BFBFB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PLAYAS SOMERAS</a:t>
            </a:r>
          </a:p>
          <a:p>
            <a:pPr algn="l">
              <a:buFont typeface="Wingdings" pitchFamily="2" charset="2"/>
              <a:buChar char="Ø"/>
            </a:pPr>
            <a:r>
              <a:rPr lang="es-MX" b="1" dirty="0" sz="1800">
                <a:solidFill>
                  <a:srgbClr val="BFBFB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PLAYAS ABIERTAS</a:t>
            </a:r>
          </a:p>
          <a:p>
            <a:pPr algn="l">
              <a:buFont typeface="Wingdings" pitchFamily="2" charset="2"/>
              <a:buChar char="Ø"/>
            </a:pPr>
            <a:r>
              <a:rPr lang="es-MX" b="1" dirty="0" sz="1800">
                <a:solidFill>
                  <a:srgbClr val="BFBFB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ALBERCAS</a:t>
            </a:r>
          </a:p>
          <a:p>
            <a:pPr algn="l">
              <a:buFont typeface="Wingdings" pitchFamily="2" charset="2"/>
              <a:buChar char="Ø"/>
            </a:pPr>
            <a:r>
              <a:rPr lang="es-MX" b="1" dirty="0" sz="1800">
                <a:solidFill>
                  <a:srgbClr val="BFBFBF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LAGUNAS</a:t>
            </a:r>
          </a:p>
        </p:txBody>
      </p:sp>
      <p:pic>
        <p:nvPicPr>
          <p:cNvPr id="6" name="5 Imagen" descr="TIBURON 2 RUSA.jpg"/>
          <p:cNvPicPr>
            <a:picLocks noChangeAspect="1"/>
          </p:cNvPicPr>
          <p:nvPr/>
        </p:nvPicPr>
        <p:blipFill>
          <a:blip r:embed="rIdL51n2" cstate="print"/>
          <a:stretch>
            <a:fillRect/>
          </a:stretch>
        </p:blipFill>
        <p:spPr>
          <a:xfrm>
            <a:off x="3117322" y="2915387"/>
            <a:ext cx="5576882" cy="32621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Logos K-9 ACC" descr="placa-principal.png"/>
          <p:cNvPicPr>
            <a:picLocks noChangeAspect="1"/>
          </p:cNvPicPr>
          <p:nvPr/>
        </p:nvPicPr>
        <p:blipFill>
          <a:blip r:embed="rIdL51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79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2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4818888" cy="960120"/>
          </a:xfrm>
          <a:noFill/>
        </p:spPr>
        <p:txBody>
          <a:bodyPr lIns="45720" tIns="0" rIns="45720" bIns="0" anchor="ctr" wrap="square">
            <a:normAutofit/>
          </a:bodyPr>
          <a:lstStyle/>
          <a:p>
            <a:pPr eaLnBrk="1" hangingPunct="1" algn="l" indent="0" marL="0">
              <a:defRPr/>
              <a:buNone/>
            </a:pPr>
            <a:r>
              <a:rPr lang="es-MX" sz="2600" b="1" dirty="0" cap="none">
                <a:solidFill>
                  <a:srgbClr val="F4F7FB"/>
                </a:solidFill>
                <a:latin typeface="Arial"/>
              </a:rPr>
              <a:t>Extracción del Agua</a:t>
            </a:r>
          </a:p>
        </p:txBody>
      </p:sp>
      <p:sp>
        <p:nvSpPr>
          <p:cNvPr id="94212" name="Rectangle 3"/>
          <p:cNvSpPr>
            <a:spLocks noChangeArrowheads="1"/>
          </p:cNvSpPr>
          <p:nvPr/>
        </p:nvSpPr>
        <p:spPr bwMode="auto">
          <a:xfrm>
            <a:off x="611188" y="2276475"/>
            <a:ext cx="7632700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MX"/>
          </a:p>
        </p:txBody>
      </p:sp>
      <p:sp>
        <p:nvSpPr>
          <p:cNvPr id="201732" name="Text Box 4"/>
          <p:cNvSpPr txBox="1">
            <a:spLocks noChangeArrowheads="1"/>
          </p:cNvSpPr>
          <p:nvPr/>
        </p:nvSpPr>
        <p:spPr bwMode="auto">
          <a:xfrm>
            <a:off x="655138" y="1207780"/>
            <a:ext cx="7777162" cy="3968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indent="-342900" algn="l"/>
            <a:r>
              <a:rPr lang="es-ES" sz="2000" b="1" dirty="0">
                <a:solidFill>
                  <a:srgbClr val="EEA0C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CONSIDERAR LOS SIGUIENTES PUNTOS AL RETIRAR VÍCTIMAS DEL AGUA:</a:t>
            </a:r>
          </a:p>
          <a:p>
            <a:pPr marL="342900" indent="-342900" algn="l"/>
            <a:endParaRPr lang="es-ES" sz="1000" b="1" dirty="0">
              <a:solidFill>
                <a:srgbClr val="FF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/>
            <a:r>
              <a:rPr lang="es-ES" sz="2000" b="1" dirty="0">
                <a:solidFill>
                  <a:srgbClr val="BFBFBF"/>
                </a:solidFill>
              </a:rPr>
              <a:t>Los guardavidas deben tener la fuerza y habilidad para extraer a la víctima sin asistencia</a:t>
            </a:r>
          </a:p>
          <a:p>
            <a:pPr marL="342900" indent="-342900" algn="l"/>
            <a:endParaRPr lang="es-ES" sz="1000" b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/>
            <a:r>
              <a:rPr lang="es-ES" sz="2000" b="1" dirty="0">
                <a:solidFill>
                  <a:srgbClr val="C6AF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Los guardavidas deben utilizar técnicas de extracción para minimizar la posibilidad de lesión personal</a:t>
            </a:r>
          </a:p>
          <a:p>
            <a:pPr marL="342900" indent="-342900" algn="l"/>
            <a:endParaRPr lang="es-ES" sz="10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/>
            <a:r>
              <a:rPr lang="es-ES" sz="2000" b="1" dirty="0">
                <a:solidFill>
                  <a:srgbClr val="F0A8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Los guardavidas deben usar técnicas que protejan a las victimas que requieran ser auxiliadas. </a:t>
            </a:r>
          </a:p>
          <a:p>
            <a:pPr marL="800100" lvl="1" indent="-342900" algn="l"/>
            <a:endParaRPr lang="es-ES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 descr="C:\Documents and Settings\Nestor\Mis documentos\Mis imágenes\CANSADO.JPG"/>
          <p:cNvPicPr>
            <a:picLocks noChangeAspect="1" noChangeArrowheads="1"/>
          </p:cNvPicPr>
          <p:nvPr/>
        </p:nvPicPr>
        <p:blipFill>
          <a:blip r:embed="rIdL52n2" cstate="print"/>
          <a:srcRect/>
          <a:stretch>
            <a:fillRect/>
          </a:stretch>
        </p:blipFill>
        <p:spPr bwMode="auto">
          <a:xfrm>
            <a:off x="3116649" y="4686204"/>
            <a:ext cx="2836229" cy="21271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1733" name="Logos K-9 ACC" descr="placa-principal.png"/>
          <p:cNvPicPr>
            <a:picLocks noChangeAspect="1"/>
          </p:cNvPicPr>
          <p:nvPr/>
        </p:nvPicPr>
        <p:blipFill>
          <a:blip r:embed="rIdL52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59131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0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0" grpId="0"/>
      <p:bldP spid="20173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3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4818888" cy="960120"/>
          </a:xfrm>
          <a:noFill/>
        </p:spPr>
        <p:txBody>
          <a:bodyPr lIns="45720" tIns="0" rIns="45720" bIns="0" anchor="ctr" wrap="square">
            <a:normAutofit/>
          </a:bodyPr>
          <a:lstStyle/>
          <a:p>
            <a:pPr algn="l" eaLnBrk="1" hangingPunct="1" indent="0" marL="0">
              <a:defRPr/>
              <a:buNone/>
            </a:pPr>
            <a:r>
              <a:rPr lang="es-MX" sz="2600" cap="none" dirty="0" b="1">
                <a:solidFill>
                  <a:srgbClr val="F4F7FB"/>
                </a:solidFill>
                <a:latin typeface="Arial"/>
              </a:rPr>
              <a:t>Evaluación</a:t>
            </a:r>
          </a:p>
        </p:txBody>
      </p:sp>
      <p:sp>
        <p:nvSpPr>
          <p:cNvPr id="95236" name="Rectangle 3"/>
          <p:cNvSpPr>
            <a:spLocks noChangeArrowheads="1"/>
          </p:cNvSpPr>
          <p:nvPr/>
        </p:nvSpPr>
        <p:spPr bwMode="auto">
          <a:xfrm>
            <a:off x="611188" y="2276475"/>
            <a:ext cx="7632700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MX"/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540544" y="1215562"/>
            <a:ext cx="8280400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41325" indent="-441325">
              <a:buClr>
                <a:srgbClr val="F2C14E"/>
              </a:buClr>
              <a:buFontTx/>
              <a:buAutoNum type="arabicPeriod"/>
            </a:pPr>
            <a:r>
              <a:rPr lang="es-ES" b="1" dirty="0">
                <a:solidFill>
                  <a:srgbClr val="CEAEE7"/>
                </a:solidFill>
              </a:rPr>
              <a:t>¿</a:t>
            </a:r>
            <a:r>
              <a:rPr lang="es-ES" sz="2400" b="1" dirty="0">
                <a:solidFill>
                  <a:srgbClr val="CEAEE7"/>
                </a:solidFill>
              </a:rPr>
              <a:t>Puede la víctima sostenerse sin tambalear?</a:t>
            </a:r>
          </a:p>
          <a:p>
            <a:pPr marL="441325" indent="-441325">
              <a:buClr>
                <a:srgbClr val="F2C14E"/>
              </a:buClr>
              <a:buFontTx/>
              <a:buAutoNum type="arabicPeriod"/>
            </a:pPr>
            <a:r>
              <a:rPr lang="es-ES" sz="2400" b="1" dirty="0">
                <a:solidFill>
                  <a:srgbClr val="CEAEE7"/>
                </a:solidFill>
              </a:rPr>
              <a:t>¿Están los ojos sucios?</a:t>
            </a:r>
          </a:p>
          <a:p>
            <a:pPr marL="441325" indent="-441325">
              <a:buClr>
                <a:srgbClr val="F2C14E"/>
              </a:buClr>
              <a:buFontTx/>
              <a:buAutoNum type="arabicPeriod"/>
            </a:pPr>
            <a:r>
              <a:rPr lang="es-ES" sz="2400" b="1" dirty="0">
                <a:solidFill>
                  <a:srgbClr val="CEAEE7"/>
                </a:solidFill>
              </a:rPr>
              <a:t>¿Está la persona alerta?</a:t>
            </a:r>
          </a:p>
          <a:p>
            <a:pPr marL="441325" indent="-441325">
              <a:buClr>
                <a:srgbClr val="F2C14E"/>
              </a:buClr>
              <a:buFontTx/>
              <a:buAutoNum type="arabicPeriod"/>
            </a:pPr>
            <a:r>
              <a:rPr lang="es-ES" sz="2400" b="1" dirty="0">
                <a:solidFill>
                  <a:srgbClr val="CEAEE7"/>
                </a:solidFill>
              </a:rPr>
              <a:t>¿Está la persona completamente orientada?</a:t>
            </a:r>
          </a:p>
          <a:p>
            <a:pPr marL="441325" indent="-441325">
              <a:buClr>
                <a:srgbClr val="F2C14E"/>
              </a:buClr>
              <a:buFontTx/>
              <a:buAutoNum type="arabicPeriod"/>
            </a:pPr>
            <a:r>
              <a:rPr lang="es-ES" sz="2400" b="1" dirty="0">
                <a:solidFill>
                  <a:srgbClr val="CEAEE7"/>
                </a:solidFill>
              </a:rPr>
              <a:t>¿Puede hacer una inspiración sin sentir dolor?</a:t>
            </a:r>
          </a:p>
          <a:p>
            <a:pPr marL="441325" indent="-441325">
              <a:buClr>
                <a:srgbClr val="F2C14E"/>
              </a:buClr>
              <a:buFontTx/>
              <a:buAutoNum type="arabicPeriod"/>
            </a:pPr>
            <a:r>
              <a:rPr lang="es-ES" sz="2400" b="1" dirty="0">
                <a:solidFill>
                  <a:srgbClr val="CEAEE7"/>
                </a:solidFill>
              </a:rPr>
              <a:t>¿Piensa que ha tragado o inhalado agua?</a:t>
            </a:r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540544" y="3572162"/>
            <a:ext cx="81359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s-ES" sz="1800" b="1" dirty="0">
                <a:solidFill>
                  <a:srgbClr val="EEA0C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deben soltar a la víctima hasta que estén razonablemente seguros de que se encuentra bien </a:t>
            </a:r>
          </a:p>
        </p:txBody>
      </p:sp>
      <p:pic>
        <p:nvPicPr>
          <p:cNvPr id="3074" name="Picture 2" descr="C:\Documents and Settings\Nestor\Mis documentos\Mis imágenes\RECUPERA.JPG"/>
          <p:cNvPicPr>
            <a:picLocks noChangeAspect="1" noChangeArrowheads="1"/>
          </p:cNvPicPr>
          <p:nvPr/>
        </p:nvPicPr>
        <p:blipFill>
          <a:blip r:embed="rIdL53n2" cstate="print"/>
          <a:srcRect/>
          <a:stretch>
            <a:fillRect/>
          </a:stretch>
        </p:blipFill>
        <p:spPr bwMode="auto">
          <a:xfrm>
            <a:off x="2879106" y="4437111"/>
            <a:ext cx="3096862" cy="23226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5237" name="Logos K-9 ACC" descr="placa-principal.png"/>
          <p:cNvPicPr>
            <a:picLocks noChangeAspect="1"/>
          </p:cNvPicPr>
          <p:nvPr/>
        </p:nvPicPr>
        <p:blipFill>
          <a:blip r:embed="rIdL53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80948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/>
      <p:bldP spid="68612" grpId="0"/>
      <p:bldP spid="6861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4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4818888" cy="960120"/>
          </a:xfrm>
          <a:noFill/>
        </p:spPr>
        <p:txBody>
          <a:bodyPr lIns="45720" tIns="0" rIns="45720" bIns="0" anchor="ctr" wrap="square">
            <a:normAutofit/>
          </a:bodyPr>
          <a:lstStyle/>
          <a:p>
            <a:pPr eaLnBrk="1" hangingPunct="1" algn="l" indent="0" marL="0">
              <a:defRPr/>
              <a:buNone/>
            </a:pPr>
            <a:r>
              <a:rPr lang="es-MX" sz="2600" cap="none" dirty="0" b="1">
                <a:solidFill>
                  <a:srgbClr val="F4F7FB"/>
                </a:solidFill>
                <a:latin typeface="Arial"/>
              </a:rPr>
              <a:t>Reportar</a:t>
            </a:r>
          </a:p>
        </p:txBody>
      </p:sp>
      <p:sp>
        <p:nvSpPr>
          <p:cNvPr id="96260" name="Rectangle 3"/>
          <p:cNvSpPr>
            <a:spLocks noChangeArrowheads="1"/>
          </p:cNvSpPr>
          <p:nvPr/>
        </p:nvSpPr>
        <p:spPr bwMode="auto">
          <a:xfrm>
            <a:off x="611188" y="2276475"/>
            <a:ext cx="7632700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MX"/>
          </a:p>
        </p:txBody>
      </p:sp>
      <p:sp>
        <p:nvSpPr>
          <p:cNvPr id="204806" name="Text Box 6"/>
          <p:cNvSpPr txBox="1">
            <a:spLocks noChangeArrowheads="1"/>
          </p:cNvSpPr>
          <p:nvPr/>
        </p:nvSpPr>
        <p:spPr bwMode="auto">
          <a:xfrm>
            <a:off x="540271" y="1340768"/>
            <a:ext cx="7704137" cy="59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>
              <a:spcBef>
                <a:spcPct val="50000"/>
              </a:spcBef>
            </a:pPr>
            <a:r>
              <a:rPr lang="es-ES" sz="2100" b="1" dirty="0">
                <a:solidFill>
                  <a:srgbClr val="F0A8A8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ahoma" pitchFamily="34" charset="0"/>
              </a:rPr>
              <a:t>Cada salvamento debe ser registrado</a:t>
            </a:r>
          </a:p>
        </p:txBody>
      </p:sp>
      <p:graphicFrame>
        <p:nvGraphicFramePr>
          <p:cNvPr id="204903" name="Group 10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688879"/>
              </p:ext>
            </p:extLst>
          </p:nvPr>
        </p:nvGraphicFramePr>
        <p:xfrm>
          <a:off x="539750" y="1989138"/>
          <a:ext cx="8135938" cy="4552951"/>
        </p:xfrm>
        <a:graphic>
          <a:graphicData uri="http://schemas.openxmlformats.org/drawingml/2006/table">
            <a:tbl>
              <a:tblPr/>
              <a:tblGrid>
                <a:gridCol w="3986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5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Arial" charset="0"/>
                        </a:rPr>
                        <a:t>Nombre de la víctima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2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Arial" charset="0"/>
                        </a:rPr>
                        <a:t>Dirección: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4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Arial" charset="0"/>
                        </a:rPr>
                        <a:t>Nombre del Guardavidas: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4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Arial" charset="0"/>
                        </a:rPr>
                        <a:t>Fecha: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4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Arial" charset="0"/>
                        </a:rPr>
                        <a:t>Hora: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Arial" charset="0"/>
                        </a:rPr>
                        <a:t>Lugar: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FBFBF"/>
                          </a:solidFill>
                          <a:effectLst/>
                          <a:latin typeface="Arial" charset="0"/>
                        </a:rPr>
                        <a:t>Otros datos relevantes: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04904" name="Logos K-9 ACC" descr="placa-principal.png"/>
          <p:cNvPicPr>
            <a:picLocks noChangeAspect="1"/>
          </p:cNvPicPr>
          <p:nvPr/>
        </p:nvPicPr>
        <p:blipFill>
          <a:blip r:embed="rIdL54n3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572355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048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048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4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2" grpId="0"/>
      <p:bldP spid="20480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5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1371600" y="146304"/>
            <a:ext cx="4818888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1800" dirty="0" b="1" cap="none">
                <a:solidFill>
                  <a:srgbClr val="F4F7FB"/>
                </a:solidFill>
                <a:latin typeface="Arial"/>
              </a:rPr>
              <a:t>MANEJO DE VICTIMA CON POSIBLE LESIÓN EN LA COLUMNA VERTEBRAL </a:t>
            </a:r>
          </a:p>
        </p:txBody>
      </p:sp>
      <p:sp>
        <p:nvSpPr>
          <p:cNvPr id="4" name="3 Rectángulo"/>
          <p:cNvSpPr/>
          <p:nvPr/>
        </p:nvSpPr>
        <p:spPr>
          <a:xfrm>
            <a:off x="779856" y="2132856"/>
            <a:ext cx="5040543" cy="452856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Clr>
                <a:srgbClr val="F2C14E"/>
              </a:buClr>
              <a:buFont typeface="+mj-lt"/>
              <a:buAutoNum type="arabicPeriod"/>
            </a:pPr>
            <a:r>
              <a:rPr lang="es-MX" sz="2500" dirty="0">
                <a:solidFill>
                  <a:srgbClr val="BFBFBF"/>
                </a:solidFill>
              </a:rPr>
              <a:t>Falta de movilidad </a:t>
            </a:r>
          </a:p>
          <a:p>
            <a:pPr marL="457200" indent="-457200">
              <a:buClr>
                <a:srgbClr val="F2C14E"/>
              </a:buClr>
              <a:buFont typeface="+mj-lt"/>
              <a:buAutoNum type="arabicPeriod"/>
            </a:pPr>
            <a:r>
              <a:rPr lang="es-MX" sz="2500" dirty="0">
                <a:solidFill>
                  <a:srgbClr val="BFBFBF"/>
                </a:solidFill>
              </a:rPr>
              <a:t>Paro cardiorrespiratorio </a:t>
            </a:r>
          </a:p>
          <a:p>
            <a:pPr marL="457200" indent="-457200">
              <a:buClr>
                <a:srgbClr val="F2C14E"/>
              </a:buClr>
              <a:buFont typeface="+mj-lt"/>
              <a:buAutoNum type="arabicPeriod"/>
            </a:pPr>
            <a:r>
              <a:rPr lang="es-MX" sz="2500" dirty="0">
                <a:solidFill>
                  <a:srgbClr val="BFBFBF"/>
                </a:solidFill>
              </a:rPr>
              <a:t>Pupilas dilatadas </a:t>
            </a:r>
          </a:p>
          <a:p>
            <a:pPr marL="457200" indent="-457200">
              <a:buClr>
                <a:srgbClr val="F2C14E"/>
              </a:buClr>
              <a:buFont typeface="+mj-lt"/>
              <a:buAutoNum type="arabicPeriod"/>
            </a:pPr>
            <a:r>
              <a:rPr lang="es-MX" sz="2500" dirty="0">
                <a:solidFill>
                  <a:srgbClr val="BFBFBF"/>
                </a:solidFill>
              </a:rPr>
              <a:t>Fractura </a:t>
            </a:r>
          </a:p>
          <a:p>
            <a:pPr marL="457200" indent="-457200">
              <a:buClr>
                <a:srgbClr val="F2C14E"/>
              </a:buClr>
              <a:buFont typeface="+mj-lt"/>
              <a:buAutoNum type="arabicPeriod"/>
            </a:pPr>
            <a:r>
              <a:rPr lang="es-MX" sz="2500" dirty="0">
                <a:solidFill>
                  <a:srgbClr val="BFBFBF"/>
                </a:solidFill>
              </a:rPr>
              <a:t>Deformación </a:t>
            </a:r>
          </a:p>
          <a:p>
            <a:pPr marL="457200" indent="-457200">
              <a:buClr>
                <a:srgbClr val="F2C14E"/>
              </a:buClr>
              <a:buFont typeface="+mj-lt"/>
              <a:buAutoNum type="arabicPeriod"/>
            </a:pPr>
            <a:r>
              <a:rPr lang="es-MX" sz="2500" dirty="0">
                <a:solidFill>
                  <a:srgbClr val="BFBFBF"/>
                </a:solidFill>
              </a:rPr>
              <a:t>Falta de sensibilidad </a:t>
            </a:r>
          </a:p>
          <a:p>
            <a:pPr marL="457200" indent="-457200">
              <a:buClr>
                <a:srgbClr val="F2C14E"/>
              </a:buClr>
              <a:buFont typeface="+mj-lt"/>
              <a:buAutoNum type="arabicPeriod"/>
            </a:pPr>
            <a:r>
              <a:rPr lang="es-MX" sz="2500" dirty="0">
                <a:solidFill>
                  <a:srgbClr val="BFBFBF"/>
                </a:solidFill>
              </a:rPr>
              <a:t>Defecación </a:t>
            </a:r>
          </a:p>
          <a:p>
            <a:pPr marL="457200" indent="-457200">
              <a:buClr>
                <a:srgbClr val="F2C14E"/>
              </a:buClr>
              <a:buFont typeface="+mj-lt"/>
              <a:buAutoNum type="arabicPeriod"/>
            </a:pPr>
            <a:r>
              <a:rPr lang="es-MX" sz="2500" dirty="0">
                <a:solidFill>
                  <a:srgbClr val="BFBFBF"/>
                </a:solidFill>
              </a:rPr>
              <a:t>Hematoma, inflamación </a:t>
            </a:r>
          </a:p>
          <a:p>
            <a:pPr marL="457200" indent="-457200">
              <a:buClr>
                <a:srgbClr val="F2C14E"/>
              </a:buClr>
              <a:buFont typeface="+mj-lt"/>
              <a:buAutoNum type="arabicPeriod"/>
            </a:pPr>
            <a:r>
              <a:rPr lang="es-MX" sz="2500" dirty="0">
                <a:solidFill>
                  <a:srgbClr val="BFBFBF"/>
                </a:solidFill>
              </a:rPr>
              <a:t>Dolor </a:t>
            </a:r>
          </a:p>
          <a:p>
            <a:pPr marL="457200" indent="-457200">
              <a:buClr>
                <a:srgbClr val="F2C14E"/>
              </a:buClr>
              <a:buFont typeface="+mj-lt"/>
              <a:buAutoNum type="arabicPeriod"/>
            </a:pPr>
            <a:r>
              <a:rPr lang="es-MX" sz="2500" dirty="0">
                <a:solidFill>
                  <a:srgbClr val="BFBFBF"/>
                </a:solidFill>
              </a:rPr>
              <a:t>Vomito </a:t>
            </a:r>
          </a:p>
          <a:p>
            <a:pPr marL="457200" indent="-457200">
              <a:buClr>
                <a:srgbClr val="F2C14E"/>
              </a:buClr>
              <a:buFont typeface="+mj-lt"/>
              <a:buAutoNum type="arabicPeriod"/>
            </a:pPr>
            <a:r>
              <a:rPr lang="es-MX" sz="2500" dirty="0">
                <a:solidFill>
                  <a:srgbClr val="BFBFBF"/>
                </a:solidFill>
              </a:rPr>
              <a:t>Crepitación ósea </a:t>
            </a:r>
          </a:p>
        </p:txBody>
      </p:sp>
      <p:sp>
        <p:nvSpPr>
          <p:cNvPr id="5" name="4 Rectángulo"/>
          <p:cNvSpPr/>
          <p:nvPr/>
        </p:nvSpPr>
        <p:spPr>
          <a:xfrm>
            <a:off x="671845" y="1443844"/>
            <a:ext cx="5256567" cy="52322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s-MX" sz="2800" b="1" dirty="0">
                <a:solidFill>
                  <a:srgbClr val="BFBFB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Signos de lesión en columna:</a:t>
            </a:r>
          </a:p>
        </p:txBody>
      </p:sp>
      <p:pic>
        <p:nvPicPr>
          <p:cNvPr id="6" name="Picture 5" descr="D:\ARCHIVO GRAL. FOTOS\LIFE GUARD\936166.jpg"/>
          <p:cNvPicPr>
            <a:picLocks noChangeAspect="1" noChangeArrowheads="1"/>
          </p:cNvPicPr>
          <p:nvPr/>
        </p:nvPicPr>
        <p:blipFill>
          <a:blip r:embed="rIdL55n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362" y="2827260"/>
            <a:ext cx="4207134" cy="278765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Logos K-9 ACC" descr="placa-principal.png"/>
          <p:cNvPicPr>
            <a:picLocks noChangeAspect="1"/>
          </p:cNvPicPr>
          <p:nvPr/>
        </p:nvPicPr>
        <p:blipFill>
          <a:blip r:embed="rIdL55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2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6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547664" y="1700808"/>
            <a:ext cx="6120680" cy="19202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s-MX" sz="2800" dirty="0">
                <a:solidFill>
                  <a:srgbClr val="BFBFBF"/>
                </a:solidFill>
              </a:rPr>
              <a:t>1. Tabla larga (camilla rígida) </a:t>
            </a:r>
          </a:p>
          <a:p>
            <a:r>
              <a:rPr lang="es-MX" sz="2800" dirty="0">
                <a:solidFill>
                  <a:srgbClr val="BFBFBF"/>
                </a:solidFill>
              </a:rPr>
              <a:t>2. cinturones (araña) </a:t>
            </a:r>
          </a:p>
          <a:p>
            <a:r>
              <a:rPr lang="es-MX" sz="2800" dirty="0">
                <a:solidFill>
                  <a:srgbClr val="BFBFBF"/>
                </a:solidFill>
              </a:rPr>
              <a:t>3. inmovilizadores de cráneo </a:t>
            </a:r>
          </a:p>
          <a:p>
            <a:r>
              <a:rPr lang="es-MX" sz="2800" dirty="0">
                <a:solidFill>
                  <a:srgbClr val="BFBFBF"/>
                </a:solidFill>
              </a:rPr>
              <a:t>4. collarín de cervicales </a:t>
            </a:r>
          </a:p>
        </p:txBody>
      </p:sp>
      <p:sp>
        <p:nvSpPr>
          <p:cNvPr id="3" name="2 Rectángulo"/>
          <p:cNvSpPr/>
          <p:nvPr/>
        </p:nvSpPr>
        <p:spPr>
          <a:xfrm>
            <a:off x="1371600" y="146304"/>
            <a:ext cx="4818888" cy="960120"/>
          </a:xfrm>
          <a:prstGeom prst="rect">
            <a:avLst/>
          </a:prstGeom>
          <a:noFill/>
        </p:spPr>
        <p:txBody>
          <a:bodyPr wrap="square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2200" b="1" dirty="0" cap="none">
                <a:solidFill>
                  <a:srgbClr val="F4F7FB"/>
                </a:solidFill>
                <a:latin typeface="Arial"/>
              </a:rPr>
              <a:t>EQUIPO PARA INMOVILIZACIÓN DENTRO DEL AGUA </a:t>
            </a:r>
            <a:endParaRPr lang="es-MX" sz="2800" dirty="0">
              <a:solidFill>
                <a:srgbClr val="FF0000"/>
              </a:solidFill>
            </a:endParaRPr>
          </a:p>
        </p:txBody>
      </p:sp>
      <p:pic>
        <p:nvPicPr>
          <p:cNvPr id="12290" name="Picture 2" descr="G:\RECERTIFICACION GVS2012\DSC00204.JPG"/>
          <p:cNvPicPr>
            <a:picLocks noChangeAspect="1" noChangeArrowheads="1"/>
          </p:cNvPicPr>
          <p:nvPr/>
        </p:nvPicPr>
        <p:blipFill>
          <a:blip r:embed="rIdL56n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181" y="3422116"/>
            <a:ext cx="4137637" cy="310322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Logos K-9 ACC" descr="placa-principal.png"/>
          <p:cNvPicPr>
            <a:picLocks noChangeAspect="1"/>
          </p:cNvPicPr>
          <p:nvPr/>
        </p:nvPicPr>
        <p:blipFill>
          <a:blip r:embed="rIdL56n4"/>
          <a:stretch>
            <a:fillRect/>
          </a:stretch>
        </p:blipFill>
        <p:spPr>
          <a:xfrm>
            <a:off x="6419088" y="128016"/>
            <a:ext cx="25603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9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7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0" y="1005840"/>
            <a:ext cx="35661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9.png"/>
          <p:cNvPicPr>
            <a:picLocks noChangeAspect="1"/>
          </p:cNvPicPr>
          <p:nvPr/>
        </p:nvPicPr>
        <p:blipFill>
          <a:blip r:embed="rIdL57n3"/>
          <a:stretch>
            <a:fillRect/>
          </a:stretch>
        </p:blipFill>
        <p:spPr>
          <a:xfrm>
            <a:off x="5395649" y="1234440"/>
            <a:ext cx="3016141" cy="3179668"/>
          </a:xfrm>
          <a:prstGeom prst="rect">
            <a:avLst/>
          </a:prstGeom>
        </p:spPr>
      </p:pic>
      <p:pic>
        <p:nvPicPr>
          <p:cNvPr id="4" name="Picture 3" descr="acc.png"/>
          <p:cNvPicPr>
            <a:picLocks noChangeAspect="1"/>
          </p:cNvPicPr>
          <p:nvPr/>
        </p:nvPicPr>
        <p:blipFill>
          <a:blip r:embed="rIdL57n4"/>
          <a:stretch>
            <a:fillRect/>
          </a:stretch>
        </p:blipFill>
        <p:spPr>
          <a:xfrm>
            <a:off x="4386048" y="4551427"/>
            <a:ext cx="4392192" cy="1472069"/>
          </a:xfrm>
          <a:prstGeom prst="rect">
            <a:avLst/>
          </a:prstGeom>
        </p:spPr>
      </p:pic>
      <p:sp>
        <p:nvSpPr>
          <p:cNvPr id="5" name="nuestro texto"/>
          <p:cNvSpPr txBox="1"/>
          <p:nvPr/>
        </p:nvSpPr>
        <p:spPr>
          <a:xfrm>
            <a:off x="502920" y="2057400"/>
            <a:ext cx="42519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¡Gracias!</a:t>
            </a:r>
          </a:p>
        </p:txBody>
      </p:sp>
      <p:sp>
        <p:nvSpPr>
          <p:cNvPr id="6" name="nuestro texto"/>
          <p:cNvSpPr txBox="1"/>
          <p:nvPr/>
        </p:nvSpPr>
        <p:spPr>
          <a:xfrm>
            <a:off x="502920" y="3383280"/>
            <a:ext cx="42519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C9D6EA"/>
                </a:solidFill>
                <a:latin typeface="Arial"/>
              </a:rPr>
              <a:t>Curso de brigada acuática</a:t>
            </a:r>
          </a:p>
        </p:txBody>
      </p:sp>
      <p:sp>
        <p:nvSpPr>
          <p:cNvPr id="7" name="nuestro texto"/>
          <p:cNvSpPr txBox="1"/>
          <p:nvPr/>
        </p:nvSpPr>
        <p:spPr>
          <a:xfrm>
            <a:off x="502920" y="5477256"/>
            <a:ext cx="2743200" cy="303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B8C7DE"/>
                </a:solidFill>
                <a:latin typeface="Arial"/>
              </a:rPr>
              <a:t>Con el apoyo de</a:t>
            </a:r>
          </a:p>
        </p:txBody>
      </p:sp>
      <p:pic>
        <p:nvPicPr>
          <p:cNvPr id="8" name="Picture 7" descr="placa-patrocinio.png"/>
          <p:cNvPicPr>
            <a:picLocks noChangeAspect="1"/>
          </p:cNvPicPr>
          <p:nvPr/>
        </p:nvPicPr>
        <p:blipFill>
          <a:blip r:embed="rIdL57n5"/>
          <a:stretch>
            <a:fillRect/>
          </a:stretch>
        </p:blipFill>
        <p:spPr>
          <a:xfrm>
            <a:off x="502920" y="5806440"/>
            <a:ext cx="1655521" cy="777240"/>
          </a:xfrm>
          <a:prstGeom prst="rect">
            <a:avLst/>
          </a:prstGeom>
        </p:spPr>
      </p:pic>
      <p:pic>
        <p:nvPicPr>
          <p:cNvPr id="9" name="Picture 8" descr="uniprotec.png"/>
          <p:cNvPicPr>
            <a:picLocks noChangeAspect="1"/>
          </p:cNvPicPr>
          <p:nvPr/>
        </p:nvPicPr>
        <p:blipFill>
          <a:blip r:embed="rIdL57n6"/>
          <a:stretch>
            <a:fillRect/>
          </a:stretch>
        </p:blipFill>
        <p:spPr>
          <a:xfrm>
            <a:off x="2387041" y="5946343"/>
            <a:ext cx="1861650" cy="4974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585TGp_Skinscuba_light">
  <a:themeElements>
    <a:clrScheme name="3 1">
      <a:dk1>
        <a:srgbClr val="000000"/>
      </a:dk1>
      <a:lt1>
        <a:srgbClr val="FFFFFF"/>
      </a:lt1>
      <a:dk2>
        <a:srgbClr val="179CD7"/>
      </a:dk2>
      <a:lt2>
        <a:srgbClr val="B2B2B2"/>
      </a:lt2>
      <a:accent1>
        <a:srgbClr val="3BB21A"/>
      </a:accent1>
      <a:accent2>
        <a:srgbClr val="7137C7"/>
      </a:accent2>
      <a:accent3>
        <a:srgbClr val="FFFFFF"/>
      </a:accent3>
      <a:accent4>
        <a:srgbClr val="000000"/>
      </a:accent4>
      <a:accent5>
        <a:srgbClr val="AFD5AB"/>
      </a:accent5>
      <a:accent6>
        <a:srgbClr val="6631B4"/>
      </a:accent6>
      <a:hlink>
        <a:srgbClr val="CC3399"/>
      </a:hlink>
      <a:folHlink>
        <a:srgbClr val="CC6600"/>
      </a:folHlink>
    </a:clrScheme>
    <a:fontScheme name="3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 1">
        <a:dk1>
          <a:srgbClr val="000000"/>
        </a:dk1>
        <a:lt1>
          <a:srgbClr val="FFFFFF"/>
        </a:lt1>
        <a:dk2>
          <a:srgbClr val="179CD7"/>
        </a:dk2>
        <a:lt2>
          <a:srgbClr val="B2B2B2"/>
        </a:lt2>
        <a:accent1>
          <a:srgbClr val="3BB21A"/>
        </a:accent1>
        <a:accent2>
          <a:srgbClr val="7137C7"/>
        </a:accent2>
        <a:accent3>
          <a:srgbClr val="FFFFFF"/>
        </a:accent3>
        <a:accent4>
          <a:srgbClr val="000000"/>
        </a:accent4>
        <a:accent5>
          <a:srgbClr val="AFD5AB"/>
        </a:accent5>
        <a:accent6>
          <a:srgbClr val="6631B4"/>
        </a:accent6>
        <a:hlink>
          <a:srgbClr val="CC3399"/>
        </a:hlink>
        <a:folHlink>
          <a:srgbClr val="CC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 2">
        <a:dk1>
          <a:srgbClr val="000000"/>
        </a:dk1>
        <a:lt1>
          <a:srgbClr val="FFFFFF"/>
        </a:lt1>
        <a:dk2>
          <a:srgbClr val="4CD21C"/>
        </a:dk2>
        <a:lt2>
          <a:srgbClr val="B2B2B2"/>
        </a:lt2>
        <a:accent1>
          <a:srgbClr val="2390D3"/>
        </a:accent1>
        <a:accent2>
          <a:srgbClr val="E1841D"/>
        </a:accent2>
        <a:accent3>
          <a:srgbClr val="FFFFFF"/>
        </a:accent3>
        <a:accent4>
          <a:srgbClr val="000000"/>
        </a:accent4>
        <a:accent5>
          <a:srgbClr val="ACC6E6"/>
        </a:accent5>
        <a:accent6>
          <a:srgbClr val="CC7719"/>
        </a:accent6>
        <a:hlink>
          <a:srgbClr val="87CB35"/>
        </a:hlink>
        <a:folHlink>
          <a:srgbClr val="35979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 3">
        <a:dk1>
          <a:srgbClr val="000000"/>
        </a:dk1>
        <a:lt1>
          <a:srgbClr val="FFFFFF"/>
        </a:lt1>
        <a:dk2>
          <a:srgbClr val="CD216F"/>
        </a:dk2>
        <a:lt2>
          <a:srgbClr val="B2B2B2"/>
        </a:lt2>
        <a:accent1>
          <a:srgbClr val="C6A630"/>
        </a:accent1>
        <a:accent2>
          <a:srgbClr val="3CC2AC"/>
        </a:accent2>
        <a:accent3>
          <a:srgbClr val="FFFFFF"/>
        </a:accent3>
        <a:accent4>
          <a:srgbClr val="000000"/>
        </a:accent4>
        <a:accent5>
          <a:srgbClr val="DFD0AD"/>
        </a:accent5>
        <a:accent6>
          <a:srgbClr val="35B09B"/>
        </a:accent6>
        <a:hlink>
          <a:srgbClr val="A932CE"/>
        </a:hlink>
        <a:folHlink>
          <a:srgbClr val="15B75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585TGp_Skinscuba_light</Template>
  <TotalTime>1359</TotalTime>
  <Words>2375</Words>
  <Application>Microsoft Office PowerPoint</Application>
  <PresentationFormat>Presentación en pantalla (4:3)</PresentationFormat>
  <Paragraphs>341</Paragraphs>
  <Slides>55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55</vt:i4>
      </vt:variant>
    </vt:vector>
  </HeadingPairs>
  <TitlesOfParts>
    <vt:vector size="66" baseType="lpstr">
      <vt:lpstr>Algerian</vt:lpstr>
      <vt:lpstr>Aptos Black</vt:lpstr>
      <vt:lpstr>Arial</vt:lpstr>
      <vt:lpstr>Arial Narrow</vt:lpstr>
      <vt:lpstr>Baskerville Old Face</vt:lpstr>
      <vt:lpstr>Comic Sans MS</vt:lpstr>
      <vt:lpstr>Exotc350 DmBd BT</vt:lpstr>
      <vt:lpstr>Tahoma</vt:lpstr>
      <vt:lpstr>Verdana</vt:lpstr>
      <vt:lpstr>Wingdings</vt:lpstr>
      <vt:lpstr>585TGp_Skinscuba_light</vt:lpstr>
      <vt:lpstr>Presentación de PowerPoint</vt:lpstr>
      <vt:lpstr>Presentación de PowerPoint</vt:lpstr>
      <vt:lpstr>CONTENIDO TEMATICO:</vt:lpstr>
      <vt:lpstr>OBJETIVO GENERAL</vt:lpstr>
      <vt:lpstr>Principios Básicos</vt:lpstr>
      <vt:lpstr>CARACTERÍSTICAS QUE DEBEN TENER LOS BRIGADISTAS. </vt:lpstr>
      <vt:lpstr> PRIORIDADES DEL BRIGADISTA  </vt:lpstr>
      <vt:lpstr>Presentación de PowerPoint</vt:lpstr>
      <vt:lpstr>Presentación de PowerPoint</vt:lpstr>
      <vt:lpstr>Presentación de PowerPoint</vt:lpstr>
      <vt:lpstr>LETREROS Y SEÑALAMIENTOS DE PLAYA Y ALBERCAS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Reconocimiento de las Victimas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Salvamento Acuático</vt:lpstr>
      <vt:lpstr>Presentación de PowerPoint</vt:lpstr>
      <vt:lpstr>Presentación de PowerPoint</vt:lpstr>
      <vt:lpstr>METODOS DE SALVAMENTO</vt:lpstr>
      <vt:lpstr>Presentación de PowerPoint</vt:lpstr>
      <vt:lpstr>ENTRADA AL AGUA</vt:lpstr>
      <vt:lpstr>Presentación de PowerPoint</vt:lpstr>
      <vt:lpstr>Presentación de PowerPoint</vt:lpstr>
      <vt:lpstr>Presentación de PowerPoint</vt:lpstr>
      <vt:lpstr>Presentación de PowerPoint</vt:lpstr>
      <vt:lpstr>Técnicas de Salvamento Acuático</vt:lpstr>
      <vt:lpstr>Presentación de PowerPoint</vt:lpstr>
      <vt:lpstr>CONTACTO Y CONTROL:</vt:lpstr>
      <vt:lpstr>Presentación de PowerPoint</vt:lpstr>
      <vt:lpstr>SEÑALAR Y SALVAR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Extracción del Agua</vt:lpstr>
      <vt:lpstr>Evaluación</vt:lpstr>
      <vt:lpstr>Reportar</vt:lpstr>
      <vt:lpstr>MANEJO DE VICTIMA CON POSIBLE LESIÓN EN LA COLUMNA VERTEBRAL </vt:lpstr>
      <vt:lpstr>Presentación de PowerPoint</vt:lpstr>
      <vt:lpstr>Presentación de PowerPoint</vt:lpstr>
    </vt:vector>
  </TitlesOfParts>
  <Company>Personal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Usuario</dc:creator>
  <cp:lastModifiedBy>Miguel Angel Guerrero Lescale</cp:lastModifiedBy>
  <cp:revision>178</cp:revision>
  <dcterms:created xsi:type="dcterms:W3CDTF">2013-05-14T16:56:26Z</dcterms:created>
  <dcterms:modified xsi:type="dcterms:W3CDTF">2026-01-31T01:16:49Z</dcterms:modified>
</cp:coreProperties>
</file>