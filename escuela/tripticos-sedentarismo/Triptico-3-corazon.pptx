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0058400" cy="7772400"/>
  <p:notesSz cx="7772400" cy="1005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352800" cy="7772400"/>
          </a:xfrm>
          <a:prstGeom prst="rect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" y="411480"/>
            <a:ext cx="566928" cy="56692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" y="539496"/>
            <a:ext cx="310896" cy="31089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92608" y="1078992"/>
            <a:ext cx="2767584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dirty="0">
                <a:solidFill>
                  <a:srgbClr val="7A102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TOMA TU PULSO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292608" y="1965960"/>
            <a:ext cx="27675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Actividad de la clase de Educación Física: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92608" y="2532253"/>
            <a:ext cx="310896" cy="310896"/>
          </a:xfrm>
          <a:prstGeom prst="ellipse">
            <a:avLst/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532253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2550541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Pon tus dedos índice y medio en la muñeca, abajo del pulgar.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608" y="3119247"/>
            <a:ext cx="310896" cy="310896"/>
          </a:xfrm>
          <a:prstGeom prst="ellipse">
            <a:avLst/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92608" y="3119247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31520" y="3137535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Cuenta los latidos durante 15 segundos.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" y="3706241"/>
            <a:ext cx="310896" cy="310896"/>
          </a:xfrm>
          <a:prstGeom prst="ellipse">
            <a:avLst/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3706241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31520" y="3724529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Multiplica por 4: ésas son tus pulsaciones por minuto.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92608" y="4293235"/>
            <a:ext cx="310896" cy="310896"/>
          </a:xfrm>
          <a:prstGeom prst="ellipse">
            <a:avLst/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92608" y="4293235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31520" y="4311523"/>
            <a:ext cx="2328672" cy="4041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Mídelo en reposo y después de 1 minuto de saltos. Compara.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292608" y="6319266"/>
            <a:ext cx="2767584" cy="995934"/>
          </a:xfrm>
          <a:prstGeom prst="roundRect">
            <a:avLst>
              <a:gd name="adj" fmla="val 918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29768" y="6410706"/>
            <a:ext cx="2493264" cy="8130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En reposo, lo normal suele estar entre 60 y 100 latidos por minuto. Con el entrenamiento, el corazón late más tranquilo.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4343400" y="640080"/>
            <a:ext cx="1371600" cy="1371600"/>
          </a:xfrm>
          <a:prstGeom prst="ellipse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914400"/>
            <a:ext cx="822960" cy="822960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645408" y="2240280"/>
            <a:ext cx="2767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200" dirty="0">
                <a:solidFill>
                  <a:srgbClr val="7A102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Tu corazón es un músculo: si lo entrenas, se hace fuerte.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3645408" y="3794760"/>
            <a:ext cx="2767584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1000" b="1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Elaboraron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________________________</a:t>
            </a:r>
            <a:endParaRPr lang="en-US" sz="1000" dirty="0"/>
          </a:p>
          <a:p>
            <a:pPr algn="ctr"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Grupo: _______  Fecha: _______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3645408" y="5532120"/>
            <a:ext cx="276758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Fuentes: </a:t>
            </a:r>
            <a:pPr algn="ctr" indent="0" marL="0">
              <a:buNone/>
            </a:pPr>
            <a:r>
              <a:rPr lang="en-US" sz="750" dirty="0">
                <a:solidFill>
                  <a:srgbClr val="6B6B7B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OMS. Directrices sobre actividad física y comportamientos sedentarios (2020). OMS. Nota descriptiva «Actividad física» (26 de junio de 2024).</a:t>
            </a:r>
            <a:endParaRPr lang="en-US" sz="75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6446520"/>
            <a:ext cx="548640" cy="60899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6705600" y="0"/>
            <a:ext cx="3352800" cy="7772400"/>
          </a:xfrm>
          <a:prstGeom prst="rect">
            <a:avLst/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8046720" y="-822960"/>
            <a:ext cx="2834640" cy="2834640"/>
          </a:xfrm>
          <a:prstGeom prst="ellipse">
            <a:avLst/>
          </a:prstGeom>
          <a:solidFill>
            <a:srgbClr val="FF4D6D">
              <a:alpha val="18000"/>
            </a:srgbClr>
          </a:solidFill>
          <a:ln w="12700">
            <a:solidFill>
              <a:srgbClr val="FF4D6D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6998208" y="457200"/>
            <a:ext cx="1874520" cy="310896"/>
          </a:xfrm>
          <a:prstGeom prst="roundRect">
            <a:avLst>
              <a:gd name="adj" fmla="val 50000"/>
            </a:avLst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6998208" y="457200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</a:t>
            </a:r>
            <a:endParaRPr lang="en-US" sz="900" dirty="0"/>
          </a:p>
        </p:txBody>
      </p:sp>
      <p:sp>
        <p:nvSpPr>
          <p:cNvPr id="31" name="Shape 26"/>
          <p:cNvSpPr/>
          <p:nvPr/>
        </p:nvSpPr>
        <p:spPr>
          <a:xfrm>
            <a:off x="7513320" y="1234440"/>
            <a:ext cx="1737360" cy="1737360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9080" y="1600200"/>
            <a:ext cx="1005840" cy="1005840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6998208" y="329184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50" kern="0" dirty="0">
                <a:solidFill>
                  <a:srgbClr val="FF4D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PREVENCIÓN DE ENFERMEDADES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6998208" y="3611880"/>
            <a:ext cx="276758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CORAZÓN EN</a:t>
            </a:r>
            <a:endParaRPr lang="en-US" sz="3600" dirty="0"/>
          </a:p>
          <a:p>
            <a:pPr indent="0" marL="0">
              <a:lnSpc>
                <a:spcPct val="95000"/>
              </a:lnSpc>
              <a:buNone/>
            </a:pPr>
            <a:r>
              <a:rPr lang="en-US" sz="3600" dirty="0">
                <a:solidFill>
                  <a:srgbClr val="FFFFFF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MOVIMIENTO</a:t>
            </a:r>
            <a:endParaRPr lang="en-US" sz="3600" dirty="0"/>
          </a:p>
        </p:txBody>
      </p:sp>
      <p:sp>
        <p:nvSpPr>
          <p:cNvPr id="35" name="Text 29"/>
          <p:cNvSpPr/>
          <p:nvPr/>
        </p:nvSpPr>
        <p:spPr>
          <a:xfrm>
            <a:off x="6998208" y="5440680"/>
            <a:ext cx="27675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Hipertensión y enfermedades del corazón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998208" y="6446520"/>
            <a:ext cx="713232" cy="7132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4512" y="6510528"/>
            <a:ext cx="420624" cy="466893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839456" y="6492240"/>
            <a:ext cx="1926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Bachillerato Rembrandt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Grupo 3.1 · Tercer semestre</a:t>
            </a:r>
            <a:endParaRPr lang="en-US" sz="900" dirty="0"/>
          </a:p>
        </p:txBody>
      </p:sp>
      <p:sp>
        <p:nvSpPr>
          <p:cNvPr id="39" name="Shape 32"/>
          <p:cNvSpPr/>
          <p:nvPr/>
        </p:nvSpPr>
        <p:spPr>
          <a:xfrm>
            <a:off x="33528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  <p:sp>
        <p:nvSpPr>
          <p:cNvPr id="40" name="Shape 33"/>
          <p:cNvSpPr/>
          <p:nvPr/>
        </p:nvSpPr>
        <p:spPr>
          <a:xfrm>
            <a:off x="6705600" y="137160"/>
            <a:ext cx="0" cy="228600"/>
          </a:xfrm>
          <a:prstGeom prst="line">
            <a:avLst/>
          </a:prstGeom>
          <a:noFill/>
          <a:ln w="6350">
            <a:solidFill>
              <a:srgbClr val="BBBBBB"/>
            </a:solidFill>
            <a:prstDash val="dash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926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4D6D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01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2926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7A102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UN MÚSCULO QUE TRABAJA SIN PARAR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292608" y="1936496"/>
            <a:ext cx="2767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corazón bombea sangre a todo el cuerpo por las arterias. Cuando no te mueves, se debilita y las arterias pierden flexibilidad.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292608" y="3274314"/>
            <a:ext cx="2767584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Hipertensión: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Presión alta de la sangre en las arterias. Casi nunca da síntomas, por eso le dicen «el asesino silencioso».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92608" y="4612132"/>
            <a:ext cx="276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4D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RIESGOS QUE SÍ PUEDES CAMBIAR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92608" y="5291582"/>
            <a:ext cx="1243584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" y="5291582"/>
            <a:ext cx="12435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Sedentarismo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92608" y="5693918"/>
            <a:ext cx="1476756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" y="5693918"/>
            <a:ext cx="14767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Comida chatarra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2608" y="6096254"/>
            <a:ext cx="1321308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" y="6096254"/>
            <a:ext cx="13213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Exceso de sal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2608" y="6498590"/>
            <a:ext cx="1399032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2608" y="6498590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Tabaco y vapeo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764792" y="6498590"/>
            <a:ext cx="1010412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64792" y="6498590"/>
            <a:ext cx="10104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Sobrepeso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352800" y="0"/>
            <a:ext cx="3352800" cy="7772400"/>
          </a:xfrm>
          <a:prstGeom prst="rect">
            <a:avLst/>
          </a:prstGeom>
          <a:solidFill>
            <a:srgbClr val="FFF1F3"/>
          </a:solidFill>
          <a:ln w="12700">
            <a:solidFill>
              <a:srgbClr val="FFF1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454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4D6D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6454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7A102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RIESGOS DEL SEDENTARISMO</a:t>
            </a:r>
            <a:endParaRPr lang="en-US" sz="2500" dirty="0"/>
          </a:p>
        </p:txBody>
      </p:sp>
      <p:sp>
        <p:nvSpPr>
          <p:cNvPr id="20" name="Shape 18"/>
          <p:cNvSpPr/>
          <p:nvPr/>
        </p:nvSpPr>
        <p:spPr>
          <a:xfrm>
            <a:off x="3645408" y="1936496"/>
            <a:ext cx="475488" cy="47548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5136" y="2046224"/>
            <a:ext cx="256032" cy="256032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4248912" y="1936496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Presión alta: </a:t>
            </a:r>
            <a:pPr indent="0" marL="0">
              <a:buNone/>
            </a:pPr>
            <a:r>
              <a:rPr lang="en-US" sz="115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corazón hace más esfuerzo.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3645408" y="2558288"/>
            <a:ext cx="475488" cy="47548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5136" y="2668016"/>
            <a:ext cx="256032" cy="25603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4248912" y="2558288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Colesterol y grasas: </a:t>
            </a:r>
            <a:pPr indent="0" marL="0">
              <a:buNone/>
            </a:pPr>
            <a:r>
              <a:rPr lang="en-US" sz="115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 acumulan en las arterias.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3645408" y="3180080"/>
            <a:ext cx="475488" cy="475488"/>
          </a:xfrm>
          <a:prstGeom prst="ellipse">
            <a:avLst/>
          </a:prstGeom>
          <a:solidFill>
            <a:srgbClr val="FF4D6D"/>
          </a:solidFill>
          <a:ln w="12700">
            <a:solidFill>
              <a:srgbClr val="FF4D6D"/>
            </a:solidFill>
            <a:prstDash val="solid"/>
          </a:ln>
        </p:spPr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5136" y="3289808"/>
            <a:ext cx="256032" cy="25603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248912" y="3180080"/>
            <a:ext cx="2164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Infarto y embolia: </a:t>
            </a:r>
            <a:pPr indent="0" marL="0">
              <a:buNone/>
            </a:pPr>
            <a:r>
              <a:rPr lang="en-US" sz="115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cuando una arteria se tapa.</a:t>
            </a:r>
            <a:endParaRPr lang="en-US" sz="1150" dirty="0"/>
          </a:p>
        </p:txBody>
      </p:sp>
      <p:sp>
        <p:nvSpPr>
          <p:cNvPr id="29" name="Text 24"/>
          <p:cNvSpPr/>
          <p:nvPr/>
        </p:nvSpPr>
        <p:spPr>
          <a:xfrm>
            <a:off x="3645408" y="4295648"/>
            <a:ext cx="276758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 ejercicio regular, el corazón bombea más sangre en cada latido y trabaja con menos esfuerzo.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3645408" y="5575808"/>
            <a:ext cx="2767584" cy="975360"/>
          </a:xfrm>
          <a:prstGeom prst="roundRect">
            <a:avLst>
              <a:gd name="adj" fmla="val 9375"/>
            </a:avLst>
          </a:prstGeom>
          <a:solidFill>
            <a:srgbClr val="FFFFFF"/>
          </a:solidFill>
          <a:ln w="15875">
            <a:solidFill>
              <a:srgbClr val="FF4D6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5136" y="5694680"/>
            <a:ext cx="256032" cy="256032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084320" y="5685536"/>
            <a:ext cx="2237232" cy="7741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OMS señala que la actividad física ayuda a prevenir las enfermedades del corazón y la hipertensión.</a:t>
            </a:r>
            <a:endParaRPr lang="en-US" sz="1050" dirty="0"/>
          </a:p>
        </p:txBody>
      </p:sp>
      <p:sp>
        <p:nvSpPr>
          <p:cNvPr id="33" name="Text 27"/>
          <p:cNvSpPr/>
          <p:nvPr/>
        </p:nvSpPr>
        <p:spPr>
          <a:xfrm>
            <a:off x="6998208" y="3200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FF4D6D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03</a:t>
            </a:r>
            <a:endParaRPr lang="en-US" sz="4000" dirty="0"/>
          </a:p>
        </p:txBody>
      </p:sp>
      <p:sp>
        <p:nvSpPr>
          <p:cNvPr id="34" name="Text 28"/>
          <p:cNvSpPr/>
          <p:nvPr/>
        </p:nvSpPr>
        <p:spPr>
          <a:xfrm>
            <a:off x="6998208" y="987552"/>
            <a:ext cx="27675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500" dirty="0">
                <a:solidFill>
                  <a:srgbClr val="7A1023"/>
                </a:solidFill>
                <a:latin typeface="Anton" pitchFamily="34" charset="0"/>
                <a:ea typeface="Anton" pitchFamily="34" charset="-122"/>
                <a:cs typeface="Anton" pitchFamily="34" charset="-120"/>
              </a:rPr>
              <a:t>ENTRENA TU CORAZÓN</a:t>
            </a:r>
            <a:endParaRPr lang="en-US" sz="2500" dirty="0"/>
          </a:p>
        </p:txBody>
      </p:sp>
      <p:sp>
        <p:nvSpPr>
          <p:cNvPr id="35" name="Text 29"/>
          <p:cNvSpPr/>
          <p:nvPr/>
        </p:nvSpPr>
        <p:spPr>
          <a:xfrm>
            <a:off x="6998208" y="1936496"/>
            <a:ext cx="276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El ejercicio aeróbico es el que acelera tu respiración un buen rato: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998208" y="2781808"/>
            <a:ext cx="1399032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998208" y="2781808"/>
            <a:ext cx="13990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Caminar rápido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8470392" y="2781808"/>
            <a:ext cx="777240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470392" y="2781808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Trotar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6998208" y="3184144"/>
            <a:ext cx="621792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6998208" y="3184144"/>
            <a:ext cx="621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Bici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7693152" y="3184144"/>
            <a:ext cx="699516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7693152" y="3184144"/>
            <a:ext cx="6995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Nadar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8465820" y="3184144"/>
            <a:ext cx="777240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8465820" y="3184144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Bailar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6998208" y="3586480"/>
            <a:ext cx="777240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6998208" y="3586480"/>
            <a:ext cx="777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Futbol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7848600" y="3586480"/>
            <a:ext cx="854964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7848600" y="3586480"/>
            <a:ext cx="8549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Básquet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6998208" y="3988816"/>
            <a:ext cx="1554480" cy="320040"/>
          </a:xfrm>
          <a:prstGeom prst="roundRect">
            <a:avLst>
              <a:gd name="adj" fmla="val 48571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6998208" y="398881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Saltar la cuerda</a:t>
            </a:r>
            <a:endParaRPr lang="en-US" sz="1000" dirty="0"/>
          </a:p>
        </p:txBody>
      </p:sp>
      <p:sp>
        <p:nvSpPr>
          <p:cNvPr id="52" name="Text 46"/>
          <p:cNvSpPr/>
          <p:nvPr/>
        </p:nvSpPr>
        <p:spPr>
          <a:xfrm>
            <a:off x="6998208" y="4760976"/>
            <a:ext cx="27675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00" kern="0" dirty="0">
                <a:solidFill>
                  <a:srgbClr val="FF4D6D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 PRUEBA DEL HABLA</a:t>
            </a:r>
            <a:endParaRPr lang="en-US" sz="1150" dirty="0"/>
          </a:p>
        </p:txBody>
      </p:sp>
      <p:sp>
        <p:nvSpPr>
          <p:cNvPr id="53" name="Text 47"/>
          <p:cNvSpPr/>
          <p:nvPr/>
        </p:nvSpPr>
        <p:spPr>
          <a:xfrm>
            <a:off x="6998208" y="5350256"/>
            <a:ext cx="276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Moderada: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puedes hablar, pero no cantar.</a:t>
            </a:r>
            <a:endParaRPr lang="en-US" sz="1200" dirty="0"/>
          </a:p>
        </p:txBody>
      </p:sp>
      <p:sp>
        <p:nvSpPr>
          <p:cNvPr id="54" name="Text 48"/>
          <p:cNvSpPr/>
          <p:nvPr/>
        </p:nvSpPr>
        <p:spPr>
          <a:xfrm>
            <a:off x="6998208" y="6195568"/>
            <a:ext cx="2767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7A102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Vigorosa: </a:t>
            </a:r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3A0812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sólo puedes decir unas palabras sin tomar aire.</a:t>
            </a:r>
            <a:endParaRPr lang="en-US" sz="1200" dirty="0"/>
          </a:p>
        </p:txBody>
      </p:sp>
      <p:sp>
        <p:nvSpPr>
          <p:cNvPr id="55" name="Shape 49"/>
          <p:cNvSpPr/>
          <p:nvPr/>
        </p:nvSpPr>
        <p:spPr>
          <a:xfrm>
            <a:off x="6998208" y="7269480"/>
            <a:ext cx="2767584" cy="274320"/>
          </a:xfrm>
          <a:prstGeom prst="roundRect">
            <a:avLst>
              <a:gd name="adj" fmla="val 50000"/>
            </a:avLst>
          </a:prstGeom>
          <a:solidFill>
            <a:srgbClr val="7A1023"/>
          </a:solidFill>
          <a:ln w="12700">
            <a:solidFill>
              <a:srgbClr val="7A1023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6998208" y="7269480"/>
            <a:ext cx="2767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Educación Física III · Bachillerato Rembrandt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Tríptico · Corazón en movimiento</dc:title>
  <dc:subject>PptxGenJS Presentation</dc:subject>
  <dc:creator>PptxGenJS</dc:creator>
  <cp:lastModifiedBy>PptxGenJS</cp:lastModifiedBy>
  <cp:revision>1</cp:revision>
  <dcterms:created xsi:type="dcterms:W3CDTF">2026-10-21T17:49:15Z</dcterms:created>
  <dcterms:modified xsi:type="dcterms:W3CDTF">2026-10-21T17:49:15Z</dcterms:modified>
</cp:coreProperties>
</file>