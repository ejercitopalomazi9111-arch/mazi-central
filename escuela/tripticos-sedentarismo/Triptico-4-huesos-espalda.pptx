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0058400" cy="7772400"/>
  <p:notesSz cx="7772400" cy="1005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52800" cy="7772400"/>
          </a:xfrm>
          <a:prstGeom prst="rect">
            <a:avLst/>
          </a:prstGeom>
          <a:solidFill>
            <a:srgbClr val="F1F8EC"/>
          </a:solidFill>
          <a:ln w="12700">
            <a:solidFill>
              <a:srgbClr val="F1F8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411480"/>
            <a:ext cx="566928" cy="566928"/>
          </a:xfrm>
          <a:prstGeom prst="ellipse">
            <a:avLst/>
          </a:prstGeom>
          <a:solidFill>
            <a:srgbClr val="8BD450"/>
          </a:solidFill>
          <a:ln w="12700">
            <a:solidFill>
              <a:srgbClr val="8BD45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539496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92608" y="1078992"/>
            <a:ext cx="2767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F4D2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PAUSA ACTIVA DE 5 MINUTOS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292608" y="1965960"/>
            <a:ext cx="2767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330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Hazla cada vez que lleves mucho rato sentado: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92608" y="2532253"/>
            <a:ext cx="310896" cy="310896"/>
          </a:xfrm>
          <a:prstGeom prst="ellipse">
            <a:avLst/>
          </a:prstGeom>
          <a:solidFill>
            <a:srgbClr val="1F4D2E"/>
          </a:solidFill>
          <a:ln w="12700">
            <a:solidFill>
              <a:srgbClr val="1F4D2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253225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" y="2550541"/>
            <a:ext cx="2328672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30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Gira los hombros hacia atrás 10 veces.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92608" y="3119247"/>
            <a:ext cx="310896" cy="310896"/>
          </a:xfrm>
          <a:prstGeom prst="ellipse">
            <a:avLst/>
          </a:prstGeom>
          <a:solidFill>
            <a:srgbClr val="1F4D2E"/>
          </a:solidFill>
          <a:ln w="12700">
            <a:solidFill>
              <a:srgbClr val="1F4D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2608" y="311924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1520" y="3137535"/>
            <a:ext cx="2328672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30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Inclina la cabeza a cada lado, 10 segundos.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92608" y="3706241"/>
            <a:ext cx="310896" cy="310896"/>
          </a:xfrm>
          <a:prstGeom prst="ellipse">
            <a:avLst/>
          </a:prstGeom>
          <a:solidFill>
            <a:srgbClr val="1F4D2E"/>
          </a:solidFill>
          <a:ln w="12700">
            <a:solidFill>
              <a:srgbClr val="1F4D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2608" y="370624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31520" y="3724529"/>
            <a:ext cx="2328672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30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Estira los brazos arriba y crece lo más que puedas.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92608" y="4293235"/>
            <a:ext cx="310896" cy="310896"/>
          </a:xfrm>
          <a:prstGeom prst="ellipse">
            <a:avLst/>
          </a:prstGeom>
          <a:solidFill>
            <a:srgbClr val="1F4D2E"/>
          </a:solidFill>
          <a:ln w="12700">
            <a:solidFill>
              <a:srgbClr val="1F4D2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2608" y="429323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31520" y="4311523"/>
            <a:ext cx="2328672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30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Toca tus pies con las rodillas suaves, 15 segundos.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92608" y="4880229"/>
            <a:ext cx="310896" cy="310896"/>
          </a:xfrm>
          <a:prstGeom prst="ellipse">
            <a:avLst/>
          </a:prstGeom>
          <a:solidFill>
            <a:srgbClr val="1F4D2E"/>
          </a:solidFill>
          <a:ln w="12700">
            <a:solidFill>
              <a:srgbClr val="1F4D2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92608" y="488022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31520" y="4898517"/>
            <a:ext cx="2328672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30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Haz 10 sentadillas y 20 saltos en tu lugar.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92608" y="6652641"/>
            <a:ext cx="2767584" cy="662559"/>
          </a:xfrm>
          <a:prstGeom prst="roundRect">
            <a:avLst>
              <a:gd name="adj" fmla="val 13801"/>
            </a:avLst>
          </a:prstGeom>
          <a:solidFill>
            <a:srgbClr val="1F4D2E"/>
          </a:solidFill>
          <a:ln w="12700">
            <a:solidFill>
              <a:srgbClr val="1F4D2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9768" y="6744081"/>
            <a:ext cx="2493264" cy="479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Sin rebotes ni dolor. Si algo duele, detente.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343400" y="640080"/>
            <a:ext cx="1371600" cy="1371600"/>
          </a:xfrm>
          <a:prstGeom prst="ellipse">
            <a:avLst/>
          </a:prstGeom>
          <a:solidFill>
            <a:srgbClr val="F1F8EC"/>
          </a:solidFill>
          <a:ln w="12700">
            <a:solidFill>
              <a:srgbClr val="F1F8EC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914400"/>
            <a:ext cx="822960" cy="82296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645408" y="2240280"/>
            <a:ext cx="2767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4D2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Lo que entrenes hoy lo cargan tus huesos toda la vida.</a:t>
            </a:r>
            <a:endParaRPr lang="en-US" sz="2200" dirty="0"/>
          </a:p>
        </p:txBody>
      </p:sp>
      <p:sp>
        <p:nvSpPr>
          <p:cNvPr id="27" name="Text 23"/>
          <p:cNvSpPr/>
          <p:nvPr/>
        </p:nvSpPr>
        <p:spPr>
          <a:xfrm>
            <a:off x="3645408" y="3794760"/>
            <a:ext cx="27675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1F4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Elaboraron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330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________________________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330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________________________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330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________________________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330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Grupo: _______  Fecha: _______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3645408" y="5532120"/>
            <a:ext cx="2767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6B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Fuentes: </a:t>
            </a:r>
            <a:pPr algn="ctr" indent="0" marL="0">
              <a:buNone/>
            </a:pPr>
            <a:r>
              <a:rPr lang="en-US" sz="750" dirty="0">
                <a:solidFill>
                  <a:srgbClr val="6B6B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OMS. Directrices sobre actividad física y comportamientos sedentarios (2020). OMS. Nota descriptiva «Actividad física» (26 de junio de 2024).</a:t>
            </a:r>
            <a:endParaRPr lang="en-US" sz="75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6446520"/>
            <a:ext cx="548640" cy="608990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6705600" y="0"/>
            <a:ext cx="3352800" cy="7772400"/>
          </a:xfrm>
          <a:prstGeom prst="rect">
            <a:avLst/>
          </a:prstGeom>
          <a:solidFill>
            <a:srgbClr val="1F4D2E"/>
          </a:solidFill>
          <a:ln w="12700">
            <a:solidFill>
              <a:srgbClr val="1F4D2E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8046720" y="-822960"/>
            <a:ext cx="2834640" cy="2834640"/>
          </a:xfrm>
          <a:prstGeom prst="ellipse">
            <a:avLst/>
          </a:prstGeom>
          <a:solidFill>
            <a:srgbClr val="8BD450">
              <a:alpha val="18000"/>
            </a:srgbClr>
          </a:solidFill>
          <a:ln w="12700">
            <a:solidFill>
              <a:srgbClr val="8BD450">
                <a:alpha val="0"/>
              </a:srgbClr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998208" y="457200"/>
            <a:ext cx="1874520" cy="310896"/>
          </a:xfrm>
          <a:prstGeom prst="roundRect">
            <a:avLst>
              <a:gd name="adj" fmla="val 50000"/>
            </a:avLst>
          </a:prstGeom>
          <a:solidFill>
            <a:srgbClr val="8BD450"/>
          </a:solidFill>
          <a:ln w="12700">
            <a:solidFill>
              <a:srgbClr val="8BD450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998208" y="45720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F4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EDUCACIÓN FÍSICA III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7513320" y="1234440"/>
            <a:ext cx="1737360" cy="1737360"/>
          </a:xfrm>
          <a:prstGeom prst="ellipse">
            <a:avLst/>
          </a:prstGeom>
          <a:solidFill>
            <a:srgbClr val="8BD450"/>
          </a:solidFill>
          <a:ln w="12700">
            <a:solidFill>
              <a:srgbClr val="8BD450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9080" y="1600200"/>
            <a:ext cx="1005840" cy="100584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998208" y="3291840"/>
            <a:ext cx="2767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BD4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PREVENCIÓN DE ENFERMEDADES</a:t>
            </a:r>
            <a:endParaRPr lang="en-US" sz="950" dirty="0"/>
          </a:p>
        </p:txBody>
      </p:sp>
      <p:sp>
        <p:nvSpPr>
          <p:cNvPr id="37" name="Text 31"/>
          <p:cNvSpPr/>
          <p:nvPr/>
        </p:nvSpPr>
        <p:spPr>
          <a:xfrm>
            <a:off x="6998208" y="3611880"/>
            <a:ext cx="27675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HUESOS FUERTES,</a:t>
            </a:r>
            <a:endParaRPr lang="en-US" sz="3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ESPALDA SANA</a:t>
            </a:r>
            <a:endParaRPr lang="en-US" sz="3600" dirty="0"/>
          </a:p>
        </p:txBody>
      </p:sp>
      <p:sp>
        <p:nvSpPr>
          <p:cNvPr id="38" name="Text 32"/>
          <p:cNvSpPr/>
          <p:nvPr/>
        </p:nvSpPr>
        <p:spPr>
          <a:xfrm>
            <a:off x="6998208" y="5440680"/>
            <a:ext cx="2767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Osteoporosis, postura y dolor de espalda</a:t>
            </a:r>
            <a:endParaRPr lang="en-US" sz="1200" dirty="0"/>
          </a:p>
        </p:txBody>
      </p:sp>
      <p:sp>
        <p:nvSpPr>
          <p:cNvPr id="39" name="Shape 33"/>
          <p:cNvSpPr/>
          <p:nvPr/>
        </p:nvSpPr>
        <p:spPr>
          <a:xfrm>
            <a:off x="6998208" y="6446520"/>
            <a:ext cx="713232" cy="7132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4512" y="6510528"/>
            <a:ext cx="420624" cy="466893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7839456" y="6492240"/>
            <a:ext cx="1926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Bachillerato Rembrandt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Grupo 3.1 · Tercer semestre</a:t>
            </a:r>
            <a:endParaRPr lang="en-US" sz="900" dirty="0"/>
          </a:p>
        </p:txBody>
      </p:sp>
      <p:sp>
        <p:nvSpPr>
          <p:cNvPr id="42" name="Shape 35"/>
          <p:cNvSpPr/>
          <p:nvPr/>
        </p:nvSpPr>
        <p:spPr>
          <a:xfrm>
            <a:off x="3352800" y="137160"/>
            <a:ext cx="0" cy="228600"/>
          </a:xfrm>
          <a:prstGeom prst="line">
            <a:avLst/>
          </a:prstGeom>
          <a:noFill/>
          <a:ln w="6350">
            <a:solidFill>
              <a:srgbClr val="BBBBBB"/>
            </a:solidFill>
            <a:prstDash val="dash"/>
          </a:ln>
        </p:spPr>
      </p:sp>
      <p:sp>
        <p:nvSpPr>
          <p:cNvPr id="43" name="Shape 36"/>
          <p:cNvSpPr/>
          <p:nvPr/>
        </p:nvSpPr>
        <p:spPr>
          <a:xfrm>
            <a:off x="6705600" y="137160"/>
            <a:ext cx="0" cy="228600"/>
          </a:xfrm>
          <a:prstGeom prst="line">
            <a:avLst/>
          </a:prstGeom>
          <a:noFill/>
          <a:ln w="6350">
            <a:solidFill>
              <a:srgbClr val="BBBBBB"/>
            </a:solidFill>
            <a:prstDash val="dash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8BD45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01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292608" y="987552"/>
            <a:ext cx="2767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F4D2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TU EDAD ES CLAVE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92608" y="1580896"/>
            <a:ext cx="276758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330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 la adolescencia tus huesos ganan más masa que en cualquier otra etapa. Lo que construyas ahora es tu «ahorro» para cuando seas adulto.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92608" y="3121914"/>
            <a:ext cx="27675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F4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Osteoporosis: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330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Huesos débiles y porosos que se rompen con facilidad. Se previene desde joven con movimiento y buena alimentación.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2608" y="4461764"/>
            <a:ext cx="2767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F4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 QUE NECESITAN TUS HUESOS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92608" y="5143246"/>
            <a:ext cx="475488" cy="475488"/>
          </a:xfrm>
          <a:prstGeom prst="ellipse">
            <a:avLst/>
          </a:prstGeom>
          <a:solidFill>
            <a:srgbClr val="8BD450"/>
          </a:solidFill>
          <a:ln w="12700">
            <a:solidFill>
              <a:srgbClr val="8BD45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525297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6112" y="5143246"/>
            <a:ext cx="216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Calcio: </a:t>
            </a:r>
            <a:pPr indent="0" marL="0">
              <a:buNone/>
            </a:pPr>
            <a:r>
              <a:rPr lang="en-US" sz="1150" dirty="0">
                <a:solidFill>
                  <a:srgbClr val="1330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leche, yogur, queso y tortilla de maíz.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92608" y="5765038"/>
            <a:ext cx="475488" cy="475488"/>
          </a:xfrm>
          <a:prstGeom prst="ellipse">
            <a:avLst/>
          </a:prstGeom>
          <a:solidFill>
            <a:srgbClr val="8BD450"/>
          </a:solidFill>
          <a:ln w="12700">
            <a:solidFill>
              <a:srgbClr val="8BD45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587476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96112" y="5765038"/>
            <a:ext cx="216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Vitamina D: </a:t>
            </a:r>
            <a:pPr indent="0" marL="0">
              <a:buNone/>
            </a:pPr>
            <a:r>
              <a:rPr lang="en-US" sz="1150" dirty="0">
                <a:solidFill>
                  <a:srgbClr val="1330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poco de sol todos los días.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292608" y="6386830"/>
            <a:ext cx="475488" cy="475488"/>
          </a:xfrm>
          <a:prstGeom prst="ellipse">
            <a:avLst/>
          </a:prstGeom>
          <a:solidFill>
            <a:srgbClr val="8BD450"/>
          </a:solidFill>
          <a:ln w="12700">
            <a:solidFill>
              <a:srgbClr val="8BD45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6496558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96112" y="6386830"/>
            <a:ext cx="216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Movimiento con impacto: </a:t>
            </a:r>
            <a:pPr indent="0" marL="0">
              <a:buNone/>
            </a:pPr>
            <a:r>
              <a:rPr lang="en-US" sz="1150" dirty="0">
                <a:solidFill>
                  <a:srgbClr val="1330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saltar, correr, jugar.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3352800" y="0"/>
            <a:ext cx="3352800" cy="7772400"/>
          </a:xfrm>
          <a:prstGeom prst="rect">
            <a:avLst/>
          </a:prstGeom>
          <a:solidFill>
            <a:srgbClr val="F1F8EC"/>
          </a:solidFill>
          <a:ln w="12700">
            <a:solidFill>
              <a:srgbClr val="F1F8EC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3645408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8BD45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02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3645408" y="987552"/>
            <a:ext cx="2767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F4D2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LO QUE HACE ESTAR SENTADO</a:t>
            </a:r>
            <a:endParaRPr lang="en-US" sz="2500" dirty="0"/>
          </a:p>
        </p:txBody>
      </p:sp>
      <p:sp>
        <p:nvSpPr>
          <p:cNvPr id="19" name="Shape 14"/>
          <p:cNvSpPr/>
          <p:nvPr/>
        </p:nvSpPr>
        <p:spPr>
          <a:xfrm>
            <a:off x="3645408" y="1936496"/>
            <a:ext cx="475488" cy="475488"/>
          </a:xfrm>
          <a:prstGeom prst="ellipse">
            <a:avLst/>
          </a:prstGeom>
          <a:solidFill>
            <a:srgbClr val="8BD450"/>
          </a:solidFill>
          <a:ln w="12700">
            <a:solidFill>
              <a:srgbClr val="8BD45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5136" y="2046224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248912" y="1963928"/>
            <a:ext cx="216408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4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Cuello «de celular»: </a:t>
            </a:r>
            <a:pPr indent="0" marL="0">
              <a:buNone/>
            </a:pPr>
            <a:r>
              <a:rPr lang="en-US" sz="1150" dirty="0">
                <a:solidFill>
                  <a:srgbClr val="1330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 mirar la pantalla hacia abajo.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3645408" y="2698496"/>
            <a:ext cx="475488" cy="475488"/>
          </a:xfrm>
          <a:prstGeom prst="ellipse">
            <a:avLst/>
          </a:prstGeom>
          <a:solidFill>
            <a:srgbClr val="8BD450"/>
          </a:solidFill>
          <a:ln w="12700">
            <a:solidFill>
              <a:srgbClr val="8BD450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5136" y="2808224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248912" y="2698496"/>
            <a:ext cx="216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Espalda encorvada: </a:t>
            </a:r>
            <a:pPr indent="0" marL="0">
              <a:buNone/>
            </a:pPr>
            <a:r>
              <a:rPr lang="en-US" sz="1150" dirty="0">
                <a:solidFill>
                  <a:srgbClr val="1330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 dolor en la zona lumbar.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3645408" y="3320288"/>
            <a:ext cx="475488" cy="475488"/>
          </a:xfrm>
          <a:prstGeom prst="ellipse">
            <a:avLst/>
          </a:prstGeom>
          <a:solidFill>
            <a:srgbClr val="8BD450"/>
          </a:solidFill>
          <a:ln w="12700">
            <a:solidFill>
              <a:srgbClr val="8BD450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5136" y="3430016"/>
            <a:ext cx="256032" cy="25603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248912" y="3320288"/>
            <a:ext cx="216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Músculos débiles: </a:t>
            </a:r>
            <a:pPr indent="0" marL="0">
              <a:buNone/>
            </a:pPr>
            <a:r>
              <a:rPr lang="en-US" sz="1150" dirty="0">
                <a:solidFill>
                  <a:srgbClr val="1330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 abdomen, espalda y piernas.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3645408" y="3942080"/>
            <a:ext cx="475488" cy="475488"/>
          </a:xfrm>
          <a:prstGeom prst="ellipse">
            <a:avLst/>
          </a:prstGeom>
          <a:solidFill>
            <a:srgbClr val="8BD450"/>
          </a:solidFill>
          <a:ln w="12700">
            <a:solidFill>
              <a:srgbClr val="8BD450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55136" y="4051808"/>
            <a:ext cx="256032" cy="25603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248912" y="3942080"/>
            <a:ext cx="216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Huesos con menos fuerza: </a:t>
            </a:r>
            <a:pPr indent="0" marL="0">
              <a:buNone/>
            </a:pPr>
            <a:r>
              <a:rPr lang="en-US" sz="1150" dirty="0">
                <a:solidFill>
                  <a:srgbClr val="1330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 falta de impacto.</a:t>
            </a:r>
            <a:endParaRPr lang="en-US" sz="1150" dirty="0"/>
          </a:p>
        </p:txBody>
      </p:sp>
      <p:sp>
        <p:nvSpPr>
          <p:cNvPr id="31" name="Shape 22"/>
          <p:cNvSpPr/>
          <p:nvPr/>
        </p:nvSpPr>
        <p:spPr>
          <a:xfrm>
            <a:off x="3645408" y="5057648"/>
            <a:ext cx="2767584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5875">
            <a:solidFill>
              <a:srgbClr val="8BD450"/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5136" y="5176520"/>
            <a:ext cx="256032" cy="256032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084320" y="5167376"/>
            <a:ext cx="2237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330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Pasar muchas horas encorvado puede causar dolor de cuello, de espalda y hasta de cabeza.</a:t>
            </a:r>
            <a:endParaRPr lang="en-US" sz="1050" dirty="0"/>
          </a:p>
        </p:txBody>
      </p:sp>
      <p:sp>
        <p:nvSpPr>
          <p:cNvPr id="34" name="Text 24"/>
          <p:cNvSpPr/>
          <p:nvPr/>
        </p:nvSpPr>
        <p:spPr>
          <a:xfrm>
            <a:off x="6998208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8BD45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03</a:t>
            </a:r>
            <a:endParaRPr lang="en-US" sz="4000" dirty="0"/>
          </a:p>
        </p:txBody>
      </p:sp>
      <p:sp>
        <p:nvSpPr>
          <p:cNvPr id="35" name="Text 25"/>
          <p:cNvSpPr/>
          <p:nvPr/>
        </p:nvSpPr>
        <p:spPr>
          <a:xfrm>
            <a:off x="6998208" y="987552"/>
            <a:ext cx="2767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F4D2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CÓMO FORTALECERTE</a:t>
            </a:r>
            <a:endParaRPr lang="en-US" sz="2500" dirty="0"/>
          </a:p>
        </p:txBody>
      </p:sp>
      <p:sp>
        <p:nvSpPr>
          <p:cNvPr id="36" name="Text 26"/>
          <p:cNvSpPr/>
          <p:nvPr/>
        </p:nvSpPr>
        <p:spPr>
          <a:xfrm>
            <a:off x="6998208" y="1936496"/>
            <a:ext cx="2767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330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 ejercicios de impacto y de fuerza le dicen al hueso que se haga más fuerte:</a:t>
            </a:r>
            <a:endParaRPr lang="en-US" sz="1200" dirty="0"/>
          </a:p>
        </p:txBody>
      </p:sp>
      <p:sp>
        <p:nvSpPr>
          <p:cNvPr id="37" name="Shape 27"/>
          <p:cNvSpPr/>
          <p:nvPr/>
        </p:nvSpPr>
        <p:spPr>
          <a:xfrm>
            <a:off x="6998208" y="2823972"/>
            <a:ext cx="1554480" cy="320040"/>
          </a:xfrm>
          <a:prstGeom prst="roundRect">
            <a:avLst>
              <a:gd name="adj" fmla="val 48571"/>
            </a:avLst>
          </a:prstGeom>
          <a:solidFill>
            <a:srgbClr val="1F4D2E"/>
          </a:solidFill>
          <a:ln w="12700">
            <a:solidFill>
              <a:srgbClr val="1F4D2E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6998208" y="282397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Saltar la cuerda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8625840" y="2823972"/>
            <a:ext cx="777240" cy="320040"/>
          </a:xfrm>
          <a:prstGeom prst="roundRect">
            <a:avLst>
              <a:gd name="adj" fmla="val 48571"/>
            </a:avLst>
          </a:prstGeom>
          <a:solidFill>
            <a:srgbClr val="1F4D2E"/>
          </a:solidFill>
          <a:ln w="12700">
            <a:solidFill>
              <a:srgbClr val="1F4D2E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8625840" y="282397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Correr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6998208" y="3226308"/>
            <a:ext cx="854964" cy="320040"/>
          </a:xfrm>
          <a:prstGeom prst="roundRect">
            <a:avLst>
              <a:gd name="adj" fmla="val 48571"/>
            </a:avLst>
          </a:prstGeom>
          <a:solidFill>
            <a:srgbClr val="1F4D2E"/>
          </a:solidFill>
          <a:ln w="12700">
            <a:solidFill>
              <a:srgbClr val="1F4D2E"/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6998208" y="3226308"/>
            <a:ext cx="8549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Básquet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7926324" y="3226308"/>
            <a:ext cx="932688" cy="320040"/>
          </a:xfrm>
          <a:prstGeom prst="roundRect">
            <a:avLst>
              <a:gd name="adj" fmla="val 48571"/>
            </a:avLst>
          </a:prstGeom>
          <a:solidFill>
            <a:srgbClr val="1F4D2E"/>
          </a:solidFill>
          <a:ln w="12700">
            <a:solidFill>
              <a:srgbClr val="1F4D2E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7926324" y="3226308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Voleibol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6998208" y="3628644"/>
            <a:ext cx="1165860" cy="320040"/>
          </a:xfrm>
          <a:prstGeom prst="roundRect">
            <a:avLst>
              <a:gd name="adj" fmla="val 48571"/>
            </a:avLst>
          </a:prstGeom>
          <a:solidFill>
            <a:srgbClr val="1F4D2E"/>
          </a:solidFill>
          <a:ln w="12700">
            <a:solidFill>
              <a:srgbClr val="1F4D2E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6998208" y="3628644"/>
            <a:ext cx="11658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Sentadillas</a:t>
            </a:r>
            <a:endParaRPr lang="en-US" sz="1000" dirty="0"/>
          </a:p>
        </p:txBody>
      </p:sp>
      <p:sp>
        <p:nvSpPr>
          <p:cNvPr id="47" name="Shape 37"/>
          <p:cNvSpPr/>
          <p:nvPr/>
        </p:nvSpPr>
        <p:spPr>
          <a:xfrm>
            <a:off x="8237220" y="3628644"/>
            <a:ext cx="854964" cy="320040"/>
          </a:xfrm>
          <a:prstGeom prst="roundRect">
            <a:avLst>
              <a:gd name="adj" fmla="val 48571"/>
            </a:avLst>
          </a:prstGeom>
          <a:solidFill>
            <a:srgbClr val="1F4D2E"/>
          </a:solidFill>
          <a:ln w="12700">
            <a:solidFill>
              <a:srgbClr val="1F4D2E"/>
            </a:solidFill>
            <a:prstDash val="solid"/>
          </a:ln>
        </p:spPr>
      </p:sp>
      <p:sp>
        <p:nvSpPr>
          <p:cNvPr id="48" name="Text 38"/>
          <p:cNvSpPr/>
          <p:nvPr/>
        </p:nvSpPr>
        <p:spPr>
          <a:xfrm>
            <a:off x="8237220" y="3628644"/>
            <a:ext cx="8549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Plancha</a:t>
            </a:r>
            <a:endParaRPr lang="en-US" sz="1000" dirty="0"/>
          </a:p>
        </p:txBody>
      </p:sp>
      <p:sp>
        <p:nvSpPr>
          <p:cNvPr id="49" name="Shape 39"/>
          <p:cNvSpPr/>
          <p:nvPr/>
        </p:nvSpPr>
        <p:spPr>
          <a:xfrm>
            <a:off x="6998208" y="4030980"/>
            <a:ext cx="1088136" cy="320040"/>
          </a:xfrm>
          <a:prstGeom prst="roundRect">
            <a:avLst>
              <a:gd name="adj" fmla="val 48571"/>
            </a:avLst>
          </a:prstGeom>
          <a:solidFill>
            <a:srgbClr val="1F4D2E"/>
          </a:solidFill>
          <a:ln w="12700">
            <a:solidFill>
              <a:srgbClr val="1F4D2E"/>
            </a:solidFill>
            <a:prstDash val="solid"/>
          </a:ln>
        </p:spPr>
      </p:sp>
      <p:sp>
        <p:nvSpPr>
          <p:cNvPr id="50" name="Text 40"/>
          <p:cNvSpPr/>
          <p:nvPr/>
        </p:nvSpPr>
        <p:spPr>
          <a:xfrm>
            <a:off x="6998208" y="4030980"/>
            <a:ext cx="1088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Lagartijas</a:t>
            </a:r>
            <a:endParaRPr lang="en-US" sz="1000" dirty="0"/>
          </a:p>
        </p:txBody>
      </p:sp>
      <p:sp>
        <p:nvSpPr>
          <p:cNvPr id="51" name="Text 41"/>
          <p:cNvSpPr/>
          <p:nvPr/>
        </p:nvSpPr>
        <p:spPr>
          <a:xfrm>
            <a:off x="6998208" y="4644136"/>
            <a:ext cx="2767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F4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FRENTE A LA PANTALLA</a:t>
            </a:r>
            <a:endParaRPr lang="en-US" sz="1150" dirty="0"/>
          </a:p>
        </p:txBody>
      </p:sp>
      <p:sp>
        <p:nvSpPr>
          <p:cNvPr id="52" name="Shape 42"/>
          <p:cNvSpPr/>
          <p:nvPr/>
        </p:nvSpPr>
        <p:spPr>
          <a:xfrm>
            <a:off x="6998208" y="5074412"/>
            <a:ext cx="475488" cy="475488"/>
          </a:xfrm>
          <a:prstGeom prst="ellipse">
            <a:avLst/>
          </a:prstGeom>
          <a:solidFill>
            <a:srgbClr val="8BD450"/>
          </a:solidFill>
          <a:ln w="12700">
            <a:solidFill>
              <a:srgbClr val="8BD450"/>
            </a:solidFill>
            <a:prstDash val="solid"/>
          </a:ln>
        </p:spPr>
      </p:sp>
      <p:pic>
        <p:nvPicPr>
          <p:cNvPr id="5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07936" y="5184140"/>
            <a:ext cx="256032" cy="256032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7601712" y="5074412"/>
            <a:ext cx="216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Pantalla a la altura de los ojos</a:t>
            </a:r>
            <a:endParaRPr lang="en-US" sz="1150" dirty="0"/>
          </a:p>
        </p:txBody>
      </p:sp>
      <p:sp>
        <p:nvSpPr>
          <p:cNvPr id="55" name="Shape 44"/>
          <p:cNvSpPr/>
          <p:nvPr/>
        </p:nvSpPr>
        <p:spPr>
          <a:xfrm>
            <a:off x="6998208" y="5696204"/>
            <a:ext cx="475488" cy="475488"/>
          </a:xfrm>
          <a:prstGeom prst="ellipse">
            <a:avLst/>
          </a:prstGeom>
          <a:solidFill>
            <a:srgbClr val="8BD450"/>
          </a:solidFill>
          <a:ln w="12700">
            <a:solidFill>
              <a:srgbClr val="8BD450"/>
            </a:solidFill>
            <a:prstDash val="solid"/>
          </a:ln>
        </p:spPr>
      </p:sp>
      <p:pic>
        <p:nvPicPr>
          <p:cNvPr id="5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7936" y="5805932"/>
            <a:ext cx="256032" cy="256032"/>
          </a:xfrm>
          <a:prstGeom prst="rect">
            <a:avLst/>
          </a:prstGeom>
        </p:spPr>
      </p:pic>
      <p:sp>
        <p:nvSpPr>
          <p:cNvPr id="57" name="Text 45"/>
          <p:cNvSpPr/>
          <p:nvPr/>
        </p:nvSpPr>
        <p:spPr>
          <a:xfrm>
            <a:off x="7601712" y="5696204"/>
            <a:ext cx="216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Espalda recta y pies en el piso</a:t>
            </a:r>
            <a:endParaRPr lang="en-US" sz="1150" dirty="0"/>
          </a:p>
        </p:txBody>
      </p:sp>
      <p:sp>
        <p:nvSpPr>
          <p:cNvPr id="58" name="Shape 46"/>
          <p:cNvSpPr/>
          <p:nvPr/>
        </p:nvSpPr>
        <p:spPr>
          <a:xfrm>
            <a:off x="6998208" y="6317996"/>
            <a:ext cx="475488" cy="475488"/>
          </a:xfrm>
          <a:prstGeom prst="ellipse">
            <a:avLst/>
          </a:prstGeom>
          <a:solidFill>
            <a:srgbClr val="8BD450"/>
          </a:solidFill>
          <a:ln w="12700">
            <a:solidFill>
              <a:srgbClr val="8BD450"/>
            </a:solidFill>
            <a:prstDash val="solid"/>
          </a:ln>
        </p:spPr>
      </p:sp>
      <p:pic>
        <p:nvPicPr>
          <p:cNvPr id="5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07936" y="6427724"/>
            <a:ext cx="256032" cy="256032"/>
          </a:xfrm>
          <a:prstGeom prst="rect">
            <a:avLst/>
          </a:prstGeom>
        </p:spPr>
      </p:pic>
      <p:sp>
        <p:nvSpPr>
          <p:cNvPr id="60" name="Text 47"/>
          <p:cNvSpPr/>
          <p:nvPr/>
        </p:nvSpPr>
        <p:spPr>
          <a:xfrm>
            <a:off x="7601712" y="6317996"/>
            <a:ext cx="216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D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Levántate cada 30 a 60 minutos</a:t>
            </a:r>
            <a:endParaRPr lang="en-US" sz="1150" dirty="0"/>
          </a:p>
        </p:txBody>
      </p:sp>
      <p:sp>
        <p:nvSpPr>
          <p:cNvPr id="61" name="Shape 48"/>
          <p:cNvSpPr/>
          <p:nvPr/>
        </p:nvSpPr>
        <p:spPr>
          <a:xfrm>
            <a:off x="6998208" y="7269480"/>
            <a:ext cx="2767584" cy="274320"/>
          </a:xfrm>
          <a:prstGeom prst="roundRect">
            <a:avLst>
              <a:gd name="adj" fmla="val 50000"/>
            </a:avLst>
          </a:prstGeom>
          <a:solidFill>
            <a:srgbClr val="1F4D2E"/>
          </a:solidFill>
          <a:ln w="12700">
            <a:solidFill>
              <a:srgbClr val="1F4D2E"/>
            </a:solidFill>
            <a:prstDash val="solid"/>
          </a:ln>
        </p:spPr>
      </p:sp>
      <p:sp>
        <p:nvSpPr>
          <p:cNvPr id="62" name="Text 49"/>
          <p:cNvSpPr/>
          <p:nvPr/>
        </p:nvSpPr>
        <p:spPr>
          <a:xfrm>
            <a:off x="6998208" y="7269480"/>
            <a:ext cx="2767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Educación Física III · Bachillerato Rembrandt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Tríptico · Huesos fuertes, espalda sana</dc:title>
  <dc:subject>PptxGenJS Presentation</dc:subject>
  <dc:creator>PptxGenJS</dc:creator>
  <cp:lastModifiedBy>PptxGenJS</cp:lastModifiedBy>
  <cp:revision>1</cp:revision>
  <dcterms:created xsi:type="dcterms:W3CDTF">2026-10-21T17:49:15Z</dcterms:created>
  <dcterms:modified xsi:type="dcterms:W3CDTF">2026-10-21T17:49:15Z</dcterms:modified>
</cp:coreProperties>
</file>