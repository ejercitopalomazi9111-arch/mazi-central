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8" r:id="rId4"/>
    <p:sldId id="259" r:id="rId5"/>
    <p:sldId id="267" r:id="rId6"/>
    <p:sldId id="273" r:id="rId19"/>
    <p:sldId id="274" r:id="rId20"/>
    <p:sldId id="275" r:id="rId21"/>
    <p:sldId id="276" r:id="rId22"/>
    <p:sldId id="257" r:id="rId3"/>
    <p:sldId id="280" r:id="rId26"/>
    <p:sldId id="277" r:id="rId23"/>
    <p:sldId id="278" r:id="rId24"/>
    <p:sldId id="279" r:id="rId25"/>
    <p:sldId id="272" r:id="rId7"/>
  </p:sldIdLst>
  <p:sldSz cx="18288000" cy="10287000"/>
  <p:notesSz cx="6858000" cy="9144000"/>
  <p:embeddedFontLst>
    <p:embeddedFont>
      <p:font typeface="Calibri" panose="020F0502020204030204" pitchFamily="34" charset="0"/>
      <p:regular r:id="rId8"/>
      <p:bold r:id="rId9"/>
      <p:italic r:id="rId10"/>
      <p:boldItalic r:id="rId11"/>
    </p:embeddedFont>
    <p:embeddedFont>
      <p:font typeface="Montaser Arabic" panose="020B0604020202020204" charset="-78"/>
      <p:regular r:id="rId12"/>
    </p:embeddedFont>
    <p:embeddedFont>
      <p:font typeface="Nourd Bold" panose="020B0604020202020204" charset="0"/>
      <p:regular r:id="rId13"/>
    </p:embeddedFont>
    <p:embeddedFont>
      <p:font typeface="Nourd Heavy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5" d="100"/>
          <a:sy n="45" d="100"/>
        </p:scale>
        <p:origin x="816" y="3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font" Target="fonts/font1.fntdata"/><Relationship Id="rId9" Type="http://schemas.openxmlformats.org/officeDocument/2006/relationships/font" Target="fonts/font2.fntdata"/><Relationship Id="rId10" Type="http://schemas.openxmlformats.org/officeDocument/2006/relationships/font" Target="fonts/font3.fntdata"/><Relationship Id="rId11" Type="http://schemas.openxmlformats.org/officeDocument/2006/relationships/font" Target="fonts/font4.fntdata"/><Relationship Id="rId12" Type="http://schemas.openxmlformats.org/officeDocument/2006/relationships/font" Target="fonts/font5.fntdata"/><Relationship Id="rId13" Type="http://schemas.openxmlformats.org/officeDocument/2006/relationships/font" Target="fonts/font6.fntdata"/><Relationship Id="rId14" Type="http://schemas.openxmlformats.org/officeDocument/2006/relationships/font" Target="fonts/font7.fntdata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image" Target="../media/image7.png"/><Relationship Id="rId9" Type="http://schemas.openxmlformats.org/officeDocument/2006/relationships/image" Target="../media/image8.svg"/><Relationship Id="rId10" Type="http://schemas.openxmlformats.org/officeDocument/2006/relationships/image" Target="../media/image9.png"/><Relationship Id="rId11" Type="http://schemas.openxmlformats.org/officeDocument/2006/relationships/image" Target="../media/image10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sv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image" Target="../media/image7.png"/><Relationship Id="rId9" Type="http://schemas.openxmlformats.org/officeDocument/2006/relationships/image" Target="../media/image8.sv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37.jpg"/><Relationship Id="rId13" Type="http://schemas.openxmlformats.org/officeDocument/2006/relationships/image" Target="../media/image39.jpg"/><Relationship Id="rId14" Type="http://schemas.openxmlformats.org/officeDocument/2006/relationships/image" Target="../media/image40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svg"/><Relationship Id="rId4" Type="http://schemas.openxmlformats.org/officeDocument/2006/relationships/image" Target="../media/image15.png"/><Relationship Id="rId5" Type="http://schemas.openxmlformats.org/officeDocument/2006/relationships/image" Target="../media/image16.svg"/><Relationship Id="rId6" Type="http://schemas.openxmlformats.org/officeDocument/2006/relationships/image" Target="../media/image17.png"/><Relationship Id="rId7" Type="http://schemas.openxmlformats.org/officeDocument/2006/relationships/image" Target="../media/image18.svg"/><Relationship Id="rId8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19.png"/><Relationship Id="rId5" Type="http://schemas.openxmlformats.org/officeDocument/2006/relationships/image" Target="../media/image20.svg"/><Relationship Id="rId6" Type="http://schemas.openxmlformats.org/officeDocument/2006/relationships/image" Target="../media/image3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svg"/><Relationship Id="rId4" Type="http://schemas.openxmlformats.org/officeDocument/2006/relationships/image" Target="../media/image23.png"/><Relationship Id="rId5" Type="http://schemas.openxmlformats.org/officeDocument/2006/relationships/image" Target="../media/image24.svg"/><Relationship Id="rId6" Type="http://schemas.openxmlformats.org/officeDocument/2006/relationships/image" Target="../media/image25.png"/><Relationship Id="rId7" Type="http://schemas.openxmlformats.org/officeDocument/2006/relationships/image" Target="../media/image26.svg"/><Relationship Id="rId8" Type="http://schemas.openxmlformats.org/officeDocument/2006/relationships/image" Target="../media/image3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svg"/><Relationship Id="rId4" Type="http://schemas.openxmlformats.org/officeDocument/2006/relationships/image" Target="../media/image29.png"/><Relationship Id="rId5" Type="http://schemas.openxmlformats.org/officeDocument/2006/relationships/image" Target="../media/image30.svg"/><Relationship Id="rId6" Type="http://schemas.openxmlformats.org/officeDocument/2006/relationships/image" Target="../media/image21.png"/><Relationship Id="rId7" Type="http://schemas.openxmlformats.org/officeDocument/2006/relationships/image" Target="../media/image22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19.png"/><Relationship Id="rId5" Type="http://schemas.openxmlformats.org/officeDocument/2006/relationships/image" Target="../media/image20.svg"/><Relationship Id="rId6" Type="http://schemas.openxmlformats.org/officeDocument/2006/relationships/image" Target="../media/image3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19.png"/><Relationship Id="rId5" Type="http://schemas.openxmlformats.org/officeDocument/2006/relationships/image" Target="../media/image20.svg"/><Relationship Id="rId6" Type="http://schemas.openxmlformats.org/officeDocument/2006/relationships/image" Target="../media/image34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19.png"/><Relationship Id="rId5" Type="http://schemas.openxmlformats.org/officeDocument/2006/relationships/image" Target="../media/image20.svg"/><Relationship Id="rId6" Type="http://schemas.openxmlformats.org/officeDocument/2006/relationships/image" Target="../media/image35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19.png"/><Relationship Id="rId5" Type="http://schemas.openxmlformats.org/officeDocument/2006/relationships/image" Target="../media/image20.svg"/><Relationship Id="rId6" Type="http://schemas.openxmlformats.org/officeDocument/2006/relationships/image" Target="../media/image36.jpg"/><Relationship Id="rId7" Type="http://schemas.openxmlformats.org/officeDocument/2006/relationships/image" Target="../media/image37.jpg"/><Relationship Id="rId8" Type="http://schemas.openxmlformats.org/officeDocument/2006/relationships/image" Target="../media/image38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19.png"/><Relationship Id="rId5" Type="http://schemas.openxmlformats.org/officeDocument/2006/relationships/image" Target="../media/image20.svg"/><Relationship Id="rId6" Type="http://schemas.openxmlformats.org/officeDocument/2006/relationships/image" Target="../media/image4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19.png"/><Relationship Id="rId5" Type="http://schemas.openxmlformats.org/officeDocument/2006/relationships/image" Target="../media/image20.svg"/><Relationship Id="rId6" Type="http://schemas.openxmlformats.org/officeDocument/2006/relationships/image" Target="../media/image4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19.png"/><Relationship Id="rId5" Type="http://schemas.openxmlformats.org/officeDocument/2006/relationships/image" Target="../media/image20.sv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sv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image" Target="../media/image7.png"/><Relationship Id="rId9" Type="http://schemas.openxmlformats.org/officeDocument/2006/relationships/image" Target="../media/image8.sv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41.jpg"/><Relationship Id="rId13" Type="http://schemas.openxmlformats.org/officeDocument/2006/relationships/image" Target="../media/image42.jpg"/><Relationship Id="rId14" Type="http://schemas.openxmlformats.org/officeDocument/2006/relationships/image" Target="../media/image43.jpg"/><Relationship Id="rId15" Type="http://schemas.openxmlformats.org/officeDocument/2006/relationships/image" Target="../media/image4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268200" y="2992798"/>
            <a:ext cx="6019800" cy="7549656"/>
          </a:xfrm>
          <a:custGeom>
            <a:avLst/>
            <a:gdLst/>
            <a:ahLst/>
            <a:cxnLst/>
            <a:rect l="l" t="t" r="r" b="b"/>
            <a:pathLst>
              <a:path w="8288735" h="7549656">
                <a:moveTo>
                  <a:pt x="0" y="0"/>
                </a:moveTo>
                <a:lnTo>
                  <a:pt x="8288735" y="0"/>
                </a:lnTo>
                <a:lnTo>
                  <a:pt x="8288735" y="7549656"/>
                </a:lnTo>
                <a:lnTo>
                  <a:pt x="0" y="75496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sp>
        <p:nvSpPr>
          <p:cNvPr id="3" name="Freeform 3"/>
          <p:cNvSpPr/>
          <p:nvPr/>
        </p:nvSpPr>
        <p:spPr>
          <a:xfrm rot="-5400000" flipV="1">
            <a:off x="1145190" y="-1520744"/>
            <a:ext cx="2794156" cy="5846533"/>
          </a:xfrm>
          <a:custGeom>
            <a:avLst/>
            <a:gdLst/>
            <a:ahLst/>
            <a:cxnLst/>
            <a:rect l="l" t="t" r="r" b="b"/>
            <a:pathLst>
              <a:path w="2794156" h="5846533">
                <a:moveTo>
                  <a:pt x="0" y="5846534"/>
                </a:moveTo>
                <a:lnTo>
                  <a:pt x="2794156" y="5846534"/>
                </a:lnTo>
                <a:lnTo>
                  <a:pt x="2794156" y="0"/>
                </a:lnTo>
                <a:lnTo>
                  <a:pt x="0" y="0"/>
                </a:lnTo>
                <a:lnTo>
                  <a:pt x="0" y="584653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sp>
        <p:nvSpPr>
          <p:cNvPr id="4" name="Freeform 4"/>
          <p:cNvSpPr/>
          <p:nvPr/>
        </p:nvSpPr>
        <p:spPr>
          <a:xfrm>
            <a:off x="152399" y="8752745"/>
            <a:ext cx="3012033" cy="1011111"/>
          </a:xfrm>
          <a:custGeom>
            <a:avLst/>
            <a:gdLst/>
            <a:ahLst/>
            <a:cxnLst/>
            <a:rect l="l" t="t" r="r" b="b"/>
            <a:pathLst>
              <a:path w="4527362" h="1011111">
                <a:moveTo>
                  <a:pt x="0" y="0"/>
                </a:moveTo>
                <a:lnTo>
                  <a:pt x="4527362" y="0"/>
                </a:lnTo>
                <a:lnTo>
                  <a:pt x="4527362" y="1011110"/>
                </a:lnTo>
                <a:lnTo>
                  <a:pt x="0" y="101111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sp>
        <p:nvSpPr>
          <p:cNvPr id="5" name="Freeform 5"/>
          <p:cNvSpPr/>
          <p:nvPr/>
        </p:nvSpPr>
        <p:spPr>
          <a:xfrm>
            <a:off x="15240000" y="891522"/>
            <a:ext cx="2819400" cy="1011111"/>
          </a:xfrm>
          <a:custGeom>
            <a:avLst/>
            <a:gdLst/>
            <a:ahLst/>
            <a:cxnLst/>
            <a:rect l="l" t="t" r="r" b="b"/>
            <a:pathLst>
              <a:path w="4527362" h="1011111">
                <a:moveTo>
                  <a:pt x="0" y="0"/>
                </a:moveTo>
                <a:lnTo>
                  <a:pt x="4527362" y="0"/>
                </a:lnTo>
                <a:lnTo>
                  <a:pt x="4527362" y="1011111"/>
                </a:lnTo>
                <a:lnTo>
                  <a:pt x="0" y="101111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sp>
        <p:nvSpPr>
          <p:cNvPr id="6" name="Freeform 6"/>
          <p:cNvSpPr/>
          <p:nvPr/>
        </p:nvSpPr>
        <p:spPr>
          <a:xfrm>
            <a:off x="-351970" y="874118"/>
            <a:ext cx="2074639" cy="2074639"/>
          </a:xfrm>
          <a:custGeom>
            <a:avLst/>
            <a:gdLst/>
            <a:ahLst/>
            <a:cxnLst/>
            <a:rect l="l" t="t" r="r" b="b"/>
            <a:pathLst>
              <a:path w="2074639" h="2074639">
                <a:moveTo>
                  <a:pt x="0" y="0"/>
                </a:moveTo>
                <a:lnTo>
                  <a:pt x="2074639" y="0"/>
                </a:lnTo>
                <a:lnTo>
                  <a:pt x="2074639" y="2074639"/>
                </a:lnTo>
                <a:lnTo>
                  <a:pt x="0" y="207463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p/>
        </p:txBody>
      </p:sp>
      <p:sp>
        <p:nvSpPr>
          <p:cNvPr id="7" name="Freeform 7"/>
          <p:cNvSpPr/>
          <p:nvPr/>
        </p:nvSpPr>
        <p:spPr>
          <a:xfrm>
            <a:off x="12877800" y="141219"/>
            <a:ext cx="2202600" cy="1985737"/>
          </a:xfrm>
          <a:custGeom>
            <a:avLst/>
            <a:gdLst/>
            <a:ahLst/>
            <a:cxnLst/>
            <a:rect l="l" t="t" r="r" b="b"/>
            <a:pathLst>
              <a:path w="2397907" h="2397907">
                <a:moveTo>
                  <a:pt x="0" y="0"/>
                </a:moveTo>
                <a:lnTo>
                  <a:pt x="2397907" y="0"/>
                </a:lnTo>
                <a:lnTo>
                  <a:pt x="2397907" y="2397907"/>
                </a:lnTo>
                <a:lnTo>
                  <a:pt x="0" y="239790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p/>
        </p:txBody>
      </p:sp>
      <p:sp>
        <p:nvSpPr>
          <p:cNvPr id="8" name="TextBox 8"/>
          <p:cNvSpPr txBox="1"/>
          <p:nvPr/>
        </p:nvSpPr>
        <p:spPr>
          <a:xfrm>
            <a:off x="2057400" y="5476580"/>
            <a:ext cx="12997600" cy="18050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16"/>
              </a:lnSpc>
            </a:pPr>
            <a:r>
              <a:rPr lang="en-US" sz="6378" b="1" dirty="0" err="1">
                <a:solidFill>
                  <a:srgbClr val="AD0F0F"/>
                </a:solidFill>
                <a:latin typeface="Nourd Bold"/>
                <a:ea typeface="Nourd Bold"/>
                <a:cs typeface="Nourd Bold"/>
                <a:sym typeface="Nourd Bold"/>
              </a:rPr>
              <a:t>C</a:t>
            </a:r>
            <a:r>
              <a:rPr lang="en-US" sz="6378" b="1" dirty="0" err="1">
                <a:solidFill>
                  <a:srgbClr val="003060"/>
                </a:solidFill>
                <a:latin typeface="Nourd Bold"/>
                <a:ea typeface="Nourd Bold"/>
                <a:cs typeface="Nourd Bold"/>
                <a:sym typeface="Nourd Bold"/>
              </a:rPr>
              <a:t>iclo</a:t>
            </a:r>
            <a:r>
              <a:rPr lang="en-US" sz="6378" b="1" dirty="0">
                <a:solidFill>
                  <a:srgbClr val="003060"/>
                </a:solidFill>
                <a:latin typeface="Nourd Bold"/>
                <a:ea typeface="Nourd Bold"/>
                <a:cs typeface="Nourd Bold"/>
                <a:sym typeface="Nourd Bold"/>
              </a:rPr>
              <a:t> </a:t>
            </a:r>
            <a:r>
              <a:rPr lang="en-US" sz="6378" b="1" dirty="0" err="1">
                <a:solidFill>
                  <a:srgbClr val="003060"/>
                </a:solidFill>
                <a:latin typeface="Nourd Bold"/>
                <a:ea typeface="Nourd Bold"/>
                <a:cs typeface="Nourd Bold"/>
                <a:sym typeface="Nourd Bold"/>
              </a:rPr>
              <a:t>Académico</a:t>
            </a:r>
            <a:r>
              <a:rPr lang="en-US" sz="6378" b="1" dirty="0">
                <a:solidFill>
                  <a:srgbClr val="003060"/>
                </a:solidFill>
                <a:latin typeface="Nourd Bold"/>
                <a:ea typeface="Nourd Bold"/>
                <a:cs typeface="Nourd Bold"/>
                <a:sym typeface="Nourd Bold"/>
              </a:rPr>
              <a:t> </a:t>
            </a:r>
          </a:p>
          <a:p>
            <a:pPr marL="0" lvl="0" indent="0" algn="ctr">
              <a:lnSpc>
                <a:spcPts val="7016"/>
              </a:lnSpc>
            </a:pPr>
            <a:r>
              <a:rPr lang="en-US" sz="6378" b="1" dirty="0">
                <a:solidFill>
                  <a:srgbClr val="003060"/>
                </a:solidFill>
                <a:latin typeface="Nourd Bold"/>
                <a:ea typeface="Nourd Bold"/>
                <a:cs typeface="Nourd Bold"/>
                <a:sym typeface="Nourd Bold"/>
              </a:rPr>
              <a:t>Agosto  - </a:t>
            </a:r>
            <a:r>
              <a:rPr lang="en-US" sz="6378" b="1" dirty="0" err="1">
                <a:solidFill>
                  <a:srgbClr val="003060"/>
                </a:solidFill>
                <a:latin typeface="Nourd Bold"/>
                <a:ea typeface="Nourd Bold"/>
                <a:cs typeface="Nourd Bold"/>
                <a:sym typeface="Nourd Bold"/>
              </a:rPr>
              <a:t>Diciembre</a:t>
            </a:r>
            <a:r>
              <a:rPr lang="en-US" sz="6378" b="1" dirty="0">
                <a:solidFill>
                  <a:srgbClr val="003060"/>
                </a:solidFill>
                <a:latin typeface="Nourd Bold"/>
                <a:ea typeface="Nourd Bold"/>
                <a:cs typeface="Nourd Bold"/>
                <a:sym typeface="Nourd Bold"/>
              </a:rPr>
              <a:t> 2026.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358893" y="8894682"/>
            <a:ext cx="9309086" cy="596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620"/>
              </a:lnSpc>
            </a:pPr>
            <a:r>
              <a:rPr lang="en-US" sz="4200" dirty="0" err="1">
                <a:solidFill>
                  <a:srgbClr val="00306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Nombre</a:t>
            </a:r>
            <a:r>
              <a:rPr lang="en-US" sz="4200" dirty="0">
                <a:solidFill>
                  <a:srgbClr val="00306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: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545682" y="4027704"/>
            <a:ext cx="9628871" cy="8055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246"/>
              </a:lnSpc>
              <a:spcBef>
                <a:spcPct val="0"/>
              </a:spcBef>
            </a:pPr>
            <a:r>
              <a:rPr lang="en-US" sz="5678" u="none" strike="noStrike" dirty="0" err="1">
                <a:solidFill>
                  <a:srgbClr val="AD0F0F"/>
                </a:solidFill>
                <a:latin typeface="Nourd Heavy"/>
                <a:ea typeface="Nourd Heavy"/>
                <a:cs typeface="Nourd Heavy"/>
                <a:sym typeface="Nourd Heavy"/>
              </a:rPr>
              <a:t>B</a:t>
            </a:r>
            <a:r>
              <a:rPr lang="en-US" sz="5678" u="none" strike="noStrike" dirty="0" err="1">
                <a:solidFill>
                  <a:srgbClr val="07416B"/>
                </a:solidFill>
                <a:latin typeface="Nourd Heavy"/>
                <a:ea typeface="Nourd Heavy"/>
                <a:cs typeface="Nourd Heavy"/>
                <a:sym typeface="Nourd Heavy"/>
              </a:rPr>
              <a:t>achillerato</a:t>
            </a:r>
            <a:r>
              <a:rPr lang="en-US" sz="5678" b="1" u="none" strike="noStrike" dirty="0">
                <a:solidFill>
                  <a:srgbClr val="AD0F0F"/>
                </a:solidFill>
                <a:latin typeface="Nourd Heavy"/>
                <a:ea typeface="Nourd Heavy"/>
                <a:cs typeface="Nourd Heavy"/>
                <a:sym typeface="Nourd Heavy"/>
              </a:rPr>
              <a:t> R</a:t>
            </a:r>
            <a:r>
              <a:rPr lang="en-US" sz="5678" b="1" u="none" strike="noStrike" dirty="0">
                <a:solidFill>
                  <a:srgbClr val="07416B"/>
                </a:solidFill>
                <a:latin typeface="Nourd Heavy"/>
                <a:ea typeface="Nourd Heavy"/>
                <a:cs typeface="Nourd Heavy"/>
                <a:sym typeface="Nourd Heavy"/>
              </a:rPr>
              <a:t>embrandt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9200" y="2770289"/>
            <a:ext cx="15621000" cy="7950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6246"/>
              </a:lnSpc>
              <a:spcBef>
                <a:spcPct val="0"/>
              </a:spcBef>
            </a:pPr>
            <a:r>
              <a:rPr lang="en-US" sz="5678" dirty="0">
                <a:solidFill>
                  <a:srgbClr val="AD0F0F"/>
                </a:solidFill>
                <a:latin typeface="Nourd Heavy"/>
                <a:ea typeface="Nourd Heavy"/>
                <a:cs typeface="Nourd Heavy"/>
                <a:sym typeface="Nourd Heavy"/>
              </a:rPr>
              <a:t>I</a:t>
            </a:r>
            <a:r>
              <a:rPr lang="en-US" sz="5678" u="none" strike="noStrike" dirty="0">
                <a:solidFill>
                  <a:srgbClr val="07416B"/>
                </a:solidFill>
                <a:latin typeface="Nourd Heavy"/>
                <a:ea typeface="Nourd Heavy"/>
                <a:cs typeface="Nourd Heavy"/>
                <a:sym typeface="Nourd Heavy"/>
              </a:rPr>
              <a:t>nstituto </a:t>
            </a:r>
            <a:r>
              <a:rPr lang="en-US" sz="5678" b="1" dirty="0">
                <a:solidFill>
                  <a:srgbClr val="AD0F0F"/>
                </a:solidFill>
                <a:latin typeface="Nourd Heavy"/>
                <a:ea typeface="Nourd Heavy"/>
                <a:cs typeface="Nourd Heavy"/>
                <a:sym typeface="Nourd Heavy"/>
              </a:rPr>
              <a:t>T</a:t>
            </a:r>
            <a:r>
              <a:rPr lang="en-US" sz="5678" dirty="0">
                <a:solidFill>
                  <a:srgbClr val="07416B"/>
                </a:solidFill>
                <a:latin typeface="Nourd Heavy"/>
                <a:ea typeface="Nourd Heavy"/>
                <a:cs typeface="Nourd Heavy"/>
                <a:sym typeface="Nourd Heavy"/>
              </a:rPr>
              <a:t>ecnológico en </a:t>
            </a:r>
            <a:r>
              <a:rPr lang="en-US" sz="5678" b="1" dirty="0" err="1">
                <a:solidFill>
                  <a:srgbClr val="AD0F0F"/>
                </a:solidFill>
                <a:latin typeface="Nourd Heavy"/>
                <a:ea typeface="Nourd Heavy"/>
                <a:cs typeface="Nourd Heavy"/>
                <a:sym typeface="Nourd Heavy"/>
              </a:rPr>
              <a:t>P</a:t>
            </a:r>
            <a:r>
              <a:rPr lang="en-US" sz="5678" dirty="0" err="1">
                <a:solidFill>
                  <a:srgbClr val="07416B"/>
                </a:solidFill>
                <a:latin typeface="Nourd Heavy"/>
                <a:ea typeface="Nourd Heavy"/>
                <a:cs typeface="Nourd Heavy"/>
                <a:sym typeface="Nourd Heavy"/>
              </a:rPr>
              <a:t>rogramación</a:t>
            </a:r>
            <a:endParaRPr lang="en-US" sz="5678" b="1" u="none" strike="noStrike" dirty="0">
              <a:solidFill>
                <a:srgbClr val="07416B"/>
              </a:solidFill>
              <a:latin typeface="Nourd Heavy"/>
              <a:ea typeface="Nourd Heavy"/>
              <a:cs typeface="Nourd Heavy"/>
              <a:sym typeface="Nourd Heavy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600000" y="7320000"/>
            <a:ext cx="11600000" cy="11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800"/>
              </a:spcAft>
            </a:pPr>
            <a:r>
              <a:rPr sz="3000" b="1">
                <a:solidFill>
                  <a:srgbClr val="C8102E"/>
                </a:solidFill>
                <a:latin typeface="Nourd Heavy"/>
              </a:rPr>
              <a:t>Física</a:t>
            </a:r>
            <a:r>
              <a:rPr sz="3000" b="1">
                <a:solidFill>
                  <a:srgbClr val="07416B"/>
                </a:solidFill>
                <a:latin typeface="Nourd Heavy"/>
              </a:rPr>
              <a:t> · El movimiento en dos dimensiones y la catapulta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496970" y="6042651"/>
            <a:ext cx="4791030" cy="4235278"/>
          </a:xfrm>
          <a:custGeom>
            <a:avLst/>
            <a:gdLst/>
            <a:ahLst/>
            <a:cxnLst/>
            <a:rect l="l" t="t" r="r" b="b"/>
            <a:pathLst>
              <a:path w="5456361" h="4969835">
                <a:moveTo>
                  <a:pt x="0" y="0"/>
                </a:moveTo>
                <a:lnTo>
                  <a:pt x="5456361" y="0"/>
                </a:lnTo>
                <a:lnTo>
                  <a:pt x="5456361" y="4969835"/>
                </a:lnTo>
                <a:lnTo>
                  <a:pt x="0" y="49698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5400000" flipV="1">
            <a:off x="1271245" y="-1278501"/>
            <a:ext cx="2400301" cy="4957304"/>
          </a:xfrm>
          <a:custGeom>
            <a:avLst/>
            <a:gdLst/>
            <a:ahLst/>
            <a:cxnLst/>
            <a:rect l="l" t="t" r="r" b="b"/>
            <a:pathLst>
              <a:path w="2794156" h="5846533">
                <a:moveTo>
                  <a:pt x="0" y="5846534"/>
                </a:moveTo>
                <a:lnTo>
                  <a:pt x="2794156" y="5846534"/>
                </a:lnTo>
                <a:lnTo>
                  <a:pt x="2794156" y="0"/>
                </a:lnTo>
                <a:lnTo>
                  <a:pt x="0" y="0"/>
                </a:lnTo>
                <a:lnTo>
                  <a:pt x="0" y="584653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8752745"/>
            <a:ext cx="2651364" cy="1011111"/>
          </a:xfrm>
          <a:custGeom>
            <a:avLst/>
            <a:gdLst/>
            <a:ahLst/>
            <a:cxnLst/>
            <a:rect l="l" t="t" r="r" b="b"/>
            <a:pathLst>
              <a:path w="4527362" h="1011111">
                <a:moveTo>
                  <a:pt x="0" y="0"/>
                </a:moveTo>
                <a:lnTo>
                  <a:pt x="4527362" y="0"/>
                </a:lnTo>
                <a:lnTo>
                  <a:pt x="4527362" y="1011110"/>
                </a:lnTo>
                <a:lnTo>
                  <a:pt x="0" y="101111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586974" y="891522"/>
            <a:ext cx="2701026" cy="1011111"/>
          </a:xfrm>
          <a:custGeom>
            <a:avLst/>
            <a:gdLst/>
            <a:ahLst/>
            <a:cxnLst/>
            <a:rect l="l" t="t" r="r" b="b"/>
            <a:pathLst>
              <a:path w="4527362" h="1011111">
                <a:moveTo>
                  <a:pt x="0" y="0"/>
                </a:moveTo>
                <a:lnTo>
                  <a:pt x="4527362" y="0"/>
                </a:lnTo>
                <a:lnTo>
                  <a:pt x="4527362" y="1011111"/>
                </a:lnTo>
                <a:lnTo>
                  <a:pt x="0" y="101111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214290" y="6406750"/>
            <a:ext cx="2074639" cy="2074639"/>
          </a:xfrm>
          <a:custGeom>
            <a:avLst/>
            <a:gdLst/>
            <a:ahLst/>
            <a:cxnLst/>
            <a:rect l="l" t="t" r="r" b="b"/>
            <a:pathLst>
              <a:path w="2074639" h="2074639">
                <a:moveTo>
                  <a:pt x="0" y="0"/>
                </a:moveTo>
                <a:lnTo>
                  <a:pt x="2074639" y="0"/>
                </a:lnTo>
                <a:lnTo>
                  <a:pt x="2074639" y="2074639"/>
                </a:lnTo>
                <a:lnTo>
                  <a:pt x="0" y="207463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3189067" y="198124"/>
            <a:ext cx="2397907" cy="2397907"/>
          </a:xfrm>
          <a:custGeom>
            <a:avLst/>
            <a:gdLst/>
            <a:ahLst/>
            <a:cxnLst/>
            <a:rect l="l" t="t" r="r" b="b"/>
            <a:pathLst>
              <a:path w="2397907" h="2397907">
                <a:moveTo>
                  <a:pt x="0" y="0"/>
                </a:moveTo>
                <a:lnTo>
                  <a:pt x="2397907" y="0"/>
                </a:lnTo>
                <a:lnTo>
                  <a:pt x="2397907" y="2397907"/>
                </a:lnTo>
                <a:lnTo>
                  <a:pt x="0" y="239790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3164433" y="876034"/>
            <a:ext cx="9628871" cy="8055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246"/>
              </a:lnSpc>
              <a:spcBef>
                <a:spcPct val="0"/>
              </a:spcBef>
            </a:pPr>
            <a:r>
              <a:rPr lang="en-US" sz="5678" b="1" u="none" strike="noStrike">
                <a:solidFill>
                  <a:srgbClr val="AD0F0F"/>
                </a:solidFill>
                <a:latin typeface="Nourd Heavy"/>
                <a:ea typeface="Nourd Heavy"/>
                <a:cs typeface="Nourd Heavy"/>
                <a:sym typeface="Nourd Heavy"/>
              </a:rPr>
              <a:t>B</a:t>
            </a:r>
            <a:r>
              <a:rPr lang="en-US" sz="5678" b="1" u="none" strike="noStrike">
                <a:solidFill>
                  <a:srgbClr val="07416B"/>
                </a:solidFill>
                <a:latin typeface="Nourd Heavy"/>
                <a:ea typeface="Nourd Heavy"/>
                <a:cs typeface="Nourd Heavy"/>
                <a:sym typeface="Nourd Heavy"/>
              </a:rPr>
              <a:t>achillerato</a:t>
            </a:r>
            <a:r>
              <a:rPr lang="en-US" sz="5678" b="1" u="none" strike="noStrike">
                <a:solidFill>
                  <a:srgbClr val="AD0F0F"/>
                </a:solidFill>
                <a:latin typeface="Nourd Heavy"/>
                <a:ea typeface="Nourd Heavy"/>
                <a:cs typeface="Nourd Heavy"/>
                <a:sym typeface="Nourd Heavy"/>
              </a:rPr>
              <a:t> R</a:t>
            </a:r>
            <a:r>
              <a:rPr lang="en-US" sz="5678" b="1" u="none" strike="noStrike">
                <a:solidFill>
                  <a:srgbClr val="07416B"/>
                </a:solidFill>
                <a:latin typeface="Nourd Heavy"/>
                <a:ea typeface="Nourd Heavy"/>
                <a:cs typeface="Nourd Heavy"/>
                <a:sym typeface="Nourd Heavy"/>
              </a:rPr>
              <a:t>embrandt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00000" y="1850000"/>
            <a:ext cx="7900000" cy="10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3600" b="1">
                <a:solidFill>
                  <a:srgbClr val="07416B"/>
                </a:solidFill>
                <a:latin typeface="Nourd Heavy"/>
              </a:rPr>
              <a:t>Paso a paso (1 de 2)</a:t>
            </a:r>
          </a:p>
        </p:txBody>
      </p:sp>
      <p:pic>
        <p:nvPicPr>
          <p:cNvPr id="12" name="Picture 11" descr="02.jpg"/>
          <p:cNvPicPr>
            <a:picLocks noChangeAspect="1"/>
          </p:cNvPicPr>
          <p:nvPr/>
        </p:nvPicPr>
        <p:blipFill>
          <a:blip r:embed="rId12"/>
          <a:srcRect t="8665" b="8665"/>
          <a:stretch>
            <a:fillRect/>
          </a:stretch>
        </p:blipFill>
        <p:spPr>
          <a:xfrm>
            <a:off x="2750000" y="2950000"/>
            <a:ext cx="3300000" cy="4850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750000" y="7920000"/>
            <a:ext cx="3300000" cy="1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2400" b="1">
                <a:solidFill>
                  <a:srgbClr val="C8102E"/>
                </a:solidFill>
                <a:latin typeface="Arial"/>
              </a:rPr>
              <a:t>1 · </a:t>
            </a:r>
            <a:r>
              <a:rPr sz="2400" b="1">
                <a:solidFill>
                  <a:srgbClr val="07416B"/>
                </a:solidFill>
                <a:latin typeface="Arial"/>
              </a:rPr>
              <a:t>Planos y medidas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3A5A78"/>
                </a:solidFill>
                <a:latin typeface="Arial"/>
              </a:rPr>
              <a:t>Dibujamos cada pieza con su medida.</a:t>
            </a:r>
          </a:p>
        </p:txBody>
      </p:sp>
      <p:pic>
        <p:nvPicPr>
          <p:cNvPr id="14" name="Picture 13" descr="03.jpg"/>
          <p:cNvPicPr>
            <a:picLocks noChangeAspect="1"/>
          </p:cNvPicPr>
          <p:nvPr/>
        </p:nvPicPr>
        <p:blipFill>
          <a:blip r:embed="rId13"/>
          <a:srcRect t="8665" b="8665"/>
          <a:stretch>
            <a:fillRect/>
          </a:stretch>
        </p:blipFill>
        <p:spPr>
          <a:xfrm>
            <a:off x="6350000" y="2950000"/>
            <a:ext cx="3300000" cy="48500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350000" y="7920000"/>
            <a:ext cx="3300000" cy="1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2400" b="1">
                <a:solidFill>
                  <a:srgbClr val="C8102E"/>
                </a:solidFill>
                <a:latin typeface="Arial"/>
              </a:rPr>
              <a:t>2 · </a:t>
            </a:r>
            <a:r>
              <a:rPr sz="2400" b="1">
                <a:solidFill>
                  <a:srgbClr val="07416B"/>
                </a:solidFill>
                <a:latin typeface="Arial"/>
              </a:rPr>
              <a:t>Piezas y pesas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3A5A78"/>
                </a:solidFill>
                <a:latin typeface="Arial"/>
              </a:rPr>
              <a:t>Cortamos la melamina; las pesas son el contrapeso.</a:t>
            </a:r>
          </a:p>
        </p:txBody>
      </p:sp>
      <p:pic>
        <p:nvPicPr>
          <p:cNvPr id="16" name="Picture 15" descr="06.jpg"/>
          <p:cNvPicPr>
            <a:picLocks noChangeAspect="1"/>
          </p:cNvPicPr>
          <p:nvPr/>
        </p:nvPicPr>
        <p:blipFill>
          <a:blip r:embed="rId14"/>
          <a:srcRect t="8665" b="8665"/>
          <a:stretch>
            <a:fillRect/>
          </a:stretch>
        </p:blipFill>
        <p:spPr>
          <a:xfrm>
            <a:off x="9950000" y="2950000"/>
            <a:ext cx="3300000" cy="48500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950000" y="7920000"/>
            <a:ext cx="3300000" cy="1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2400" b="1">
                <a:solidFill>
                  <a:srgbClr val="C8102E"/>
                </a:solidFill>
                <a:latin typeface="Arial"/>
              </a:rPr>
              <a:t>3 · </a:t>
            </a:r>
            <a:r>
              <a:rPr sz="2400" b="1">
                <a:solidFill>
                  <a:srgbClr val="07416B"/>
                </a:solidFill>
                <a:latin typeface="Arial"/>
              </a:rPr>
              <a:t>Medir el brazo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3A5A78"/>
                </a:solidFill>
                <a:latin typeface="Arial"/>
              </a:rPr>
              <a:t>Medimos y marcamos la tabla del brazo.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7112916"/>
            <a:ext cx="3341940" cy="3174084"/>
          </a:xfrm>
          <a:custGeom>
            <a:avLst/>
            <a:gdLst/>
            <a:ahLst/>
            <a:cxnLst/>
            <a:rect l="l" t="t" r="r" b="b"/>
            <a:pathLst>
              <a:path w="4627096" h="5712464">
                <a:moveTo>
                  <a:pt x="4627096" y="0"/>
                </a:moveTo>
                <a:lnTo>
                  <a:pt x="0" y="0"/>
                </a:lnTo>
                <a:lnTo>
                  <a:pt x="0" y="5712464"/>
                </a:lnTo>
                <a:lnTo>
                  <a:pt x="4627096" y="5712464"/>
                </a:lnTo>
                <a:lnTo>
                  <a:pt x="462709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15293191" y="70724"/>
            <a:ext cx="3012952" cy="4138576"/>
          </a:xfrm>
          <a:custGeom>
            <a:avLst/>
            <a:gdLst/>
            <a:ahLst/>
            <a:cxnLst/>
            <a:rect l="l" t="t" r="r" b="b"/>
            <a:pathLst>
              <a:path w="4854933" h="5396868">
                <a:moveTo>
                  <a:pt x="4854933" y="0"/>
                </a:moveTo>
                <a:lnTo>
                  <a:pt x="0" y="0"/>
                </a:lnTo>
                <a:lnTo>
                  <a:pt x="0" y="5396869"/>
                </a:lnTo>
                <a:lnTo>
                  <a:pt x="4854933" y="5396869"/>
                </a:lnTo>
                <a:lnTo>
                  <a:pt x="485493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0800000">
            <a:off x="14766541" y="9233086"/>
            <a:ext cx="3539602" cy="1011111"/>
          </a:xfrm>
          <a:custGeom>
            <a:avLst/>
            <a:gdLst/>
            <a:ahLst/>
            <a:cxnLst/>
            <a:rect l="l" t="t" r="r" b="b"/>
            <a:pathLst>
              <a:path w="4527362" h="1011111">
                <a:moveTo>
                  <a:pt x="0" y="0"/>
                </a:moveTo>
                <a:lnTo>
                  <a:pt x="4527362" y="0"/>
                </a:lnTo>
                <a:lnTo>
                  <a:pt x="4527362" y="1011111"/>
                </a:lnTo>
                <a:lnTo>
                  <a:pt x="0" y="10111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75432" y="383527"/>
            <a:ext cx="2087448" cy="2087448"/>
          </a:xfrm>
          <a:custGeom>
            <a:avLst/>
            <a:gdLst/>
            <a:ahLst/>
            <a:cxnLst/>
            <a:rect l="l" t="t" r="r" b="b"/>
            <a:pathLst>
              <a:path w="2087448" h="2087448">
                <a:moveTo>
                  <a:pt x="0" y="0"/>
                </a:moveTo>
                <a:lnTo>
                  <a:pt x="2087449" y="0"/>
                </a:lnTo>
                <a:lnTo>
                  <a:pt x="2087449" y="2087448"/>
                </a:lnTo>
                <a:lnTo>
                  <a:pt x="0" y="208744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6530527" y="5987693"/>
            <a:ext cx="771999" cy="771999"/>
            <a:chOff x="0" y="0"/>
            <a:chExt cx="6350000" cy="6350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117CC2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6530527" y="3362108"/>
            <a:ext cx="771999" cy="771999"/>
            <a:chOff x="0" y="0"/>
            <a:chExt cx="6350000" cy="6350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117CC2"/>
            </a:solidFill>
          </p:spPr>
        </p:sp>
      </p:grpSp>
      <p:sp>
        <p:nvSpPr>
          <p:cNvPr id="11" name="TextBox 11"/>
          <p:cNvSpPr txBox="1"/>
          <p:nvPr/>
        </p:nvSpPr>
        <p:spPr>
          <a:xfrm>
            <a:off x="6643921" y="3332469"/>
            <a:ext cx="545211" cy="659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5652"/>
              </a:lnSpc>
              <a:spcBef>
                <a:spcPct val="0"/>
              </a:spcBef>
            </a:pPr>
            <a:r>
              <a:rPr lang="en-US" sz="3600" b="1" u="none">
                <a:solidFill>
                  <a:srgbClr val="FFFFFF"/>
                </a:solidFill>
                <a:latin typeface="Nourd Heavy"/>
                <a:ea typeface="Nourd Heavy"/>
                <a:cs typeface="Nourd Heavy"/>
                <a:sym typeface="Nourd Heavy"/>
              </a:rPr>
              <a:t>2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6530527" y="5110920"/>
            <a:ext cx="771999" cy="771999"/>
            <a:chOff x="0" y="0"/>
            <a:chExt cx="6350000" cy="6350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117CC2"/>
            </a:solidFill>
          </p:spPr>
        </p:sp>
      </p:grpSp>
      <p:sp>
        <p:nvSpPr>
          <p:cNvPr id="16" name="TextBox 16"/>
          <p:cNvSpPr txBox="1"/>
          <p:nvPr/>
        </p:nvSpPr>
        <p:spPr>
          <a:xfrm>
            <a:off x="6643921" y="5110013"/>
            <a:ext cx="545211" cy="659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5652"/>
              </a:lnSpc>
              <a:spcBef>
                <a:spcPct val="0"/>
              </a:spcBef>
            </a:pPr>
            <a:r>
              <a:rPr lang="en-US" sz="3600" b="1" u="none">
                <a:solidFill>
                  <a:srgbClr val="FFFFFF"/>
                </a:solidFill>
                <a:latin typeface="Nourd Heavy"/>
                <a:ea typeface="Nourd Heavy"/>
                <a:cs typeface="Nourd Heavy"/>
                <a:sym typeface="Nourd Heavy"/>
              </a:rPr>
              <a:t>4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6530527" y="4234146"/>
            <a:ext cx="771999" cy="771999"/>
            <a:chOff x="0" y="0"/>
            <a:chExt cx="6350000" cy="63500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117CC2"/>
            </a:solidFill>
          </p:spPr>
        </p:sp>
      </p:grpSp>
      <p:sp>
        <p:nvSpPr>
          <p:cNvPr id="20" name="TextBox 20"/>
          <p:cNvSpPr txBox="1"/>
          <p:nvPr/>
        </p:nvSpPr>
        <p:spPr>
          <a:xfrm>
            <a:off x="6643921" y="4233240"/>
            <a:ext cx="545211" cy="659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5652"/>
              </a:lnSpc>
              <a:spcBef>
                <a:spcPct val="0"/>
              </a:spcBef>
            </a:pPr>
            <a:r>
              <a:rPr lang="en-US" sz="3600" b="1" u="none">
                <a:solidFill>
                  <a:srgbClr val="FFFFFF"/>
                </a:solidFill>
                <a:latin typeface="Nourd Heavy"/>
                <a:ea typeface="Nourd Heavy"/>
                <a:cs typeface="Nourd Heavy"/>
                <a:sym typeface="Nourd Heavy"/>
              </a:rPr>
              <a:t>3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643921" y="5986787"/>
            <a:ext cx="545211" cy="659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5652"/>
              </a:lnSpc>
              <a:spcBef>
                <a:spcPct val="0"/>
              </a:spcBef>
            </a:pPr>
            <a:r>
              <a:rPr lang="en-US" sz="3600" b="1" u="none">
                <a:solidFill>
                  <a:srgbClr val="FFFFFF"/>
                </a:solidFill>
                <a:latin typeface="Nourd Heavy"/>
                <a:ea typeface="Nourd Heavy"/>
                <a:cs typeface="Nourd Heavy"/>
                <a:sym typeface="Nourd Heavy"/>
              </a:rPr>
              <a:t>5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6530527" y="7741241"/>
            <a:ext cx="771999" cy="771999"/>
            <a:chOff x="0" y="0"/>
            <a:chExt cx="6350000" cy="63500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117CC2"/>
            </a:solidFill>
          </p:spPr>
        </p:sp>
      </p:grpSp>
      <p:grpSp>
        <p:nvGrpSpPr>
          <p:cNvPr id="25" name="Group 25"/>
          <p:cNvGrpSpPr/>
          <p:nvPr/>
        </p:nvGrpSpPr>
        <p:grpSpPr>
          <a:xfrm>
            <a:off x="6530527" y="6864467"/>
            <a:ext cx="771999" cy="771999"/>
            <a:chOff x="0" y="0"/>
            <a:chExt cx="6350000" cy="63500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117CC2"/>
            </a:solidFill>
          </p:spPr>
        </p:sp>
      </p:grpSp>
      <p:sp>
        <p:nvSpPr>
          <p:cNvPr id="28" name="TextBox 28"/>
          <p:cNvSpPr txBox="1"/>
          <p:nvPr/>
        </p:nvSpPr>
        <p:spPr>
          <a:xfrm>
            <a:off x="6643921" y="6863561"/>
            <a:ext cx="545211" cy="659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5652"/>
              </a:lnSpc>
              <a:spcBef>
                <a:spcPct val="0"/>
              </a:spcBef>
            </a:pPr>
            <a:r>
              <a:rPr lang="en-US" sz="3600" b="1">
                <a:solidFill>
                  <a:srgbClr val="FFFFFF"/>
                </a:solidFill>
                <a:latin typeface="Nourd Heavy"/>
                <a:ea typeface="Nourd Heavy"/>
                <a:cs typeface="Nourd Heavy"/>
                <a:sym typeface="Nourd Heavy"/>
              </a:rPr>
              <a:t>6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643921" y="7740335"/>
            <a:ext cx="545211" cy="659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5652"/>
              </a:lnSpc>
              <a:spcBef>
                <a:spcPct val="0"/>
              </a:spcBef>
            </a:pPr>
            <a:r>
              <a:rPr lang="en-US" sz="3600" b="1">
                <a:solidFill>
                  <a:srgbClr val="FFFFFF"/>
                </a:solidFill>
                <a:latin typeface="Nourd Heavy"/>
                <a:ea typeface="Nourd Heavy"/>
                <a:cs typeface="Nourd Heavy"/>
                <a:sym typeface="Nourd Heavy"/>
              </a:rPr>
              <a:t>7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6479220" y="2528690"/>
            <a:ext cx="771999" cy="771999"/>
            <a:chOff x="0" y="0"/>
            <a:chExt cx="6350000" cy="63500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117CC2"/>
            </a:solidFill>
          </p:spPr>
        </p:sp>
      </p:grpSp>
      <p:grpSp>
        <p:nvGrpSpPr>
          <p:cNvPr id="32" name="Group 32"/>
          <p:cNvGrpSpPr/>
          <p:nvPr/>
        </p:nvGrpSpPr>
        <p:grpSpPr>
          <a:xfrm>
            <a:off x="5115536" y="2716793"/>
            <a:ext cx="893173" cy="645315"/>
            <a:chOff x="0" y="0"/>
            <a:chExt cx="812800" cy="587245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587245"/>
            </a:xfrm>
            <a:custGeom>
              <a:avLst/>
              <a:gdLst/>
              <a:ahLst/>
              <a:cxnLst/>
              <a:rect l="l" t="t" r="r" b="b"/>
              <a:pathLst>
                <a:path w="812800" h="587245">
                  <a:moveTo>
                    <a:pt x="812800" y="293623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384045"/>
                  </a:lnTo>
                  <a:lnTo>
                    <a:pt x="406400" y="384045"/>
                  </a:lnTo>
                  <a:lnTo>
                    <a:pt x="406400" y="587245"/>
                  </a:lnTo>
                  <a:lnTo>
                    <a:pt x="812800" y="293623"/>
                  </a:lnTo>
                  <a:close/>
                </a:path>
              </a:pathLst>
            </a:custGeom>
            <a:solidFill>
              <a:srgbClr val="AD0F0F"/>
            </a:solidFill>
          </p:spPr>
        </p:sp>
        <p:sp>
          <p:nvSpPr>
            <p:cNvPr id="34" name="TextBox 34"/>
            <p:cNvSpPr txBox="1"/>
            <p:nvPr/>
          </p:nvSpPr>
          <p:spPr>
            <a:xfrm>
              <a:off x="0" y="165100"/>
              <a:ext cx="711200" cy="2189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6592614" y="2527784"/>
            <a:ext cx="545211" cy="659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52"/>
              </a:lnSpc>
            </a:pPr>
            <a:r>
              <a:rPr lang="en-US" sz="3600" b="1">
                <a:solidFill>
                  <a:srgbClr val="FFFFFF"/>
                </a:solidFill>
                <a:latin typeface="Nourd Heavy"/>
                <a:ea typeface="Nourd Heavy"/>
                <a:cs typeface="Nourd Heavy"/>
                <a:sym typeface="Nourd Heavy"/>
              </a:rPr>
              <a:t>1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589328" y="2762033"/>
            <a:ext cx="4259656" cy="600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799"/>
              </a:lnSpc>
              <a:spcBef>
                <a:spcPct val="0"/>
              </a:spcBef>
            </a:pPr>
            <a:r>
              <a:rPr lang="en-US" sz="3999" b="1" dirty="0" err="1">
                <a:solidFill>
                  <a:srgbClr val="055C9D"/>
                </a:solidFill>
                <a:latin typeface="Nourd Heavy"/>
                <a:ea typeface="Nourd Heavy"/>
                <a:cs typeface="Nourd Heavy"/>
                <a:sym typeface="Nourd Heavy"/>
              </a:rPr>
              <a:t>Contenido</a:t>
            </a:r>
            <a:endParaRPr lang="en-US" sz="3999" b="1" dirty="0">
              <a:solidFill>
                <a:srgbClr val="055C9D"/>
              </a:solidFill>
              <a:latin typeface="Nourd Heavy"/>
              <a:ea typeface="Nourd Heavy"/>
              <a:cs typeface="Nourd Heavy"/>
              <a:sym typeface="Nourd Heavy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4299341" y="1076325"/>
            <a:ext cx="9167110" cy="732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696"/>
              </a:lnSpc>
              <a:spcBef>
                <a:spcPct val="0"/>
              </a:spcBef>
            </a:pPr>
            <a:r>
              <a:rPr lang="en-US" sz="5178" b="1" u="none" strike="noStrike">
                <a:solidFill>
                  <a:srgbClr val="AD0F0F"/>
                </a:solidFill>
                <a:latin typeface="Nourd Heavy"/>
                <a:ea typeface="Nourd Heavy"/>
                <a:cs typeface="Nourd Heavy"/>
                <a:sym typeface="Nourd Heavy"/>
              </a:rPr>
              <a:t>B</a:t>
            </a:r>
            <a:r>
              <a:rPr lang="en-US" sz="5178" b="1" u="none" strike="noStrike">
                <a:solidFill>
                  <a:srgbClr val="003060"/>
                </a:solidFill>
                <a:latin typeface="Nourd Heavy"/>
                <a:ea typeface="Nourd Heavy"/>
                <a:cs typeface="Nourd Heavy"/>
                <a:sym typeface="Nourd Heavy"/>
              </a:rPr>
              <a:t>achillerato</a:t>
            </a:r>
            <a:r>
              <a:rPr lang="en-US" sz="5178" b="1" u="none" strike="noStrike">
                <a:solidFill>
                  <a:srgbClr val="AD0F0F"/>
                </a:solidFill>
                <a:latin typeface="Nourd Heavy"/>
                <a:ea typeface="Nourd Heavy"/>
                <a:cs typeface="Nourd Heavy"/>
                <a:sym typeface="Nourd Heavy"/>
              </a:rPr>
              <a:t> R</a:t>
            </a:r>
            <a:r>
              <a:rPr lang="en-US" sz="5178" b="1" u="none" strike="noStrike">
                <a:solidFill>
                  <a:srgbClr val="003060"/>
                </a:solidFill>
                <a:latin typeface="Nourd Heavy"/>
                <a:ea typeface="Nourd Heavy"/>
                <a:cs typeface="Nourd Heavy"/>
                <a:sym typeface="Nourd Heavy"/>
              </a:rPr>
              <a:t>embrandt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6530527" y="8665640"/>
            <a:ext cx="771999" cy="771999"/>
            <a:chOff x="0" y="0"/>
            <a:chExt cx="6350000" cy="635000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117CC2"/>
            </a:solidFill>
          </p:spPr>
        </p:sp>
      </p:grpSp>
      <p:sp>
        <p:nvSpPr>
          <p:cNvPr id="42" name="TextBox 42"/>
          <p:cNvSpPr txBox="1"/>
          <p:nvPr/>
        </p:nvSpPr>
        <p:spPr>
          <a:xfrm>
            <a:off x="6643921" y="8664734"/>
            <a:ext cx="545211" cy="659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5652"/>
              </a:lnSpc>
              <a:spcBef>
                <a:spcPct val="0"/>
              </a:spcBef>
            </a:pPr>
            <a:r>
              <a:rPr lang="en-US" sz="3600" b="1">
                <a:solidFill>
                  <a:srgbClr val="FFFFFF"/>
                </a:solidFill>
                <a:latin typeface="Nourd Heavy"/>
                <a:ea typeface="Nourd Heavy"/>
                <a:cs typeface="Nourd Heavy"/>
                <a:sym typeface="Nourd Heavy"/>
              </a:rPr>
              <a:t>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50000" y="2528000"/>
            <a:ext cx="7600000" cy="6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2400" b="1">
                <a:solidFill>
                  <a:srgbClr val="07416B"/>
                </a:solidFill>
                <a:latin typeface="Arial"/>
              </a:rPr>
              <a:t>¿Qué es el movimiento en dos dimensiones?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50000" y="3332000"/>
            <a:ext cx="7600000" cy="6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2400" b="1">
                <a:solidFill>
                  <a:srgbClr val="07416B"/>
                </a:solidFill>
                <a:latin typeface="Arial"/>
              </a:rPr>
              <a:t>¿Por qué es importante?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50000" y="4233000"/>
            <a:ext cx="7600000" cy="6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2400" b="1">
                <a:solidFill>
                  <a:srgbClr val="07416B"/>
                </a:solidFill>
                <a:latin typeface="Arial"/>
              </a:rPr>
              <a:t>¿Cómo funciona una catapulta?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50000" y="5110000"/>
            <a:ext cx="7600000" cy="6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2400" b="1">
                <a:solidFill>
                  <a:srgbClr val="07416B"/>
                </a:solidFill>
                <a:latin typeface="Arial"/>
              </a:rPr>
              <a:t>¿Con qué fin se inventaron?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550000" y="5987000"/>
            <a:ext cx="7600000" cy="6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2400" b="1">
                <a:solidFill>
                  <a:srgbClr val="07416B"/>
                </a:solidFill>
                <a:latin typeface="Arial"/>
              </a:rPr>
              <a:t>Artefactos que usan el movimiento en 2D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550000" y="6864000"/>
            <a:ext cx="7600000" cy="6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2400" b="1">
                <a:solidFill>
                  <a:srgbClr val="07416B"/>
                </a:solidFill>
                <a:latin typeface="Arial"/>
              </a:rPr>
              <a:t>Nuestra catapulta: diseño y armado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50000" y="7740000"/>
            <a:ext cx="7600000" cy="6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2400" b="1">
                <a:solidFill>
                  <a:srgbClr val="07416B"/>
                </a:solidFill>
                <a:latin typeface="Arial"/>
              </a:rPr>
              <a:t>Las fórmulas del tiro parabólico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550000" y="8665000"/>
            <a:ext cx="7600000" cy="6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2400" b="1">
                <a:solidFill>
                  <a:srgbClr val="07416B"/>
                </a:solidFill>
                <a:latin typeface="Arial"/>
              </a:rPr>
              <a:t>Cómo calculamos el alcance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41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/>
          <p:cNvSpPr/>
          <p:nvPr/>
        </p:nvSpPr>
        <p:spPr>
          <a:xfrm rot="-10800000">
            <a:off x="0" y="523144"/>
            <a:ext cx="4155308" cy="1011111"/>
          </a:xfrm>
          <a:custGeom>
            <a:avLst/>
            <a:gdLst/>
            <a:ahLst/>
            <a:cxnLst/>
            <a:rect l="l" t="t" r="r" b="b"/>
            <a:pathLst>
              <a:path w="4527362" h="1011111">
                <a:moveTo>
                  <a:pt x="0" y="0"/>
                </a:moveTo>
                <a:lnTo>
                  <a:pt x="4527362" y="0"/>
                </a:lnTo>
                <a:lnTo>
                  <a:pt x="4527362" y="1011110"/>
                </a:lnTo>
                <a:lnTo>
                  <a:pt x="0" y="10111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3411200" y="6286500"/>
            <a:ext cx="4876800" cy="4000500"/>
          </a:xfrm>
          <a:custGeom>
            <a:avLst/>
            <a:gdLst/>
            <a:ahLst/>
            <a:cxnLst/>
            <a:rect l="l" t="t" r="r" b="b"/>
            <a:pathLst>
              <a:path w="6445736" h="5870991">
                <a:moveTo>
                  <a:pt x="0" y="0"/>
                </a:moveTo>
                <a:lnTo>
                  <a:pt x="6445736" y="0"/>
                </a:lnTo>
                <a:lnTo>
                  <a:pt x="6445736" y="5870991"/>
                </a:lnTo>
                <a:lnTo>
                  <a:pt x="0" y="58709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5"/>
          <p:cNvSpPr txBox="1"/>
          <p:nvPr/>
        </p:nvSpPr>
        <p:spPr>
          <a:xfrm>
            <a:off x="4450000" y="620000"/>
            <a:ext cx="13400000" cy="10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4400" b="1">
                <a:solidFill>
                  <a:srgbClr val="FF914D"/>
                </a:solidFill>
                <a:latin typeface="Nourd Heavy"/>
              </a:rPr>
              <a:t>¿Qué es el movimiento en dos dimensiones?</a:t>
            </a:r>
          </a:p>
        </p:txBody>
      </p:sp>
      <p:pic>
        <p:nvPicPr>
          <p:cNvPr id="7" name="Picture 6" descr="trayectori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0000" y="2200000"/>
            <a:ext cx="10600000" cy="681428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850000" y="2250000"/>
            <a:ext cx="5900000" cy="40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 cuando algo avanza y sube o baja al mismo tiempo, como una pelota lanzada.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2600" b="1">
                <a:solidFill>
                  <a:srgbClr val="FF914D"/>
                </a:solidFill>
                <a:latin typeface="Arial"/>
              </a:rPr>
              <a:t>Se estudia en dos partes que no se estorban:</a:t>
            </a:r>
          </a:p>
          <a:p>
            <a:pPr algn="l" marL="363220" indent="-363220">
              <a:lnSpc>
                <a:spcPct val="110000"/>
              </a:lnSpc>
              <a:spcAft>
                <a:spcPts val="800"/>
              </a:spcAft>
              <a:buClr>
                <a:srgbClr val="FF914D"/>
              </a:buClr>
              <a:buChar char="•"/>
            </a:pPr>
            <a:r>
              <a:rPr sz="2600" b="1">
                <a:solidFill>
                  <a:srgbClr val="FFFFFF"/>
                </a:solidFill>
                <a:latin typeface="Arial"/>
              </a:rPr>
              <a:t>Horizontal (x): </a:t>
            </a:r>
            <a:r>
              <a:rPr sz="2600" b="0">
                <a:solidFill>
                  <a:srgbClr val="FFFFFF"/>
                </a:solidFill>
                <a:latin typeface="Arial"/>
              </a:rPr>
              <a:t>va a velocidad constante.</a:t>
            </a:r>
          </a:p>
          <a:p>
            <a:pPr algn="l" marL="363220" indent="-363220">
              <a:lnSpc>
                <a:spcPct val="110000"/>
              </a:lnSpc>
              <a:spcAft>
                <a:spcPts val="800"/>
              </a:spcAft>
              <a:buClr>
                <a:srgbClr val="FF914D"/>
              </a:buClr>
              <a:buChar char="•"/>
            </a:pPr>
            <a:r>
              <a:rPr sz="2600" b="1">
                <a:solidFill>
                  <a:srgbClr val="FFFFFF"/>
                </a:solidFill>
                <a:latin typeface="Arial"/>
              </a:rPr>
              <a:t>Vertical (y): </a:t>
            </a:r>
            <a:r>
              <a:rPr sz="2600" b="0">
                <a:solidFill>
                  <a:srgbClr val="FFFFFF"/>
                </a:solidFill>
                <a:latin typeface="Arial"/>
              </a:rPr>
              <a:t>la gravedad la jala a 9.81 m/s².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Juntas dibujan una parábola: el tiro parabólico.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41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13760638" y="9275889"/>
            <a:ext cx="4527362" cy="1011111"/>
          </a:xfrm>
          <a:custGeom>
            <a:avLst/>
            <a:gdLst/>
            <a:ahLst/>
            <a:cxnLst/>
            <a:rect l="l" t="t" r="r" b="b"/>
            <a:pathLst>
              <a:path w="4527362" h="1011111">
                <a:moveTo>
                  <a:pt x="0" y="0"/>
                </a:moveTo>
                <a:lnTo>
                  <a:pt x="4527361" y="0"/>
                </a:lnTo>
                <a:lnTo>
                  <a:pt x="4527361" y="1011110"/>
                </a:lnTo>
                <a:lnTo>
                  <a:pt x="0" y="10111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400000">
            <a:off x="-1427263" y="1392555"/>
            <a:ext cx="4527362" cy="1011111"/>
          </a:xfrm>
          <a:custGeom>
            <a:avLst/>
            <a:gdLst/>
            <a:ahLst/>
            <a:cxnLst/>
            <a:rect l="l" t="t" r="r" b="b"/>
            <a:pathLst>
              <a:path w="4527362" h="1011111">
                <a:moveTo>
                  <a:pt x="0" y="0"/>
                </a:moveTo>
                <a:lnTo>
                  <a:pt x="4527362" y="0"/>
                </a:lnTo>
                <a:lnTo>
                  <a:pt x="4527362" y="1011111"/>
                </a:lnTo>
                <a:lnTo>
                  <a:pt x="0" y="10111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5400000">
            <a:off x="14538541" y="-1468692"/>
            <a:ext cx="2280767" cy="5218151"/>
          </a:xfrm>
          <a:custGeom>
            <a:avLst/>
            <a:gdLst/>
            <a:ahLst/>
            <a:cxnLst/>
            <a:rect l="l" t="t" r="r" b="b"/>
            <a:pathLst>
              <a:path w="2280767" h="5218151">
                <a:moveTo>
                  <a:pt x="0" y="0"/>
                </a:moveTo>
                <a:lnTo>
                  <a:pt x="2280767" y="0"/>
                </a:lnTo>
                <a:lnTo>
                  <a:pt x="2280767" y="5218151"/>
                </a:lnTo>
                <a:lnTo>
                  <a:pt x="0" y="52181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V="1">
            <a:off x="0" y="7302070"/>
            <a:ext cx="3564095" cy="2984930"/>
          </a:xfrm>
          <a:custGeom>
            <a:avLst/>
            <a:gdLst/>
            <a:ahLst/>
            <a:cxnLst/>
            <a:rect l="l" t="t" r="r" b="b"/>
            <a:pathLst>
              <a:path w="3564095" h="2984930">
                <a:moveTo>
                  <a:pt x="0" y="2984930"/>
                </a:moveTo>
                <a:lnTo>
                  <a:pt x="3564095" y="2984930"/>
                </a:lnTo>
                <a:lnTo>
                  <a:pt x="3564095" y="0"/>
                </a:lnTo>
                <a:lnTo>
                  <a:pt x="0" y="0"/>
                </a:lnTo>
                <a:lnTo>
                  <a:pt x="0" y="298493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5"/>
          <p:cNvSpPr txBox="1"/>
          <p:nvPr/>
        </p:nvSpPr>
        <p:spPr>
          <a:xfrm>
            <a:off x="3900000" y="620000"/>
            <a:ext cx="13400000" cy="10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5000" b="1">
                <a:solidFill>
                  <a:srgbClr val="FF914D"/>
                </a:solidFill>
                <a:latin typeface="Nourd Heavy"/>
              </a:rPr>
              <a:t>¿Por qué es importante?</a:t>
            </a:r>
          </a:p>
        </p:txBody>
      </p:sp>
      <p:sp>
        <p:nvSpPr>
          <p:cNvPr id="7" name="Rectangle 6"/>
          <p:cNvSpPr/>
          <p:nvPr/>
        </p:nvSpPr>
        <p:spPr>
          <a:xfrm>
            <a:off x="3900000" y="2000000"/>
            <a:ext cx="4750000" cy="3350000"/>
          </a:xfrm>
          <a:prstGeom prst="rect">
            <a:avLst/>
          </a:prstGeom>
          <a:solidFill>
            <a:srgbClr val="0A2E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80000" y="2240000"/>
            <a:ext cx="4190000" cy="29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F914D"/>
                </a:solidFill>
                <a:latin typeface="Arial"/>
              </a:rPr>
              <a:t>Deportes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Un tiro de básquet, un pase largo o un despeje siguen una parábola: ángulo y fuerza deciden si entra.</a:t>
            </a:r>
          </a:p>
        </p:txBody>
      </p:sp>
      <p:sp>
        <p:nvSpPr>
          <p:cNvPr id="9" name="Rectangle 8"/>
          <p:cNvSpPr/>
          <p:nvPr/>
        </p:nvSpPr>
        <p:spPr>
          <a:xfrm>
            <a:off x="8950000" y="2000000"/>
            <a:ext cx="4750000" cy="3350000"/>
          </a:xfrm>
          <a:prstGeom prst="rect">
            <a:avLst/>
          </a:prstGeom>
          <a:solidFill>
            <a:srgbClr val="0A2E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30000" y="2240000"/>
            <a:ext cx="4190000" cy="29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F914D"/>
                </a:solidFill>
                <a:latin typeface="Arial"/>
              </a:rPr>
              <a:t>Seguridad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Se calcula dónde cae el chorro de una manguera de bomberos o la ayuda que se suelta desde un avión.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00000" y="5650000"/>
            <a:ext cx="4750000" cy="3350000"/>
          </a:xfrm>
          <a:prstGeom prst="rect">
            <a:avLst/>
          </a:prstGeom>
          <a:solidFill>
            <a:srgbClr val="0A2E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80000" y="5890000"/>
            <a:ext cx="4190000" cy="29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F914D"/>
                </a:solidFill>
                <a:latin typeface="Arial"/>
              </a:rPr>
              <a:t>Tecnología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Videojuegos como Angry Birds, robots que lanzan y simuladores usan estas mismas fórmulas.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50000" y="5650000"/>
            <a:ext cx="4750000" cy="3350000"/>
          </a:xfrm>
          <a:prstGeom prst="rect">
            <a:avLst/>
          </a:prstGeom>
          <a:solidFill>
            <a:srgbClr val="0A2E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0000" y="5890000"/>
            <a:ext cx="4190000" cy="29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F914D"/>
                </a:solidFill>
                <a:latin typeface="Arial"/>
              </a:rPr>
              <a:t>Predecir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Nos deja saber dónde va a caer algo antes de lanzarlo, sin adivinar.</a:t>
            </a:r>
          </a:p>
        </p:txBody>
      </p:sp>
      <p:pic>
        <p:nvPicPr>
          <p:cNvPr id="15" name="Picture 14" descr="basquet.jpg"/>
          <p:cNvPicPr>
            <a:picLocks noChangeAspect="1"/>
          </p:cNvPicPr>
          <p:nvPr/>
        </p:nvPicPr>
        <p:blipFill>
          <a:blip r:embed="rId8"/>
          <a:srcRect l="25009" r="25009"/>
          <a:stretch>
            <a:fillRect/>
          </a:stretch>
        </p:blipFill>
        <p:spPr>
          <a:xfrm>
            <a:off x="14150000" y="4050000"/>
            <a:ext cx="3750000" cy="5000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41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629094" y="5143500"/>
            <a:ext cx="5658906" cy="5143500"/>
          </a:xfrm>
          <a:custGeom>
            <a:avLst/>
            <a:gdLst/>
            <a:ahLst/>
            <a:cxnLst/>
            <a:rect l="l" t="t" r="r" b="b"/>
            <a:pathLst>
              <a:path w="5963630" h="5431873">
                <a:moveTo>
                  <a:pt x="0" y="0"/>
                </a:moveTo>
                <a:lnTo>
                  <a:pt x="5963631" y="0"/>
                </a:lnTo>
                <a:lnTo>
                  <a:pt x="5963631" y="5431873"/>
                </a:lnTo>
                <a:lnTo>
                  <a:pt x="0" y="54318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5400000" flipV="1">
            <a:off x="1526189" y="-1466129"/>
            <a:ext cx="2794156" cy="5846533"/>
          </a:xfrm>
          <a:custGeom>
            <a:avLst/>
            <a:gdLst/>
            <a:ahLst/>
            <a:cxnLst/>
            <a:rect l="l" t="t" r="r" b="b"/>
            <a:pathLst>
              <a:path w="2794156" h="5846533">
                <a:moveTo>
                  <a:pt x="0" y="5846533"/>
                </a:moveTo>
                <a:lnTo>
                  <a:pt x="2794156" y="5846533"/>
                </a:lnTo>
                <a:lnTo>
                  <a:pt x="2794156" y="0"/>
                </a:lnTo>
                <a:lnTo>
                  <a:pt x="0" y="0"/>
                </a:lnTo>
                <a:lnTo>
                  <a:pt x="0" y="584653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>
            <a:off x="-1453325" y="8044625"/>
            <a:ext cx="4527362" cy="1011111"/>
          </a:xfrm>
          <a:custGeom>
            <a:avLst/>
            <a:gdLst/>
            <a:ahLst/>
            <a:cxnLst/>
            <a:rect l="l" t="t" r="r" b="b"/>
            <a:pathLst>
              <a:path w="4527362" h="1011111">
                <a:moveTo>
                  <a:pt x="0" y="0"/>
                </a:moveTo>
                <a:lnTo>
                  <a:pt x="4527362" y="0"/>
                </a:lnTo>
                <a:lnTo>
                  <a:pt x="4527362" y="1011111"/>
                </a:lnTo>
                <a:lnTo>
                  <a:pt x="0" y="10111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5400000">
            <a:off x="15158274" y="1415226"/>
            <a:ext cx="4527362" cy="1011111"/>
          </a:xfrm>
          <a:custGeom>
            <a:avLst/>
            <a:gdLst/>
            <a:ahLst/>
            <a:cxnLst/>
            <a:rect l="l" t="t" r="r" b="b"/>
            <a:pathLst>
              <a:path w="4527362" h="1011111">
                <a:moveTo>
                  <a:pt x="0" y="0"/>
                </a:moveTo>
                <a:lnTo>
                  <a:pt x="4527362" y="0"/>
                </a:lnTo>
                <a:lnTo>
                  <a:pt x="4527362" y="1011111"/>
                </a:lnTo>
                <a:lnTo>
                  <a:pt x="0" y="10111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5"/>
          <p:cNvSpPr txBox="1"/>
          <p:nvPr/>
        </p:nvSpPr>
        <p:spPr>
          <a:xfrm>
            <a:off x="6300000" y="900000"/>
            <a:ext cx="6000000" cy="10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5400" b="1">
                <a:solidFill>
                  <a:srgbClr val="FF914D"/>
                </a:solidFill>
                <a:latin typeface="Nourd Heavy"/>
              </a:rPr>
              <a:t>Conclusión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00000" y="3000000"/>
            <a:ext cx="7900000" cy="5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391160" indent="-391160">
              <a:lnSpc>
                <a:spcPct val="110000"/>
              </a:lnSpc>
              <a:spcAft>
                <a:spcPts val="1800"/>
              </a:spcAft>
              <a:buClr>
                <a:srgbClr val="FF914D"/>
              </a:buClr>
              <a:buChar char="•"/>
            </a:pPr>
            <a:r>
              <a:rPr sz="2800" b="0">
                <a:solidFill>
                  <a:srgbClr val="FFFFFF"/>
                </a:solidFill>
                <a:latin typeface="Arial"/>
              </a:rPr>
              <a:t>El movimiento en dos dimensiones se entiende partiéndolo en dos: lo horizontal va parejo y lo vertical lo cambia la gravedad.</a:t>
            </a:r>
          </a:p>
          <a:p>
            <a:pPr algn="l" marL="391160" indent="-391160">
              <a:lnSpc>
                <a:spcPct val="110000"/>
              </a:lnSpc>
              <a:spcAft>
                <a:spcPts val="1800"/>
              </a:spcAft>
              <a:buClr>
                <a:srgbClr val="FF914D"/>
              </a:buClr>
              <a:buChar char="•"/>
            </a:pPr>
            <a:r>
              <a:rPr sz="2800" b="0">
                <a:solidFill>
                  <a:srgbClr val="FFFFFF"/>
                </a:solidFill>
                <a:latin typeface="Arial"/>
              </a:rPr>
              <a:t>Una catapulta convierte energía guardada (una liga o, en la nuestra, un contrapeso) en un tiro parabólico.</a:t>
            </a:r>
          </a:p>
          <a:p>
            <a:pPr algn="l" marL="391160" indent="-391160">
              <a:lnSpc>
                <a:spcPct val="110000"/>
              </a:lnSpc>
              <a:spcAft>
                <a:spcPts val="1800"/>
              </a:spcAft>
              <a:buClr>
                <a:srgbClr val="FF914D"/>
              </a:buClr>
              <a:buChar char="•"/>
            </a:pPr>
            <a:r>
              <a:rPr sz="2800" b="0">
                <a:solidFill>
                  <a:srgbClr val="FFFFFF"/>
                </a:solidFill>
                <a:latin typeface="Arial"/>
              </a:rPr>
              <a:t>Con el ángulo y el tiempo de vuelo podemos calcular el alcance antes de lanzar.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00000" y="8550000"/>
            <a:ext cx="7800000" cy="9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4400" b="1">
                <a:solidFill>
                  <a:srgbClr val="FF914D"/>
                </a:solidFill>
                <a:latin typeface="Nourd Heavy"/>
              </a:rPr>
              <a:t>¡Gracias!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41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/>
          <p:cNvSpPr/>
          <p:nvPr/>
        </p:nvSpPr>
        <p:spPr>
          <a:xfrm rot="-10800000">
            <a:off x="0" y="523144"/>
            <a:ext cx="4155308" cy="1011111"/>
          </a:xfrm>
          <a:custGeom>
            <a:avLst/>
            <a:gdLst/>
            <a:ahLst/>
            <a:cxnLst/>
            <a:rect l="l" t="t" r="r" b="b"/>
            <a:pathLst>
              <a:path w="4527362" h="1011111">
                <a:moveTo>
                  <a:pt x="0" y="0"/>
                </a:moveTo>
                <a:lnTo>
                  <a:pt x="4527362" y="0"/>
                </a:lnTo>
                <a:lnTo>
                  <a:pt x="4527362" y="1011110"/>
                </a:lnTo>
                <a:lnTo>
                  <a:pt x="0" y="10111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3411200" y="6286500"/>
            <a:ext cx="4876800" cy="4000500"/>
          </a:xfrm>
          <a:custGeom>
            <a:avLst/>
            <a:gdLst/>
            <a:ahLst/>
            <a:cxnLst/>
            <a:rect l="l" t="t" r="r" b="b"/>
            <a:pathLst>
              <a:path w="6445736" h="5870991">
                <a:moveTo>
                  <a:pt x="0" y="0"/>
                </a:moveTo>
                <a:lnTo>
                  <a:pt x="6445736" y="0"/>
                </a:lnTo>
                <a:lnTo>
                  <a:pt x="6445736" y="5870991"/>
                </a:lnTo>
                <a:lnTo>
                  <a:pt x="0" y="58709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5"/>
          <p:cNvSpPr txBox="1"/>
          <p:nvPr/>
        </p:nvSpPr>
        <p:spPr>
          <a:xfrm>
            <a:off x="4450000" y="620000"/>
            <a:ext cx="13400000" cy="10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5000" b="1">
                <a:solidFill>
                  <a:srgbClr val="FF914D"/>
                </a:solidFill>
                <a:latin typeface="Nourd Heavy"/>
              </a:rPr>
              <a:t>¿Cómo funciona una catapulta?</a:t>
            </a:r>
          </a:p>
        </p:txBody>
      </p:sp>
      <p:pic>
        <p:nvPicPr>
          <p:cNvPr id="7" name="Picture 6" descr="catapult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0000" y="2150000"/>
            <a:ext cx="10400000" cy="624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300000" y="2200000"/>
            <a:ext cx="6600000" cy="40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2800" b="1">
                <a:solidFill>
                  <a:srgbClr val="FF914D"/>
                </a:solidFill>
                <a:latin typeface="Arial"/>
              </a:rPr>
              <a:t>1 Cargar. </a:t>
            </a:r>
            <a:r>
              <a:rPr sz="2800" b="0">
                <a:solidFill>
                  <a:srgbClr val="FFFFFF"/>
                </a:solidFill>
                <a:latin typeface="Arial"/>
              </a:rPr>
              <a:t>Se jala el brazo; la liga se estira y guarda energía.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2800" b="1">
                <a:solidFill>
                  <a:srgbClr val="FF914D"/>
                </a:solidFill>
                <a:latin typeface="Arial"/>
              </a:rPr>
              <a:t>2 Soltar. </a:t>
            </a:r>
            <a:r>
              <a:rPr sz="2800" b="0">
                <a:solidFill>
                  <a:srgbClr val="FFFFFF"/>
                </a:solidFill>
                <a:latin typeface="Arial"/>
              </a:rPr>
              <a:t>La liga empuja el brazo, que gira sobre el pivote.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2800" b="1">
                <a:solidFill>
                  <a:srgbClr val="FF914D"/>
                </a:solidFill>
                <a:latin typeface="Arial"/>
              </a:rPr>
              <a:t>3 Lanzar. </a:t>
            </a:r>
            <a:r>
              <a:rPr sz="2800" b="0">
                <a:solidFill>
                  <a:srgbClr val="FFFFFF"/>
                </a:solidFill>
                <a:latin typeface="Arial"/>
              </a:rPr>
              <a:t>El tope frena el brazo y la bola sigue con velocidad v₀ y ángulo θ.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2800" b="1">
                <a:solidFill>
                  <a:srgbClr val="FF914D"/>
                </a:solidFill>
                <a:latin typeface="Arial"/>
              </a:rPr>
              <a:t>4 Volar. </a:t>
            </a:r>
            <a:r>
              <a:rPr sz="2800" b="0">
                <a:solidFill>
                  <a:srgbClr val="FFFFFF"/>
                </a:solidFill>
                <a:latin typeface="Arial"/>
              </a:rPr>
              <a:t>Desde ahí es tiro parabólico.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0000" y="8550000"/>
            <a:ext cx="12000000" cy="9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3000" b="1">
                <a:solidFill>
                  <a:srgbClr val="BFD6EA"/>
                </a:solidFill>
                <a:latin typeface="Arial"/>
              </a:rPr>
              <a:t>Energía elástica (la liga)  →  energía de movimiento (la bola)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41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/>
          <p:cNvSpPr/>
          <p:nvPr/>
        </p:nvSpPr>
        <p:spPr>
          <a:xfrm rot="-10800000">
            <a:off x="0" y="523144"/>
            <a:ext cx="4155308" cy="1011111"/>
          </a:xfrm>
          <a:custGeom>
            <a:avLst/>
            <a:gdLst/>
            <a:ahLst/>
            <a:cxnLst/>
            <a:rect l="l" t="t" r="r" b="b"/>
            <a:pathLst>
              <a:path w="4527362" h="1011111">
                <a:moveTo>
                  <a:pt x="0" y="0"/>
                </a:moveTo>
                <a:lnTo>
                  <a:pt x="4527362" y="0"/>
                </a:lnTo>
                <a:lnTo>
                  <a:pt x="4527362" y="1011110"/>
                </a:lnTo>
                <a:lnTo>
                  <a:pt x="0" y="10111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3411200" y="6286500"/>
            <a:ext cx="4876800" cy="4000500"/>
          </a:xfrm>
          <a:custGeom>
            <a:avLst/>
            <a:gdLst/>
            <a:ahLst/>
            <a:cxnLst/>
            <a:rect l="l" t="t" r="r" b="b"/>
            <a:pathLst>
              <a:path w="6445736" h="5870991">
                <a:moveTo>
                  <a:pt x="0" y="0"/>
                </a:moveTo>
                <a:lnTo>
                  <a:pt x="6445736" y="0"/>
                </a:lnTo>
                <a:lnTo>
                  <a:pt x="6445736" y="5870991"/>
                </a:lnTo>
                <a:lnTo>
                  <a:pt x="0" y="58709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5"/>
          <p:cNvSpPr txBox="1"/>
          <p:nvPr/>
        </p:nvSpPr>
        <p:spPr>
          <a:xfrm>
            <a:off x="4450000" y="620000"/>
            <a:ext cx="13400000" cy="10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5000" b="1">
                <a:solidFill>
                  <a:srgbClr val="FF914D"/>
                </a:solidFill>
                <a:latin typeface="Nourd Heavy"/>
              </a:rPr>
              <a:t>¿Con qué fin se inventaron?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2150000"/>
            <a:ext cx="11800000" cy="78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0"/>
              </a:spcAft>
            </a:pPr>
            <a:r>
              <a:rPr sz="3000" b="1">
                <a:solidFill>
                  <a:srgbClr val="FF914D"/>
                </a:solidFill>
                <a:latin typeface="Arial"/>
              </a:rPr>
              <a:t>Hacia el año 399 a.C. </a:t>
            </a:r>
            <a:r>
              <a:rPr sz="3000" b="0">
                <a:solidFill>
                  <a:srgbClr val="FFFFFF"/>
                </a:solidFill>
                <a:latin typeface="Arial"/>
              </a:rPr>
              <a:t>los ingenieros de Dionisio I, en Siracusa (Grecia antigua), hicieron las primeras catapultas.</a:t>
            </a:r>
          </a:p>
          <a:p>
            <a:pPr algn="l">
              <a:lnSpc>
                <a:spcPct val="110000"/>
              </a:lnSpc>
              <a:spcAft>
                <a:spcPts val="2000"/>
              </a:spcAft>
            </a:pPr>
            <a:r>
              <a:rPr sz="3000" b="1">
                <a:solidFill>
                  <a:srgbClr val="FF914D"/>
                </a:solidFill>
                <a:latin typeface="Arial"/>
              </a:rPr>
              <a:t>Su fin era la guerra: </a:t>
            </a:r>
            <a:r>
              <a:rPr sz="3000" b="0">
                <a:solidFill>
                  <a:srgbClr val="FFFFFF"/>
                </a:solidFill>
                <a:latin typeface="Arial"/>
              </a:rPr>
              <a:t>en los asedios lanzaban piedras y flechas desde lejos y por encima de las murallas, fuera del alcance del enemigo.</a:t>
            </a:r>
          </a:p>
          <a:p>
            <a:pPr algn="l">
              <a:lnSpc>
                <a:spcPct val="110000"/>
              </a:lnSpc>
              <a:spcAft>
                <a:spcPts val="2000"/>
              </a:spcAft>
            </a:pPr>
            <a:r>
              <a:rPr sz="3000" b="1">
                <a:solidFill>
                  <a:srgbClr val="FF914D"/>
                </a:solidFill>
                <a:latin typeface="Arial"/>
              </a:rPr>
              <a:t>Fueron mejorando: </a:t>
            </a:r>
            <a:r>
              <a:rPr sz="3000" b="0">
                <a:solidFill>
                  <a:srgbClr val="FFFFFF"/>
                </a:solidFill>
                <a:latin typeface="Arial"/>
              </a:rPr>
              <a:t>la balista (una ballesta gigante), el onagro romano (cuerdas torcidas) y el trebuchet medieval, que usa un contrapeso.</a:t>
            </a:r>
          </a:p>
          <a:p>
            <a:pPr algn="l">
              <a:lnSpc>
                <a:spcPct val="110000"/>
              </a:lnSpc>
              <a:spcAft>
                <a:spcPts val="2000"/>
              </a:spcAft>
            </a:pPr>
            <a:r>
              <a:rPr sz="3000" b="1">
                <a:solidFill>
                  <a:srgbClr val="FF914D"/>
                </a:solidFill>
                <a:latin typeface="Arial"/>
              </a:rPr>
              <a:t>Hoy </a:t>
            </a:r>
            <a:r>
              <a:rPr sz="3000" b="0">
                <a:solidFill>
                  <a:srgbClr val="FFFFFF"/>
                </a:solidFill>
                <a:latin typeface="Arial"/>
              </a:rPr>
              <a:t>ya no son armas: sirven para enseñar física, en concursos escolares y en recreaciones históricas.</a:t>
            </a:r>
          </a:p>
        </p:txBody>
      </p:sp>
      <p:pic>
        <p:nvPicPr>
          <p:cNvPr id="8" name="Picture 7" descr="trebuchet.jpg"/>
          <p:cNvPicPr>
            <a:picLocks noChangeAspect="1"/>
          </p:cNvPicPr>
          <p:nvPr/>
        </p:nvPicPr>
        <p:blipFill>
          <a:blip r:embed="rId6"/>
          <a:srcRect t="22222" b="22222"/>
          <a:stretch>
            <a:fillRect/>
          </a:stretch>
        </p:blipFill>
        <p:spPr>
          <a:xfrm>
            <a:off x="13100000" y="2150000"/>
            <a:ext cx="4500000" cy="3750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3100000" y="5950000"/>
            <a:ext cx="450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800"/>
              </a:spcAft>
            </a:pPr>
            <a:r>
              <a:rPr sz="1600" b="0">
                <a:solidFill>
                  <a:srgbClr val="BFD6EA"/>
                </a:solidFill>
                <a:latin typeface="Arial"/>
              </a:rPr>
              <a:t>Réplica de un trebuchet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41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/>
          <p:cNvSpPr/>
          <p:nvPr/>
        </p:nvSpPr>
        <p:spPr>
          <a:xfrm rot="-10800000">
            <a:off x="0" y="523144"/>
            <a:ext cx="4155308" cy="1011111"/>
          </a:xfrm>
          <a:custGeom>
            <a:avLst/>
            <a:gdLst/>
            <a:ahLst/>
            <a:cxnLst/>
            <a:rect l="l" t="t" r="r" b="b"/>
            <a:pathLst>
              <a:path w="4527362" h="1011111">
                <a:moveTo>
                  <a:pt x="0" y="0"/>
                </a:moveTo>
                <a:lnTo>
                  <a:pt x="4527362" y="0"/>
                </a:lnTo>
                <a:lnTo>
                  <a:pt x="4527362" y="1011110"/>
                </a:lnTo>
                <a:lnTo>
                  <a:pt x="0" y="10111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3411200" y="6286500"/>
            <a:ext cx="4876800" cy="4000500"/>
          </a:xfrm>
          <a:custGeom>
            <a:avLst/>
            <a:gdLst/>
            <a:ahLst/>
            <a:cxnLst/>
            <a:rect l="l" t="t" r="r" b="b"/>
            <a:pathLst>
              <a:path w="6445736" h="5870991">
                <a:moveTo>
                  <a:pt x="0" y="0"/>
                </a:moveTo>
                <a:lnTo>
                  <a:pt x="6445736" y="0"/>
                </a:lnTo>
                <a:lnTo>
                  <a:pt x="6445736" y="5870991"/>
                </a:lnTo>
                <a:lnTo>
                  <a:pt x="0" y="58709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5"/>
          <p:cNvSpPr txBox="1"/>
          <p:nvPr/>
        </p:nvSpPr>
        <p:spPr>
          <a:xfrm>
            <a:off x="4450000" y="620000"/>
            <a:ext cx="13400000" cy="10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4400" b="1">
                <a:solidFill>
                  <a:srgbClr val="FF914D"/>
                </a:solidFill>
                <a:latin typeface="Nourd Heavy"/>
              </a:rPr>
              <a:t>Artefactos que usan el movimiento en 2D</a:t>
            </a:r>
          </a:p>
        </p:txBody>
      </p:sp>
      <p:sp>
        <p:nvSpPr>
          <p:cNvPr id="7" name="Rectangle 6"/>
          <p:cNvSpPr/>
          <p:nvPr/>
        </p:nvSpPr>
        <p:spPr>
          <a:xfrm>
            <a:off x="750000" y="2150000"/>
            <a:ext cx="3950000" cy="3550000"/>
          </a:xfrm>
          <a:prstGeom prst="rect">
            <a:avLst/>
          </a:prstGeom>
          <a:solidFill>
            <a:srgbClr val="0A2E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0000" y="2390000"/>
            <a:ext cx="3390000" cy="31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900" b="1">
                <a:solidFill>
                  <a:srgbClr val="FF914D"/>
                </a:solidFill>
                <a:latin typeface="Arial"/>
              </a:rPr>
              <a:t>Trebuchet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500" b="0">
                <a:solidFill>
                  <a:srgbClr val="FFFFFF"/>
                </a:solidFill>
                <a:latin typeface="Arial"/>
              </a:rPr>
              <a:t>Un contrapeso cae y hace girar el brazo que lanza.</a:t>
            </a:r>
          </a:p>
        </p:txBody>
      </p:sp>
      <p:sp>
        <p:nvSpPr>
          <p:cNvPr id="9" name="Rectangle 8"/>
          <p:cNvSpPr/>
          <p:nvPr/>
        </p:nvSpPr>
        <p:spPr>
          <a:xfrm>
            <a:off x="4950000" y="2150000"/>
            <a:ext cx="3950000" cy="3550000"/>
          </a:xfrm>
          <a:prstGeom prst="rect">
            <a:avLst/>
          </a:prstGeom>
          <a:solidFill>
            <a:srgbClr val="0A2E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30000" y="2390000"/>
            <a:ext cx="3390000" cy="31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900" b="1">
                <a:solidFill>
                  <a:srgbClr val="FF914D"/>
                </a:solidFill>
                <a:latin typeface="Arial"/>
              </a:rPr>
              <a:t>Balista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500" b="0">
                <a:solidFill>
                  <a:srgbClr val="FFFFFF"/>
                </a:solidFill>
                <a:latin typeface="Arial"/>
              </a:rPr>
              <a:t>Una ballesta gigante: la flecha vuela en parábola.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50000" y="2150000"/>
            <a:ext cx="3950000" cy="3550000"/>
          </a:xfrm>
          <a:prstGeom prst="rect">
            <a:avLst/>
          </a:prstGeom>
          <a:solidFill>
            <a:srgbClr val="0A2E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30000" y="2390000"/>
            <a:ext cx="3390000" cy="31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900" b="1">
                <a:solidFill>
                  <a:srgbClr val="FF914D"/>
                </a:solidFill>
                <a:latin typeface="Arial"/>
              </a:rPr>
              <a:t>Cañón y mortero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500" b="0">
                <a:solidFill>
                  <a:srgbClr val="FFFFFF"/>
                </a:solidFill>
                <a:latin typeface="Arial"/>
              </a:rPr>
              <a:t>La bala sale con un ángulo y dibuja una parábola.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0000" y="5950000"/>
            <a:ext cx="3950000" cy="3550000"/>
          </a:xfrm>
          <a:prstGeom prst="rect">
            <a:avLst/>
          </a:prstGeom>
          <a:solidFill>
            <a:srgbClr val="0A2E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0000" y="6190000"/>
            <a:ext cx="3390000" cy="31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900" b="1">
                <a:solidFill>
                  <a:srgbClr val="FF914D"/>
                </a:solidFill>
                <a:latin typeface="Arial"/>
              </a:rPr>
              <a:t>Lanzapelotas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500" b="0">
                <a:solidFill>
                  <a:srgbClr val="FFFFFF"/>
                </a:solidFill>
                <a:latin typeface="Arial"/>
              </a:rPr>
              <a:t>Las de tenis y béisbol ajustan ángulo y velocidad.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50000" y="5950000"/>
            <a:ext cx="3950000" cy="3550000"/>
          </a:xfrm>
          <a:prstGeom prst="rect">
            <a:avLst/>
          </a:prstGeom>
          <a:solidFill>
            <a:srgbClr val="0A2E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30000" y="6190000"/>
            <a:ext cx="3390000" cy="31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900" b="1">
                <a:solidFill>
                  <a:srgbClr val="FF914D"/>
                </a:solidFill>
                <a:latin typeface="Arial"/>
              </a:rPr>
              <a:t>Aspersores y fuentes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500" b="0">
                <a:solidFill>
                  <a:srgbClr val="FFFFFF"/>
                </a:solidFill>
                <a:latin typeface="Arial"/>
              </a:rPr>
              <a:t>El chorro de agua es una parábola: el ángulo decide hasta dónde moja.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50000" y="5950000"/>
            <a:ext cx="3950000" cy="3550000"/>
          </a:xfrm>
          <a:prstGeom prst="rect">
            <a:avLst/>
          </a:prstGeom>
          <a:solidFill>
            <a:srgbClr val="0A2E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30000" y="6190000"/>
            <a:ext cx="3390000" cy="31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900" b="1">
                <a:solidFill>
                  <a:srgbClr val="FF914D"/>
                </a:solidFill>
                <a:latin typeface="Arial"/>
              </a:rPr>
              <a:t>Fuegos artificiales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500" b="0">
                <a:solidFill>
                  <a:srgbClr val="FFFFFF"/>
                </a:solidFill>
                <a:latin typeface="Arial"/>
              </a:rPr>
              <a:t>Se lanzan con ángulo y tiempo calculados para estallar arriba.</a:t>
            </a:r>
          </a:p>
        </p:txBody>
      </p:sp>
      <p:pic>
        <p:nvPicPr>
          <p:cNvPr id="19" name="Picture 18" descr="fuegos.jpg"/>
          <p:cNvPicPr>
            <a:picLocks noChangeAspect="1"/>
          </p:cNvPicPr>
          <p:nvPr/>
        </p:nvPicPr>
        <p:blipFill>
          <a:blip r:embed="rId6"/>
          <a:srcRect l="11553" r="11553"/>
          <a:stretch>
            <a:fillRect/>
          </a:stretch>
        </p:blipFill>
        <p:spPr>
          <a:xfrm>
            <a:off x="13550000" y="2150000"/>
            <a:ext cx="4100000" cy="3900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41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/>
          <p:cNvSpPr/>
          <p:nvPr/>
        </p:nvSpPr>
        <p:spPr>
          <a:xfrm rot="-10800000">
            <a:off x="0" y="523144"/>
            <a:ext cx="4155308" cy="1011111"/>
          </a:xfrm>
          <a:custGeom>
            <a:avLst/>
            <a:gdLst/>
            <a:ahLst/>
            <a:cxnLst/>
            <a:rect l="l" t="t" r="r" b="b"/>
            <a:pathLst>
              <a:path w="4527362" h="1011111">
                <a:moveTo>
                  <a:pt x="0" y="0"/>
                </a:moveTo>
                <a:lnTo>
                  <a:pt x="4527362" y="0"/>
                </a:lnTo>
                <a:lnTo>
                  <a:pt x="4527362" y="1011110"/>
                </a:lnTo>
                <a:lnTo>
                  <a:pt x="0" y="10111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3411200" y="6286500"/>
            <a:ext cx="4876800" cy="4000500"/>
          </a:xfrm>
          <a:custGeom>
            <a:avLst/>
            <a:gdLst/>
            <a:ahLst/>
            <a:cxnLst/>
            <a:rect l="l" t="t" r="r" b="b"/>
            <a:pathLst>
              <a:path w="6445736" h="5870991">
                <a:moveTo>
                  <a:pt x="0" y="0"/>
                </a:moveTo>
                <a:lnTo>
                  <a:pt x="6445736" y="0"/>
                </a:lnTo>
                <a:lnTo>
                  <a:pt x="6445736" y="5870991"/>
                </a:lnTo>
                <a:lnTo>
                  <a:pt x="0" y="58709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5"/>
          <p:cNvSpPr txBox="1"/>
          <p:nvPr/>
        </p:nvSpPr>
        <p:spPr>
          <a:xfrm>
            <a:off x="4450000" y="620000"/>
            <a:ext cx="13400000" cy="10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4400" b="1">
                <a:solidFill>
                  <a:srgbClr val="FF914D"/>
                </a:solidFill>
                <a:latin typeface="Nourd Heavy"/>
              </a:rPr>
              <a:t>La nuestra: un fundíbulo (trebuchet)</a:t>
            </a:r>
          </a:p>
        </p:txBody>
      </p:sp>
      <p:pic>
        <p:nvPicPr>
          <p:cNvPr id="7" name="Picture 6" descr="01.jpg"/>
          <p:cNvPicPr>
            <a:picLocks noChangeAspect="1"/>
          </p:cNvPicPr>
          <p:nvPr/>
        </p:nvPicPr>
        <p:blipFill>
          <a:blip r:embed="rId6"/>
          <a:srcRect l="6902" r="6902"/>
          <a:stretch>
            <a:fillRect/>
          </a:stretch>
        </p:blipFill>
        <p:spPr>
          <a:xfrm>
            <a:off x="750000" y="2150000"/>
            <a:ext cx="3200000" cy="6600000"/>
          </a:xfrm>
          <a:prstGeom prst="rect">
            <a:avLst/>
          </a:prstGeom>
        </p:spPr>
      </p:pic>
      <p:pic>
        <p:nvPicPr>
          <p:cNvPr id="8" name="Picture 7" descr="02.jpg"/>
          <p:cNvPicPr>
            <a:picLocks noChangeAspect="1"/>
          </p:cNvPicPr>
          <p:nvPr/>
        </p:nvPicPr>
        <p:blipFill>
          <a:blip r:embed="rId7"/>
          <a:srcRect l="6902" r="6902"/>
          <a:stretch>
            <a:fillRect/>
          </a:stretch>
        </p:blipFill>
        <p:spPr>
          <a:xfrm>
            <a:off x="4150000" y="2150000"/>
            <a:ext cx="3200000" cy="6600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50000" y="8850000"/>
            <a:ext cx="660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800"/>
              </a:spcAft>
            </a:pPr>
            <a:r>
              <a:rPr sz="1800" b="0">
                <a:solidFill>
                  <a:srgbClr val="BFD6EA"/>
                </a:solidFill>
                <a:latin typeface="Arial"/>
              </a:rPr>
              <a:t>Nuestros planos, con cada pieza y sus medidas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50000" y="2150000"/>
            <a:ext cx="5300000" cy="7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500" b="0">
                <a:solidFill>
                  <a:srgbClr val="FFFFFF"/>
                </a:solidFill>
                <a:latin typeface="Arial"/>
              </a:rPr>
              <a:t>En vez de liga usa un </a:t>
            </a:r>
            <a:r>
              <a:rPr sz="2500" b="1">
                <a:solidFill>
                  <a:srgbClr val="FF914D"/>
                </a:solidFill>
                <a:latin typeface="Arial"/>
              </a:rPr>
              <a:t>contrapeso</a:t>
            </a:r>
            <a:r>
              <a:rPr sz="2500" b="0">
                <a:solidFill>
                  <a:srgbClr val="FFFFFF"/>
                </a:solidFill>
                <a:latin typeface="Arial"/>
              </a:rPr>
              <a:t>: unas pesas que caen.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500" b="0">
                <a:solidFill>
                  <a:srgbClr val="FFFFFF"/>
                </a:solidFill>
                <a:latin typeface="Arial"/>
              </a:rPr>
              <a:t>Al caer, el </a:t>
            </a:r>
            <a:r>
              <a:rPr sz="2500" b="1">
                <a:solidFill>
                  <a:srgbClr val="FF914D"/>
                </a:solidFill>
                <a:latin typeface="Arial"/>
              </a:rPr>
              <a:t>brazo corto</a:t>
            </a:r>
            <a:r>
              <a:rPr sz="2500" b="0">
                <a:solidFill>
                  <a:srgbClr val="FFFFFF"/>
                </a:solidFill>
                <a:latin typeface="Arial"/>
              </a:rPr>
              <a:t> baja y el </a:t>
            </a:r>
            <a:r>
              <a:rPr sz="2500" b="1">
                <a:solidFill>
                  <a:srgbClr val="FF914D"/>
                </a:solidFill>
                <a:latin typeface="Arial"/>
              </a:rPr>
              <a:t>brazo largo</a:t>
            </a:r>
            <a:r>
              <a:rPr sz="2500" b="0">
                <a:solidFill>
                  <a:srgbClr val="FFFFFF"/>
                </a:solidFill>
                <a:latin typeface="Arial"/>
              </a:rPr>
              <a:t> sube con fuerza y lanza el proyectil.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500" b="0">
                <a:solidFill>
                  <a:srgbClr val="FFFFFF"/>
                </a:solidFill>
                <a:latin typeface="Arial"/>
              </a:rPr>
              <a:t>Un </a:t>
            </a:r>
            <a:r>
              <a:rPr sz="2500" b="1">
                <a:solidFill>
                  <a:srgbClr val="FF914D"/>
                </a:solidFill>
                <a:latin typeface="Arial"/>
              </a:rPr>
              <a:t>gatillo</a:t>
            </a:r>
            <a:r>
              <a:rPr sz="2500" b="0">
                <a:solidFill>
                  <a:srgbClr val="FFFFFF"/>
                </a:solidFill>
                <a:latin typeface="Arial"/>
              </a:rPr>
              <a:t> detiene el brazo hasta el disparo.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500" b="0">
                <a:solidFill>
                  <a:srgbClr val="FFFFFF"/>
                </a:solidFill>
                <a:latin typeface="Arial"/>
              </a:rPr>
              <a:t>La estructura en A sostiene el </a:t>
            </a:r>
            <a:r>
              <a:rPr sz="2500" b="1">
                <a:solidFill>
                  <a:srgbClr val="FF914D"/>
                </a:solidFill>
                <a:latin typeface="Arial"/>
              </a:rPr>
              <a:t>eje</a:t>
            </a:r>
            <a:r>
              <a:rPr sz="2500" b="0">
                <a:solidFill>
                  <a:srgbClr val="FFFFFF"/>
                </a:solidFill>
                <a:latin typeface="Arial"/>
              </a:rPr>
              <a:t> donde gira el brazo.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500" b="1">
                <a:solidFill>
                  <a:srgbClr val="BFD6EA"/>
                </a:solidFill>
                <a:latin typeface="Arial"/>
              </a:rPr>
              <a:t>Energía potencial del contrapeso (m·g·h) → energía de movimiento del proyectil</a:t>
            </a:r>
          </a:p>
        </p:txBody>
      </p:sp>
      <p:pic>
        <p:nvPicPr>
          <p:cNvPr id="11" name="Picture 10" descr="05-recorte.jpg"/>
          <p:cNvPicPr>
            <a:picLocks noChangeAspect="1"/>
          </p:cNvPicPr>
          <p:nvPr/>
        </p:nvPicPr>
        <p:blipFill>
          <a:blip r:embed="rId8"/>
          <a:srcRect l="9615" r="9615"/>
          <a:stretch>
            <a:fillRect/>
          </a:stretch>
        </p:blipFill>
        <p:spPr>
          <a:xfrm>
            <a:off x="13450000" y="2150000"/>
            <a:ext cx="4200000" cy="3120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450000" y="5350000"/>
            <a:ext cx="420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800"/>
              </a:spcAft>
            </a:pPr>
            <a:r>
              <a:rPr sz="1600" b="0">
                <a:solidFill>
                  <a:srgbClr val="BFD6EA"/>
                </a:solidFill>
                <a:latin typeface="Arial"/>
              </a:rPr>
              <a:t>Referencia: un fundíbulo real (Wikipedia)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41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/>
          <p:cNvSpPr/>
          <p:nvPr/>
        </p:nvSpPr>
        <p:spPr>
          <a:xfrm rot="-10800000">
            <a:off x="0" y="523144"/>
            <a:ext cx="4155308" cy="1011111"/>
          </a:xfrm>
          <a:custGeom>
            <a:avLst/>
            <a:gdLst/>
            <a:ahLst/>
            <a:cxnLst/>
            <a:rect l="l" t="t" r="r" b="b"/>
            <a:pathLst>
              <a:path w="4527362" h="1011111">
                <a:moveTo>
                  <a:pt x="0" y="0"/>
                </a:moveTo>
                <a:lnTo>
                  <a:pt x="4527362" y="0"/>
                </a:lnTo>
                <a:lnTo>
                  <a:pt x="4527362" y="1011110"/>
                </a:lnTo>
                <a:lnTo>
                  <a:pt x="0" y="10111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3411200" y="6286500"/>
            <a:ext cx="4876800" cy="4000500"/>
          </a:xfrm>
          <a:custGeom>
            <a:avLst/>
            <a:gdLst/>
            <a:ahLst/>
            <a:cxnLst/>
            <a:rect l="l" t="t" r="r" b="b"/>
            <a:pathLst>
              <a:path w="6445736" h="5870991">
                <a:moveTo>
                  <a:pt x="0" y="0"/>
                </a:moveTo>
                <a:lnTo>
                  <a:pt x="6445736" y="0"/>
                </a:lnTo>
                <a:lnTo>
                  <a:pt x="6445736" y="5870991"/>
                </a:lnTo>
                <a:lnTo>
                  <a:pt x="0" y="58709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5"/>
          <p:cNvSpPr txBox="1"/>
          <p:nvPr/>
        </p:nvSpPr>
        <p:spPr>
          <a:xfrm>
            <a:off x="4450000" y="620000"/>
            <a:ext cx="13400000" cy="10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4400" b="1">
                <a:solidFill>
                  <a:srgbClr val="FF914D"/>
                </a:solidFill>
                <a:latin typeface="Nourd Heavy"/>
              </a:rPr>
              <a:t>Las fórmulas: partir la velocidad en dos</a:t>
            </a:r>
          </a:p>
        </p:txBody>
      </p:sp>
      <p:pic>
        <p:nvPicPr>
          <p:cNvPr id="7" name="Picture 6" descr="vectore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0000" y="2050000"/>
            <a:ext cx="9000000" cy="514285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900000" y="2250000"/>
            <a:ext cx="7900000" cy="39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800" b="0">
                <a:solidFill>
                  <a:srgbClr val="FFFFFF"/>
                </a:solidFill>
                <a:latin typeface="Arial"/>
              </a:rPr>
              <a:t>La bola sale con velocidad v₀ y ángulo θ. Esa velocidad se parte en: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3600" b="1">
                <a:solidFill>
                  <a:srgbClr val="4FA3E0"/>
                </a:solidFill>
                <a:latin typeface="Arial"/>
              </a:rPr>
              <a:t>vₓ = v₀ · cos θ</a:t>
            </a:r>
            <a:r>
              <a:rPr sz="2800" b="0">
                <a:solidFill>
                  <a:srgbClr val="FFFFFF"/>
                </a:solidFill>
                <a:latin typeface="Arial"/>
              </a:rPr>
              <a:t>   lo que avanza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3600" b="1">
                <a:solidFill>
                  <a:srgbClr val="FF914D"/>
                </a:solidFill>
                <a:latin typeface="Arial"/>
              </a:rPr>
              <a:t>vᵧ = v₀ · sen θ</a:t>
            </a:r>
            <a:r>
              <a:rPr sz="2800" b="0">
                <a:solidFill>
                  <a:srgbClr val="FFFFFF"/>
                </a:solidFill>
                <a:latin typeface="Arial"/>
              </a:rPr>
              <a:t>   lo que sube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800" b="0">
                <a:solidFill>
                  <a:srgbClr val="FFFFFF"/>
                </a:solidFill>
                <a:latin typeface="Arial"/>
              </a:rPr>
              <a:t>Cada parte se trabaja por separado.</a:t>
            </a:r>
          </a:p>
        </p:txBody>
      </p:sp>
      <p:sp>
        <p:nvSpPr>
          <p:cNvPr id="9" name="Rectangle 8"/>
          <p:cNvSpPr/>
          <p:nvPr/>
        </p:nvSpPr>
        <p:spPr>
          <a:xfrm>
            <a:off x="750000" y="7250000"/>
            <a:ext cx="12300000" cy="2600000"/>
          </a:xfrm>
          <a:prstGeom prst="rect">
            <a:avLst/>
          </a:prstGeom>
          <a:solidFill>
            <a:srgbClr val="0A2E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0000" y="7420000"/>
            <a:ext cx="11800000" cy="2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400" b="1">
                <a:solidFill>
                  <a:srgbClr val="FF914D"/>
                </a:solidFill>
                <a:latin typeface="Arial"/>
              </a:rPr>
              <a:t>¿Dónde está la bola en el tiempo t?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200" b="1">
                <a:solidFill>
                  <a:srgbClr val="FFFFFF"/>
                </a:solidFill>
                <a:latin typeface="Arial"/>
              </a:rPr>
              <a:t>x = vₓ · t</a:t>
            </a:r>
            <a:r>
              <a:rPr sz="2400" b="0">
                <a:solidFill>
                  <a:srgbClr val="BFD6EA"/>
                </a:solidFill>
                <a:latin typeface="Arial"/>
              </a:rPr>
              <a:t>        avanza parejo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200" b="1">
                <a:solidFill>
                  <a:srgbClr val="FFFFFF"/>
                </a:solidFill>
                <a:latin typeface="Arial"/>
              </a:rPr>
              <a:t>y = vᵧ · t − ½ · g · t²</a:t>
            </a:r>
            <a:r>
              <a:rPr sz="2400" b="0">
                <a:solidFill>
                  <a:srgbClr val="BFD6EA"/>
                </a:solidFill>
                <a:latin typeface="Arial"/>
              </a:rPr>
              <a:t>        la gravedad la regresa  (g = 9.81 m/s²)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41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/>
          <p:cNvSpPr/>
          <p:nvPr/>
        </p:nvSpPr>
        <p:spPr>
          <a:xfrm rot="-10800000">
            <a:off x="0" y="523144"/>
            <a:ext cx="4155308" cy="1011111"/>
          </a:xfrm>
          <a:custGeom>
            <a:avLst/>
            <a:gdLst/>
            <a:ahLst/>
            <a:cxnLst/>
            <a:rect l="l" t="t" r="r" b="b"/>
            <a:pathLst>
              <a:path w="4527362" h="1011111">
                <a:moveTo>
                  <a:pt x="0" y="0"/>
                </a:moveTo>
                <a:lnTo>
                  <a:pt x="4527362" y="0"/>
                </a:lnTo>
                <a:lnTo>
                  <a:pt x="4527362" y="1011110"/>
                </a:lnTo>
                <a:lnTo>
                  <a:pt x="0" y="10111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3411200" y="6286500"/>
            <a:ext cx="4876800" cy="4000500"/>
          </a:xfrm>
          <a:custGeom>
            <a:avLst/>
            <a:gdLst/>
            <a:ahLst/>
            <a:cxnLst/>
            <a:rect l="l" t="t" r="r" b="b"/>
            <a:pathLst>
              <a:path w="6445736" h="5870991">
                <a:moveTo>
                  <a:pt x="0" y="0"/>
                </a:moveTo>
                <a:lnTo>
                  <a:pt x="6445736" y="0"/>
                </a:lnTo>
                <a:lnTo>
                  <a:pt x="6445736" y="5870991"/>
                </a:lnTo>
                <a:lnTo>
                  <a:pt x="0" y="58709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5"/>
          <p:cNvSpPr txBox="1"/>
          <p:nvPr/>
        </p:nvSpPr>
        <p:spPr>
          <a:xfrm>
            <a:off x="4450000" y="620000"/>
            <a:ext cx="13400000" cy="10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5000" b="1">
                <a:solidFill>
                  <a:srgbClr val="FF914D"/>
                </a:solidFill>
                <a:latin typeface="Nourd Heavy"/>
              </a:rPr>
              <a:t>El alcance: hasta dónde llega</a:t>
            </a:r>
          </a:p>
        </p:txBody>
      </p:sp>
      <p:sp>
        <p:nvSpPr>
          <p:cNvPr id="7" name="Rectangle 6"/>
          <p:cNvSpPr/>
          <p:nvPr/>
        </p:nvSpPr>
        <p:spPr>
          <a:xfrm>
            <a:off x="750000" y="2150000"/>
            <a:ext cx="7600000" cy="2250000"/>
          </a:xfrm>
          <a:prstGeom prst="rect">
            <a:avLst/>
          </a:prstGeom>
          <a:solidFill>
            <a:srgbClr val="0A2E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0000" y="2350000"/>
            <a:ext cx="7000000" cy="19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600" b="1">
                <a:solidFill>
                  <a:srgbClr val="FF914D"/>
                </a:solidFill>
                <a:latin typeface="Arial"/>
              </a:rPr>
              <a:t>Tiempo de vuelo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t = 2 · v₀ · sen θ / g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600" b="0">
                <a:solidFill>
                  <a:srgbClr val="BFD6EA"/>
                </a:solidFill>
                <a:latin typeface="Arial"/>
              </a:rPr>
              <a:t>cuánto dura en el aire</a:t>
            </a:r>
          </a:p>
        </p:txBody>
      </p:sp>
      <p:sp>
        <p:nvSpPr>
          <p:cNvPr id="9" name="Rectangle 8"/>
          <p:cNvSpPr/>
          <p:nvPr/>
        </p:nvSpPr>
        <p:spPr>
          <a:xfrm>
            <a:off x="750000" y="4650000"/>
            <a:ext cx="7600000" cy="2250000"/>
          </a:xfrm>
          <a:prstGeom prst="rect">
            <a:avLst/>
          </a:prstGeom>
          <a:solidFill>
            <a:srgbClr val="0A2E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0000" y="4850000"/>
            <a:ext cx="7000000" cy="19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600" b="1">
                <a:solidFill>
                  <a:srgbClr val="FF914D"/>
                </a:solidFill>
                <a:latin typeface="Arial"/>
              </a:rPr>
              <a:t>Altura máxima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H = (v₀ · sen θ)² / 2g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600" b="0">
                <a:solidFill>
                  <a:srgbClr val="BFD6EA"/>
                </a:solidFill>
                <a:latin typeface="Arial"/>
              </a:rPr>
              <a:t>lo más alto que sube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0000" y="7150000"/>
            <a:ext cx="7600000" cy="2250000"/>
          </a:xfrm>
          <a:prstGeom prst="rect">
            <a:avLst/>
          </a:prstGeom>
          <a:solidFill>
            <a:srgbClr val="FF9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0000" y="7350000"/>
            <a:ext cx="7000000" cy="19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600" b="1">
                <a:solidFill>
                  <a:srgbClr val="07416B"/>
                </a:solidFill>
                <a:latin typeface="Arial"/>
              </a:rPr>
              <a:t>Alcance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800" b="1">
                <a:solidFill>
                  <a:srgbClr val="07416B"/>
                </a:solidFill>
                <a:latin typeface="Arial"/>
              </a:rPr>
              <a:t>R = v₀² · sen(2θ) / g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600" b="0">
                <a:solidFill>
                  <a:srgbClr val="07416B"/>
                </a:solidFill>
                <a:latin typeface="Arial"/>
              </a:rPr>
              <a:t>hasta dónde llega</a:t>
            </a:r>
          </a:p>
        </p:txBody>
      </p:sp>
      <p:pic>
        <p:nvPicPr>
          <p:cNvPr id="13" name="Picture 12" descr="angulo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50000" y="2000000"/>
            <a:ext cx="8600000" cy="444333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850000" y="6600000"/>
            <a:ext cx="4450000" cy="32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sen(2θ) vale lo más (1) cuando θ = 45°.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2600" b="1">
                <a:solidFill>
                  <a:srgbClr val="FF914D"/>
                </a:solidFill>
                <a:latin typeface="Arial"/>
              </a:rPr>
              <a:t>Por eso 45° es el ángulo que llega más lejos.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41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/>
          <p:cNvSpPr/>
          <p:nvPr/>
        </p:nvSpPr>
        <p:spPr>
          <a:xfrm rot="-10800000">
            <a:off x="0" y="523144"/>
            <a:ext cx="4155308" cy="1011111"/>
          </a:xfrm>
          <a:custGeom>
            <a:avLst/>
            <a:gdLst/>
            <a:ahLst/>
            <a:cxnLst/>
            <a:rect l="l" t="t" r="r" b="b"/>
            <a:pathLst>
              <a:path w="4527362" h="1011111">
                <a:moveTo>
                  <a:pt x="0" y="0"/>
                </a:moveTo>
                <a:lnTo>
                  <a:pt x="4527362" y="0"/>
                </a:lnTo>
                <a:lnTo>
                  <a:pt x="4527362" y="1011110"/>
                </a:lnTo>
                <a:lnTo>
                  <a:pt x="0" y="10111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3411200" y="6286500"/>
            <a:ext cx="4876800" cy="4000500"/>
          </a:xfrm>
          <a:custGeom>
            <a:avLst/>
            <a:gdLst/>
            <a:ahLst/>
            <a:cxnLst/>
            <a:rect l="l" t="t" r="r" b="b"/>
            <a:pathLst>
              <a:path w="6445736" h="5870991">
                <a:moveTo>
                  <a:pt x="0" y="0"/>
                </a:moveTo>
                <a:lnTo>
                  <a:pt x="6445736" y="0"/>
                </a:lnTo>
                <a:lnTo>
                  <a:pt x="6445736" y="5870991"/>
                </a:lnTo>
                <a:lnTo>
                  <a:pt x="0" y="58709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5"/>
          <p:cNvSpPr txBox="1"/>
          <p:nvPr/>
        </p:nvSpPr>
        <p:spPr>
          <a:xfrm>
            <a:off x="4450000" y="620000"/>
            <a:ext cx="13400000" cy="10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4200" b="1">
                <a:solidFill>
                  <a:srgbClr val="FF914D"/>
                </a:solidFill>
                <a:latin typeface="Nourd Heavy"/>
              </a:rPr>
              <a:t>Cómo calculamos el alcance de la nuestra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2150000"/>
            <a:ext cx="9200000" cy="78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2600" b="1">
                <a:solidFill>
                  <a:srgbClr val="FF914D"/>
                </a:solidFill>
                <a:latin typeface="Arial"/>
              </a:rPr>
              <a:t>1 Ángulo θ. </a:t>
            </a:r>
            <a:r>
              <a:rPr sz="2600" b="0">
                <a:solidFill>
                  <a:srgbClr val="FFFFFF"/>
                </a:solidFill>
                <a:latin typeface="Arial"/>
              </a:rPr>
              <a:t>Es la dirección con la que sale el proyectil. Se mide en el video del tiro, en cámara lenta, con un transportador sobre la pantalla.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2600" b="1">
                <a:solidFill>
                  <a:srgbClr val="FF914D"/>
                </a:solidFill>
                <a:latin typeface="Arial"/>
              </a:rPr>
              <a:t>2 Tiempo de vuelo t. </a:t>
            </a:r>
            <a:r>
              <a:rPr sz="2600" b="0">
                <a:solidFill>
                  <a:srgbClr val="FFFFFF"/>
                </a:solidFill>
                <a:latin typeface="Arial"/>
              </a:rPr>
              <a:t>Se graba el tiro en cámara lenta y se cuenta del disparo al golpe en el piso.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2600" b="1">
                <a:solidFill>
                  <a:srgbClr val="FF914D"/>
                </a:solidFill>
                <a:latin typeface="Arial"/>
              </a:rPr>
              <a:t>3 Velocidad de salida. </a:t>
            </a:r>
            <a:r>
              <a:rPr sz="2600" b="1">
                <a:solidFill>
                  <a:srgbClr val="FFFFFF"/>
                </a:solidFill>
                <a:latin typeface="Arial"/>
              </a:rPr>
              <a:t>v₀ = g · t / (2 · sen θ)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2600" b="1">
                <a:solidFill>
                  <a:srgbClr val="FF914D"/>
                </a:solidFill>
                <a:latin typeface="Arial"/>
              </a:rPr>
              <a:t>4 Alcance. </a:t>
            </a:r>
            <a:r>
              <a:rPr sz="2600" b="1">
                <a:solidFill>
                  <a:srgbClr val="FFFFFF"/>
                </a:solidFill>
                <a:latin typeface="Arial"/>
              </a:rPr>
              <a:t>R = v₀² · sen(2θ) / g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2600" b="1">
                <a:solidFill>
                  <a:srgbClr val="FF914D"/>
                </a:solidFill>
                <a:latin typeface="Arial"/>
              </a:rPr>
              <a:t>5 Comprobar. </a:t>
            </a:r>
            <a:r>
              <a:rPr sz="2600" b="0">
                <a:solidFill>
                  <a:srgbClr val="FFFFFF"/>
                </a:solidFill>
                <a:latin typeface="Arial"/>
              </a:rPr>
              <a:t>Se mide con cinta métrica dónde cayó y se compara con R.</a:t>
            </a:r>
          </a:p>
        </p:txBody>
      </p:sp>
      <p:sp>
        <p:nvSpPr>
          <p:cNvPr id="8" name="Rectangle 7"/>
          <p:cNvSpPr/>
          <p:nvPr/>
        </p:nvSpPr>
        <p:spPr>
          <a:xfrm>
            <a:off x="10400000" y="2150000"/>
            <a:ext cx="7250000" cy="3350000"/>
          </a:xfrm>
          <a:prstGeom prst="rect">
            <a:avLst/>
          </a:prstGeom>
          <a:solidFill>
            <a:srgbClr val="0A2E4D"/>
          </a:solidFill>
          <a:ln w="25400">
            <a:solidFill>
              <a:srgbClr val="FF9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00000" y="2350000"/>
            <a:ext cx="6700000" cy="3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2600" b="1">
                <a:solidFill>
                  <a:srgbClr val="FF914D"/>
                </a:solidFill>
                <a:latin typeface="Arial"/>
              </a:rPr>
              <a:t>Ejemplo con números de prueba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θ = 45°   ·   t = 0.60 s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v₀ = 9.81 × 0.60 / (2 × 0.707) = 4.16 m/s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 = 4.16² × sen 90° / 9.81 = </a:t>
            </a:r>
            <a:r>
              <a:rPr sz="3400" b="1">
                <a:solidFill>
                  <a:srgbClr val="FF914D"/>
                </a:solidFill>
                <a:latin typeface="Arial"/>
              </a:rPr>
              <a:t>1.77 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00000" y="5700000"/>
            <a:ext cx="2900000" cy="32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2000" b="0">
                <a:solidFill>
                  <a:srgbClr val="BFD6EA"/>
                </a:solidFill>
                <a:latin typeface="Arial"/>
              </a:rPr>
              <a:t>Supone que sale y cae a la misma altura, sin contar el aire.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496970" y="6042651"/>
            <a:ext cx="4791030" cy="4235278"/>
          </a:xfrm>
          <a:custGeom>
            <a:avLst/>
            <a:gdLst/>
            <a:ahLst/>
            <a:cxnLst/>
            <a:rect l="l" t="t" r="r" b="b"/>
            <a:pathLst>
              <a:path w="5456361" h="4969835">
                <a:moveTo>
                  <a:pt x="0" y="0"/>
                </a:moveTo>
                <a:lnTo>
                  <a:pt x="5456361" y="0"/>
                </a:lnTo>
                <a:lnTo>
                  <a:pt x="5456361" y="4969835"/>
                </a:lnTo>
                <a:lnTo>
                  <a:pt x="0" y="49698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5400000" flipV="1">
            <a:off x="1271245" y="-1278501"/>
            <a:ext cx="2400301" cy="4957304"/>
          </a:xfrm>
          <a:custGeom>
            <a:avLst/>
            <a:gdLst/>
            <a:ahLst/>
            <a:cxnLst/>
            <a:rect l="l" t="t" r="r" b="b"/>
            <a:pathLst>
              <a:path w="2794156" h="5846533">
                <a:moveTo>
                  <a:pt x="0" y="5846534"/>
                </a:moveTo>
                <a:lnTo>
                  <a:pt x="2794156" y="5846534"/>
                </a:lnTo>
                <a:lnTo>
                  <a:pt x="2794156" y="0"/>
                </a:lnTo>
                <a:lnTo>
                  <a:pt x="0" y="0"/>
                </a:lnTo>
                <a:lnTo>
                  <a:pt x="0" y="584653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8752745"/>
            <a:ext cx="2651364" cy="1011111"/>
          </a:xfrm>
          <a:custGeom>
            <a:avLst/>
            <a:gdLst/>
            <a:ahLst/>
            <a:cxnLst/>
            <a:rect l="l" t="t" r="r" b="b"/>
            <a:pathLst>
              <a:path w="4527362" h="1011111">
                <a:moveTo>
                  <a:pt x="0" y="0"/>
                </a:moveTo>
                <a:lnTo>
                  <a:pt x="4527362" y="0"/>
                </a:lnTo>
                <a:lnTo>
                  <a:pt x="4527362" y="1011110"/>
                </a:lnTo>
                <a:lnTo>
                  <a:pt x="0" y="101111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586974" y="891522"/>
            <a:ext cx="2701026" cy="1011111"/>
          </a:xfrm>
          <a:custGeom>
            <a:avLst/>
            <a:gdLst/>
            <a:ahLst/>
            <a:cxnLst/>
            <a:rect l="l" t="t" r="r" b="b"/>
            <a:pathLst>
              <a:path w="4527362" h="1011111">
                <a:moveTo>
                  <a:pt x="0" y="0"/>
                </a:moveTo>
                <a:lnTo>
                  <a:pt x="4527362" y="0"/>
                </a:lnTo>
                <a:lnTo>
                  <a:pt x="4527362" y="1011111"/>
                </a:lnTo>
                <a:lnTo>
                  <a:pt x="0" y="101111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214290" y="6406750"/>
            <a:ext cx="2074639" cy="2074639"/>
          </a:xfrm>
          <a:custGeom>
            <a:avLst/>
            <a:gdLst/>
            <a:ahLst/>
            <a:cxnLst/>
            <a:rect l="l" t="t" r="r" b="b"/>
            <a:pathLst>
              <a:path w="2074639" h="2074639">
                <a:moveTo>
                  <a:pt x="0" y="0"/>
                </a:moveTo>
                <a:lnTo>
                  <a:pt x="2074639" y="0"/>
                </a:lnTo>
                <a:lnTo>
                  <a:pt x="2074639" y="2074639"/>
                </a:lnTo>
                <a:lnTo>
                  <a:pt x="0" y="207463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3189067" y="198124"/>
            <a:ext cx="2397907" cy="2397907"/>
          </a:xfrm>
          <a:custGeom>
            <a:avLst/>
            <a:gdLst/>
            <a:ahLst/>
            <a:cxnLst/>
            <a:rect l="l" t="t" r="r" b="b"/>
            <a:pathLst>
              <a:path w="2397907" h="2397907">
                <a:moveTo>
                  <a:pt x="0" y="0"/>
                </a:moveTo>
                <a:lnTo>
                  <a:pt x="2397907" y="0"/>
                </a:lnTo>
                <a:lnTo>
                  <a:pt x="2397907" y="2397907"/>
                </a:lnTo>
                <a:lnTo>
                  <a:pt x="0" y="239790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3164433" y="876034"/>
            <a:ext cx="9628871" cy="8055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246"/>
              </a:lnSpc>
              <a:spcBef>
                <a:spcPct val="0"/>
              </a:spcBef>
            </a:pPr>
            <a:r>
              <a:rPr lang="en-US" sz="5678" b="1" u="none" strike="noStrike">
                <a:solidFill>
                  <a:srgbClr val="AD0F0F"/>
                </a:solidFill>
                <a:latin typeface="Nourd Heavy"/>
                <a:ea typeface="Nourd Heavy"/>
                <a:cs typeface="Nourd Heavy"/>
                <a:sym typeface="Nourd Heavy"/>
              </a:rPr>
              <a:t>B</a:t>
            </a:r>
            <a:r>
              <a:rPr lang="en-US" sz="5678" b="1" u="none" strike="noStrike">
                <a:solidFill>
                  <a:srgbClr val="07416B"/>
                </a:solidFill>
                <a:latin typeface="Nourd Heavy"/>
                <a:ea typeface="Nourd Heavy"/>
                <a:cs typeface="Nourd Heavy"/>
                <a:sym typeface="Nourd Heavy"/>
              </a:rPr>
              <a:t>achillerato</a:t>
            </a:r>
            <a:r>
              <a:rPr lang="en-US" sz="5678" b="1" u="none" strike="noStrike">
                <a:solidFill>
                  <a:srgbClr val="AD0F0F"/>
                </a:solidFill>
                <a:latin typeface="Nourd Heavy"/>
                <a:ea typeface="Nourd Heavy"/>
                <a:cs typeface="Nourd Heavy"/>
                <a:sym typeface="Nourd Heavy"/>
              </a:rPr>
              <a:t> R</a:t>
            </a:r>
            <a:r>
              <a:rPr lang="en-US" sz="5678" b="1" u="none" strike="noStrike">
                <a:solidFill>
                  <a:srgbClr val="07416B"/>
                </a:solidFill>
                <a:latin typeface="Nourd Heavy"/>
                <a:ea typeface="Nourd Heavy"/>
                <a:cs typeface="Nourd Heavy"/>
                <a:sym typeface="Nourd Heavy"/>
              </a:rPr>
              <a:t>embrandt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00000" y="1850000"/>
            <a:ext cx="7900000" cy="10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3600" b="1">
                <a:solidFill>
                  <a:srgbClr val="07416B"/>
                </a:solidFill>
                <a:latin typeface="Nourd Heavy"/>
              </a:rPr>
              <a:t>Paso a paso (2 de 2)</a:t>
            </a:r>
          </a:p>
        </p:txBody>
      </p:sp>
      <p:pic>
        <p:nvPicPr>
          <p:cNvPr id="12" name="Picture 11" descr="07.jpg"/>
          <p:cNvPicPr>
            <a:picLocks noChangeAspect="1"/>
          </p:cNvPicPr>
          <p:nvPr/>
        </p:nvPicPr>
        <p:blipFill>
          <a:blip r:embed="rId12"/>
          <a:srcRect t="8665" b="8665"/>
          <a:stretch>
            <a:fillRect/>
          </a:stretch>
        </p:blipFill>
        <p:spPr>
          <a:xfrm>
            <a:off x="2750000" y="2950000"/>
            <a:ext cx="3300000" cy="4850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750000" y="7920000"/>
            <a:ext cx="3300000" cy="1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2400" b="1">
                <a:solidFill>
                  <a:srgbClr val="C8102E"/>
                </a:solidFill>
                <a:latin typeface="Arial"/>
              </a:rPr>
              <a:t>4 · </a:t>
            </a:r>
            <a:r>
              <a:rPr sz="2400" b="1">
                <a:solidFill>
                  <a:srgbClr val="07416B"/>
                </a:solidFill>
                <a:latin typeface="Arial"/>
              </a:rPr>
              <a:t>Perforar el eje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3A5A78"/>
                </a:solidFill>
                <a:latin typeface="Arial"/>
              </a:rPr>
              <a:t>El hueco por donde pasa el tubo del eje.</a:t>
            </a:r>
          </a:p>
        </p:txBody>
      </p:sp>
      <p:pic>
        <p:nvPicPr>
          <p:cNvPr id="14" name="Picture 13" descr="08.jpg"/>
          <p:cNvPicPr>
            <a:picLocks noChangeAspect="1"/>
          </p:cNvPicPr>
          <p:nvPr/>
        </p:nvPicPr>
        <p:blipFill>
          <a:blip r:embed="rId13"/>
          <a:srcRect t="25625" b="25625"/>
          <a:stretch>
            <a:fillRect/>
          </a:stretch>
        </p:blipFill>
        <p:spPr>
          <a:xfrm>
            <a:off x="6350000" y="2950000"/>
            <a:ext cx="3300000" cy="2860000"/>
          </a:xfrm>
          <a:prstGeom prst="rect">
            <a:avLst/>
          </a:prstGeom>
        </p:spPr>
      </p:pic>
      <p:pic>
        <p:nvPicPr>
          <p:cNvPr id="15" name="Picture 14" descr="09.jpg"/>
          <p:cNvPicPr>
            <a:picLocks noChangeAspect="1"/>
          </p:cNvPicPr>
          <p:nvPr/>
        </p:nvPicPr>
        <p:blipFill>
          <a:blip r:embed="rId14"/>
          <a:srcRect l="893" r="893"/>
          <a:stretch>
            <a:fillRect/>
          </a:stretch>
        </p:blipFill>
        <p:spPr>
          <a:xfrm>
            <a:off x="6350000" y="5910000"/>
            <a:ext cx="3300000" cy="1890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350000" y="7920000"/>
            <a:ext cx="3300000" cy="1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2400" b="1">
                <a:solidFill>
                  <a:srgbClr val="C8102E"/>
                </a:solidFill>
                <a:latin typeface="Arial"/>
              </a:rPr>
              <a:t>5 · </a:t>
            </a:r>
            <a:r>
              <a:rPr sz="2400" b="1">
                <a:solidFill>
                  <a:srgbClr val="07416B"/>
                </a:solidFill>
                <a:latin typeface="Arial"/>
              </a:rPr>
              <a:t>El pivote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3A5A78"/>
                </a:solidFill>
                <a:latin typeface="Arial"/>
              </a:rPr>
              <a:t>El tubo en el poste y los pernos donde gira.</a:t>
            </a:r>
          </a:p>
        </p:txBody>
      </p:sp>
      <p:pic>
        <p:nvPicPr>
          <p:cNvPr id="17" name="Picture 16" descr="10.jpg"/>
          <p:cNvPicPr>
            <a:picLocks noChangeAspect="1"/>
          </p:cNvPicPr>
          <p:nvPr/>
        </p:nvPicPr>
        <p:blipFill>
          <a:blip r:embed="rId15"/>
          <a:srcRect l="4639" r="4639"/>
          <a:stretch>
            <a:fillRect/>
          </a:stretch>
        </p:blipFill>
        <p:spPr>
          <a:xfrm>
            <a:off x="9950000" y="2950000"/>
            <a:ext cx="3300000" cy="4850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950000" y="7920000"/>
            <a:ext cx="3300000" cy="1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2400" b="1">
                <a:solidFill>
                  <a:srgbClr val="C8102E"/>
                </a:solidFill>
                <a:latin typeface="Arial"/>
              </a:rPr>
              <a:t>6 · </a:t>
            </a:r>
            <a:r>
              <a:rPr sz="2400" b="1">
                <a:solidFill>
                  <a:srgbClr val="07416B"/>
                </a:solidFill>
                <a:latin typeface="Arial"/>
              </a:rPr>
              <a:t>La estructura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3A5A78"/>
                </a:solidFill>
                <a:latin typeface="Arial"/>
              </a:rPr>
              <a:t>La base y las patas en A, ya armadas.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</TotalTime>
  <Words>30</Words>
  <Application>Microsoft Office PowerPoint</Application>
  <PresentationFormat>Personalizado</PresentationFormat>
  <Paragraphs>18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2" baseType="lpstr">
      <vt:lpstr>Montaser Arabic</vt:lpstr>
      <vt:lpstr>Calibri</vt:lpstr>
      <vt:lpstr>Arial</vt:lpstr>
      <vt:lpstr>Nourd Bold</vt:lpstr>
      <vt:lpstr>Nourd Heavy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1er Junta Académica Docentes 27/01/25</dc:title>
  <dc:creator>Kamy</dc:creator>
  <cp:lastModifiedBy>Omar Avila Cruz</cp:lastModifiedBy>
  <cp:revision>7</cp:revision>
  <dcterms:created xsi:type="dcterms:W3CDTF">2006-08-16T00:00:00Z</dcterms:created>
  <dcterms:modified xsi:type="dcterms:W3CDTF">2025-07-26T22:16:34Z</dcterms:modified>
  <dc:identifier>DAGdZiFYS3g</dc:identifier>
</cp:coreProperties>
</file>